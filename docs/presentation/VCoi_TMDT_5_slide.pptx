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tổng quan</a:t>
            </a:r>
          </a:p>
          <a:p>
            <a:r>
              <a:t>Thời lượng gợi ý: 25 giây.</a:t>
            </a:r>
          </a:p>
          <a:p/>
          <a:p>
            <a:r>
              <a:t>Kính chào thầy cô. Nhóm chúng em giới thiệu VCoi, hệ thống thu mua ve chai trực tuyến cho một đại lý. Dự án được trình bày theo mô hình C2B: cá nhân bán vật liệu và đại lý là bên thu mua. Mục tiêu là giúp khách chủ động đặt lịch, đồng thời theo dõi rõ khối lượng, đơn giá và kết quả giao dịch.</a:t>
            </a:r>
          </a:p>
          <a:p/>
          <a:p>
            <a:r>
              <a:t>Ghi chú: Điền tên nhóm, lớp và giảng viên trước khi trình bày. C2B là cách phân loại theo chiều giao dịch thực tế của dự án, không phải mô hình bán lẻ cho khách mua sản phẩm.</a:t>
            </a:r>
          </a:p>
          <a:p>
            <a:r>
              <a:t>Nguồn: https://github.com/1250080247-cloud/VCOI — commit 2c804bc8090dee4dcdb2ca150404c534ce35f669. Ảnh giao diện chụp từ bản chạy thử với dữ liệu giả lập, backend H2 tạm; kiến trúc sản phẩm dùng SQL Server. Không suy ra đã tích hợp ngân hàng hay đã kiểm thử toàn bộ SQL Server.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phân hệ và nghiệp vụ</a:t>
            </a:r>
          </a:p>
          <a:p>
            <a:r>
              <a:t>Thời lượng gợi ý: 40 giây.</a:t>
            </a:r>
          </a:p>
          <a:p/>
          <a:p>
            <a:r>
              <a:t>Hệ thống có ba vai trò. Khách hàng xem vật liệu được nhận mua, đặt lịch và theo dõi đơn. Nhân viên nhận lịch được phân công, tới nơi cân thực tế rồi lập báo giá. Quản trị viên quản lý vật liệu, bảng giá, điều phối nhân viên và xem thống kê khoản chi. Điểm đặc thù của giao dịch này là tiền được chốt sau khi cân, thay vì cố định lúc đặt lịch. Khách được xem và chấp thuận báo giá trước khi hoàn tất thu mua. Hệ thống còn lưu lịch sử và biên nhận để các bên đối chiếu.</a:t>
            </a:r>
          </a:p>
          <a:p/>
          <a:p>
            <a:r>
              <a:t>Ghi chú: Không giới thiệu giỏ hàng, voucher, tồn kho bán lẻ, VNPay, MoMo hoặc API giao hàng vì chưa có các tính năng đó trong mã nguồn. Thống kê là tiền đại lý đã chi thu mua, không gọi nhầm là doanh thu bán hàng.</a:t>
            </a:r>
          </a:p>
          <a:p>
            <a:r>
              <a:t>Nguồn: https://github.com/1250080247-cloud/VCOI — commit 2c804bc8090dee4dcdb2ca150404c534ce35f669. Ảnh giao diện chụp từ bản chạy thử với dữ liệu giả lập, backend H2 tạm; kiến trúc sản phẩm dùng SQL Server. Không suy ra đã tích hợp ngân hàng hay đã kiểm thử toàn bộ SQL Server.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và luồng giao dịch</a:t>
            </a:r>
          </a:p>
          <a:p>
            <a:r>
              <a:t>Thời lượng gợi ý: 40 giây.</a:t>
            </a:r>
          </a:p>
          <a:p/>
          <a:p>
            <a:r>
              <a:t>Về kiến trúc, React và Vite xây dựng giao diện; Spring Boot cung cấp API và xử lý nghiệp vụ; SQL Server lưu dữ liệu. Các yêu cầu ghi dùng phiên đăng nhập và CSRF. Luồng chính bắt đầu khi khách đặt lịch, quản trị phân công và nhân viên đến cân. Nhân viên gửi báo giá dựa trên khối lượng thực tế, khách chấp thuận rồi nhân viên mới ghi nhận khoản chi. Số tiền lấy từ báo giá đã duyệt. Bản đồ án hiện mô phỏng tiền mặt hoặc chuyển khoản, chưa gọi cổng thanh toán hay phát sinh tiền thật.</a:t>
            </a:r>
          </a:p>
          <a:p/>
          <a:p>
            <a:r>
              <a:t>Ghi chú: Các khối là kiến trúc sản phẩm đọc từ mã. Ảnh chạy thử trong bộ slide dùng backend thật với H2 tạm để có dữ liệu minh họa, không phải bằng chứng đã kiểm thử SQL Server đầy đủ.</a:t>
            </a:r>
          </a:p>
          <a:p>
            <a:r>
              <a:t>Nguồn: https://github.com/1250080247-cloud/VCOI — commit 2c804bc8090dee4dcdb2ca150404c534ce35f669. Ảnh giao diện chụp từ bản chạy thử với dữ liệu giả lập, backend H2 tạm; kiến trúc sản phẩm dùng SQL Server. Không suy ra đã tích hợp ngân hàng hay đã kiểm thử toàn bộ SQL Server.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Use Case tổng quát</a:t>
            </a:r>
          </a:p>
          <a:p>
            <a:r>
              <a:t>Thời lượng gợi ý: 25 giây.</a:t>
            </a:r>
          </a:p>
          <a:p/>
          <a:p>
            <a:r>
              <a:t>Sơ đồ Use Case mô tả ba tác nhân tương tác với VCoi. Khách hàng đặt lịch thu gom và duyệt báo giá. Nhân viên cân, lập báo giá và ghi nhận khoản chi mô phỏng. Quản trị viên quản lý vật liệu, bảng giá, phân công nhân viên và xem thống kê khoản chi. Các chức năng nằm trong ranh giới hệ thống, còn tác nhân đứng bên ngoài. Mỗi vai trò chỉ thực hiện những thao tác được cấp quyền.</a:t>
            </a:r>
          </a:p>
          <a:p/>
          <a:p>
            <a:r>
              <a:t>Ghi chú: Sơ đồ rút gọn giữ tám use case chính, không phải toàn bộ chức năng của dự án. Theo dõi đơn, biên nhận, địa chỉ và khiếu nại được giới thiệu ở phân hệ hoặc demo. Các đường nối liền không có mũi tên là quan hệ tương tác, không thể hiện thứ tự xử lý. Đăng nhập và phân quyền là điều kiện chung; không thêm quan hệ include/extend khi chưa mô tả chính xác hành vi.</a:t>
            </a:r>
          </a:p>
          <a:p>
            <a:r>
              <a:t>Nguồn: https://github.com/1250080247-cloud/VCOI — commit 2c804bc8090dee4dcdb2ca150404c534ce35f669. Ảnh giao diện chụp từ bản chạy thử với dữ liệu giả lập, backend H2 tạm; kiến trúc sản phẩm dùng SQL Server. Không suy ra đã tích hợp ngân hàng hay đã kiểm thử toàn bộ SQL Server.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và hướng phát triển</a:t>
            </a:r>
          </a:p>
          <a:p>
            <a:r>
              <a:t>Thời lượng gợi ý: 30 giây.</a:t>
            </a:r>
          </a:p>
          <a:p/>
          <a:p>
            <a:r>
              <a:t>Kết quả là giao diện cho khách, nhân viên và quản trị cùng các bước đặt lịch, báo giá, ghi nhận khoản chi và biên nhận. Đây là ảnh chụp ứng dụng đang chạy với dữ liệu giả lập; nhóm không dùng tỷ lệ phần trăm để suy đoán mức hoàn thiện. Hướng tiếp theo là bổ sung kiểm thử hồi quy đầy đủ, kiểm chứng trên SQL Server thực và tích hợp thanh toán thật khi đáp ứng yêu cầu an toàn. Nhóm xin kết thúc và mời thầy cô xem phần demo hoặc đặt câu hỏi.</a:t>
            </a:r>
          </a:p>
          <a:p/>
          <a:p>
            <a:r>
              <a:t>Ghi chú: Tổng thời gian gợi ý năm slide: 160 giây, khoảng 2 phút 40 giây. Không dùng số đơn/tỷ lệ trong ảnh demo làm số liệu kinh doanh thực tế. Có thể chuyển sang demo đặt lịch hoặc mở biên nhận sau khi thuyết trình.</a:t>
            </a:r>
          </a:p>
          <a:p>
            <a:r>
              <a:t>Nguồn: https://github.com/1250080247-cloud/VCOI — commit 2c804bc8090dee4dcdb2ca150404c534ce35f669. Ảnh giao diện chụp từ bản chạy thử với dữ liệu giả lập, backend H2 tạm; kiến trúc sản phẩm dùng SQL Server. Không suy ra đã tích hợp ngân hàng hay đã kiểm thử toàn bộ SQL Server.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3F32"/>
        </a:solidFill>
        <a:effectLst/>
      </p:bgPr>
    </p:bg>
    <p:spTree>
      <p:nvGrpSpPr>
        <p:cNvPr id="1" name=""/>
        <p:cNvGrpSpPr/>
        <p:nvPr/>
      </p:nvGrpSpPr>
      <p:grpSpPr/>
      <p:sp>
        <p:nvSpPr>
          <p:cNvPr id="2" name="TextBox 1"/>
          <p:cNvSpPr txBox="1"/>
          <p:nvPr/>
        </p:nvSpPr>
        <p:spPr>
          <a:xfrm>
            <a:off x="566928" y="320040"/>
            <a:ext cx="10058400" cy="256032"/>
          </a:xfrm>
          <a:prstGeom prst="rect">
            <a:avLst/>
          </a:prstGeom>
          <a:noFill/>
        </p:spPr>
        <p:txBody>
          <a:bodyPr wrap="square" lIns="0" rIns="0" tIns="0" bIns="0">
            <a:spAutoFit/>
          </a:bodyPr>
          <a:lstStyle/>
          <a:p>
            <a:pPr>
              <a:lnSpc>
                <a:spcPct val="108000"/>
              </a:lnSpc>
              <a:spcAft>
                <a:spcPts val="700"/>
              </a:spcAft>
              <a:defRPr sz="1050" b="1">
                <a:solidFill>
                  <a:srgbClr val="D5EE92"/>
                </a:solidFill>
                <a:latin typeface="Arial"/>
              </a:defRPr>
            </a:pPr>
            <a:r>
              <a:t>01 / GIỚI THIỆU</a:t>
            </a:r>
          </a:p>
        </p:txBody>
      </p:sp>
      <p:sp>
        <p:nvSpPr>
          <p:cNvPr id="3" name="TextBox 2"/>
          <p:cNvSpPr txBox="1"/>
          <p:nvPr/>
        </p:nvSpPr>
        <p:spPr>
          <a:xfrm>
            <a:off x="566928" y="822960"/>
            <a:ext cx="11018520" cy="658368"/>
          </a:xfrm>
          <a:prstGeom prst="rect">
            <a:avLst/>
          </a:prstGeom>
          <a:noFill/>
        </p:spPr>
        <p:txBody>
          <a:bodyPr wrap="square" lIns="0" rIns="0" tIns="0" bIns="0">
            <a:spAutoFit/>
          </a:bodyPr>
          <a:lstStyle/>
          <a:p>
            <a:pPr>
              <a:lnSpc>
                <a:spcPct val="108000"/>
              </a:lnSpc>
              <a:spcAft>
                <a:spcPts val="700"/>
              </a:spcAft>
              <a:defRPr sz="3100" b="1">
                <a:solidFill>
                  <a:srgbClr val="FFFFFF"/>
                </a:solidFill>
                <a:latin typeface="Arial"/>
              </a:defRPr>
            </a:pPr>
          </a:p>
        </p:txBody>
      </p:sp>
      <p:sp>
        <p:nvSpPr>
          <p:cNvPr id="4" name="Rectangle 3"/>
          <p:cNvSpPr/>
          <p:nvPr/>
        </p:nvSpPr>
        <p:spPr>
          <a:xfrm>
            <a:off x="566928" y="6419088"/>
            <a:ext cx="11045952" cy="10972"/>
          </a:xfrm>
          <a:prstGeom prst="rect">
            <a:avLst/>
          </a:prstGeom>
          <a:solidFill>
            <a:srgbClr val="507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961120" cy="182880"/>
          </a:xfrm>
          <a:prstGeom prst="rect">
            <a:avLst/>
          </a:prstGeom>
          <a:noFill/>
        </p:spPr>
        <p:txBody>
          <a:bodyPr wrap="square" lIns="0" rIns="0" tIns="0" bIns="0">
            <a:spAutoFit/>
          </a:bodyPr>
          <a:lstStyle/>
          <a:p>
            <a:pPr>
              <a:lnSpc>
                <a:spcPct val="108000"/>
              </a:lnSpc>
              <a:spcAft>
                <a:spcPts val="700"/>
              </a:spcAft>
              <a:defRPr sz="900" b="0">
                <a:solidFill>
                  <a:srgbClr val="C0D3C5"/>
                </a:solidFill>
                <a:latin typeface="Arial"/>
              </a:defRPr>
            </a:pPr>
            <a:r>
              <a:t>VCoi  /  Đồ án Thương mại điện tử  /  C2B</a:t>
            </a:r>
          </a:p>
        </p:txBody>
      </p:sp>
      <p:sp>
        <p:nvSpPr>
          <p:cNvPr id="6" name="TextBox 5"/>
          <p:cNvSpPr txBox="1"/>
          <p:nvPr/>
        </p:nvSpPr>
        <p:spPr>
          <a:xfrm>
            <a:off x="10671048" y="6519672"/>
            <a:ext cx="914400" cy="228600"/>
          </a:xfrm>
          <a:prstGeom prst="rect">
            <a:avLst/>
          </a:prstGeom>
          <a:noFill/>
        </p:spPr>
        <p:txBody>
          <a:bodyPr wrap="square" lIns="0" rIns="0" tIns="0" bIns="0">
            <a:spAutoFit/>
          </a:bodyPr>
          <a:lstStyle/>
          <a:p>
            <a:pPr algn="r">
              <a:lnSpc>
                <a:spcPct val="108000"/>
              </a:lnSpc>
              <a:spcAft>
                <a:spcPts val="700"/>
              </a:spcAft>
              <a:defRPr sz="1000" b="1">
                <a:solidFill>
                  <a:srgbClr val="D5EE92"/>
                </a:solidFill>
                <a:latin typeface="Arial"/>
              </a:defRPr>
            </a:pPr>
            <a:r>
              <a:t>01 / 05</a:t>
            </a:r>
          </a:p>
        </p:txBody>
      </p:sp>
      <p:sp>
        <p:nvSpPr>
          <p:cNvPr id="7" name="TextBox 6"/>
          <p:cNvSpPr txBox="1"/>
          <p:nvPr/>
        </p:nvSpPr>
        <p:spPr>
          <a:xfrm>
            <a:off x="621792" y="877824"/>
            <a:ext cx="5669280" cy="841248"/>
          </a:xfrm>
          <a:prstGeom prst="rect">
            <a:avLst/>
          </a:prstGeom>
          <a:noFill/>
        </p:spPr>
        <p:txBody>
          <a:bodyPr wrap="square" lIns="0" rIns="0" tIns="0" bIns="0">
            <a:spAutoFit/>
          </a:bodyPr>
          <a:lstStyle/>
          <a:p>
            <a:pPr>
              <a:lnSpc>
                <a:spcPct val="108000"/>
              </a:lnSpc>
              <a:spcAft>
                <a:spcPts val="700"/>
              </a:spcAft>
              <a:defRPr sz="5700" b="1">
                <a:solidFill>
                  <a:srgbClr val="FFFFFF"/>
                </a:solidFill>
                <a:latin typeface="Arial"/>
              </a:defRPr>
            </a:pPr>
            <a:r>
              <a:t>VCoi</a:t>
            </a:r>
          </a:p>
        </p:txBody>
      </p:sp>
      <p:sp>
        <p:nvSpPr>
          <p:cNvPr id="8" name="TextBox 7"/>
          <p:cNvSpPr txBox="1"/>
          <p:nvPr/>
        </p:nvSpPr>
        <p:spPr>
          <a:xfrm>
            <a:off x="640080" y="1901952"/>
            <a:ext cx="5669280" cy="1216152"/>
          </a:xfrm>
          <a:prstGeom prst="rect">
            <a:avLst/>
          </a:prstGeom>
          <a:noFill/>
        </p:spPr>
        <p:txBody>
          <a:bodyPr wrap="square" lIns="0" rIns="0" tIns="0" bIns="0">
            <a:spAutoFit/>
          </a:bodyPr>
          <a:lstStyle/>
          <a:p>
            <a:pPr>
              <a:lnSpc>
                <a:spcPct val="108000"/>
              </a:lnSpc>
              <a:spcAft>
                <a:spcPts val="700"/>
              </a:spcAft>
              <a:defRPr sz="3600" b="1">
                <a:solidFill>
                  <a:srgbClr val="FFFFFF"/>
                </a:solidFill>
                <a:latin typeface="Arial"/>
              </a:defRPr>
            </a:pPr>
            <a:r>
              <a:t>Thu mua ve chai</a:t>
            </a:r>
          </a:p>
          <a:p>
            <a:pPr>
              <a:lnSpc>
                <a:spcPct val="108000"/>
              </a:lnSpc>
              <a:spcAft>
                <a:spcPts val="700"/>
              </a:spcAft>
              <a:defRPr sz="3600" b="1">
                <a:solidFill>
                  <a:srgbClr val="FFFFFF"/>
                </a:solidFill>
                <a:latin typeface="Arial"/>
              </a:defRPr>
            </a:pPr>
            <a:r>
              <a:t>trực tuyến</a:t>
            </a:r>
          </a:p>
        </p:txBody>
      </p:sp>
      <p:sp>
        <p:nvSpPr>
          <p:cNvPr id="9" name="Rounded Rectangle 8"/>
          <p:cNvSpPr/>
          <p:nvPr/>
        </p:nvSpPr>
        <p:spPr>
          <a:xfrm>
            <a:off x="658368" y="3383280"/>
            <a:ext cx="4343400" cy="329184"/>
          </a:xfrm>
          <a:prstGeom prst="roundRect">
            <a:avLst>
              <a:gd name="adj" fmla="val 10000"/>
            </a:avLst>
          </a:prstGeom>
          <a:solidFill>
            <a:srgbClr val="D5E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3451860"/>
            <a:ext cx="4123944" cy="219456"/>
          </a:xfrm>
          <a:prstGeom prst="rect">
            <a:avLst/>
          </a:prstGeom>
          <a:noFill/>
        </p:spPr>
        <p:txBody>
          <a:bodyPr wrap="square" lIns="0" rIns="0" tIns="0" bIns="0">
            <a:spAutoFit/>
          </a:bodyPr>
          <a:lstStyle/>
          <a:p>
            <a:pPr>
              <a:lnSpc>
                <a:spcPct val="108000"/>
              </a:lnSpc>
              <a:spcAft>
                <a:spcPts val="700"/>
              </a:spcAft>
              <a:defRPr sz="1050" b="1">
                <a:solidFill>
                  <a:srgbClr val="153F32"/>
                </a:solidFill>
                <a:latin typeface="Arial"/>
              </a:defRPr>
            </a:pPr>
            <a:r>
              <a:t>C2B  •  CÁ NHÂN BÁN → ĐẠI LÝ MUA</a:t>
            </a:r>
          </a:p>
        </p:txBody>
      </p:sp>
      <p:sp>
        <p:nvSpPr>
          <p:cNvPr id="11" name="TextBox 10"/>
          <p:cNvSpPr txBox="1"/>
          <p:nvPr/>
        </p:nvSpPr>
        <p:spPr>
          <a:xfrm>
            <a:off x="667512" y="4050791"/>
            <a:ext cx="5120640" cy="804672"/>
          </a:xfrm>
          <a:prstGeom prst="rect">
            <a:avLst/>
          </a:prstGeom>
          <a:noFill/>
        </p:spPr>
        <p:txBody>
          <a:bodyPr wrap="square" lIns="0" rIns="0" tIns="0" bIns="0">
            <a:spAutoFit/>
          </a:bodyPr>
          <a:lstStyle/>
          <a:p>
            <a:pPr>
              <a:lnSpc>
                <a:spcPct val="108000"/>
              </a:lnSpc>
              <a:spcAft>
                <a:spcPts val="700"/>
              </a:spcAft>
              <a:defRPr sz="2200" b="0">
                <a:solidFill>
                  <a:srgbClr val="D9E6DA"/>
                </a:solidFill>
                <a:latin typeface="Arial"/>
              </a:defRPr>
            </a:pPr>
            <a:r>
              <a:t>Kết nối lịch thu gom,</a:t>
            </a:r>
          </a:p>
          <a:p>
            <a:pPr>
              <a:lnSpc>
                <a:spcPct val="108000"/>
              </a:lnSpc>
              <a:spcAft>
                <a:spcPts val="700"/>
              </a:spcAft>
              <a:defRPr sz="2200" b="0">
                <a:solidFill>
                  <a:srgbClr val="D9E6DA"/>
                </a:solidFill>
                <a:latin typeface="Arial"/>
              </a:defRPr>
            </a:pPr>
            <a:r>
              <a:t>minh bạch cân và giá.</a:t>
            </a:r>
          </a:p>
        </p:txBody>
      </p:sp>
      <p:sp>
        <p:nvSpPr>
          <p:cNvPr id="12" name="Rectangle 11"/>
          <p:cNvSpPr/>
          <p:nvPr/>
        </p:nvSpPr>
        <p:spPr>
          <a:xfrm>
            <a:off x="676656" y="5148072"/>
            <a:ext cx="5074920" cy="10972"/>
          </a:xfrm>
          <a:prstGeom prst="rect">
            <a:avLst/>
          </a:prstGeom>
          <a:solidFill>
            <a:srgbClr val="507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5358384"/>
            <a:ext cx="5138928" cy="896112"/>
          </a:xfrm>
          <a:prstGeom prst="rect">
            <a:avLst/>
          </a:prstGeom>
          <a:noFill/>
        </p:spPr>
        <p:txBody>
          <a:bodyPr wrap="square" lIns="0" rIns="0" tIns="0" bIns="0">
            <a:spAutoFit/>
          </a:bodyPr>
          <a:lstStyle/>
          <a:p>
            <a:pPr>
              <a:lnSpc>
                <a:spcPct val="108000"/>
              </a:lnSpc>
              <a:spcAft>
                <a:spcPts val="700"/>
              </a:spcAft>
              <a:defRPr sz="1300" b="0">
                <a:solidFill>
                  <a:srgbClr val="C9D9CC"/>
                </a:solidFill>
                <a:latin typeface="Arial"/>
              </a:defRPr>
            </a:pPr>
            <a:r>
              <a:t>Nhóm: [Tên nhóm]  •  Lớp: [Tên lớp]</a:t>
            </a:r>
          </a:p>
          <a:p>
            <a:pPr>
              <a:lnSpc>
                <a:spcPct val="108000"/>
              </a:lnSpc>
              <a:spcAft>
                <a:spcPts val="700"/>
              </a:spcAft>
              <a:defRPr sz="1300" b="0">
                <a:solidFill>
                  <a:srgbClr val="C9D9CC"/>
                </a:solidFill>
                <a:latin typeface="Arial"/>
              </a:defRPr>
            </a:pPr>
            <a:r>
              <a:t>GVHD: [Tên giảng viên]</a:t>
            </a:r>
          </a:p>
          <a:p>
            <a:pPr>
              <a:lnSpc>
                <a:spcPct val="108000"/>
              </a:lnSpc>
              <a:spcAft>
                <a:spcPts val="700"/>
              </a:spcAft>
              <a:defRPr sz="1300" b="0">
                <a:solidFill>
                  <a:srgbClr val="C9D9CC"/>
                </a:solidFill>
                <a:latin typeface="Arial"/>
              </a:defRPr>
            </a:pPr>
            <a:r>
              <a:t>Thành viên: [Danh sách sinh viên]</a:t>
            </a:r>
          </a:p>
        </p:txBody>
      </p:sp>
      <p:sp>
        <p:nvSpPr>
          <p:cNvPr id="14" name="Rounded Rectangle 13"/>
          <p:cNvSpPr/>
          <p:nvPr/>
        </p:nvSpPr>
        <p:spPr>
          <a:xfrm>
            <a:off x="6501384" y="1051560"/>
            <a:ext cx="5029200" cy="4498848"/>
          </a:xfrm>
          <a:prstGeom prst="roundRect">
            <a:avLst>
              <a:gd name="adj" fmla="val 10000"/>
            </a:avLst>
          </a:prstGeom>
          <a:solidFill>
            <a:srgbClr val="E8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1384" y="1051560"/>
            <a:ext cx="5029200" cy="310896"/>
          </a:xfrm>
          <a:prstGeom prst="roundRect">
            <a:avLst>
              <a:gd name="adj" fmla="val 10000"/>
            </a:avLst>
          </a:prstGeom>
          <a:solidFill>
            <a:srgbClr val="D9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93408" y="1152144"/>
            <a:ext cx="73152" cy="7315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93408" y="1234440"/>
            <a:ext cx="7315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sp>
        <p:nvSpPr>
          <p:cNvPr id="18" name="Oval 17"/>
          <p:cNvSpPr/>
          <p:nvPr/>
        </p:nvSpPr>
        <p:spPr>
          <a:xfrm>
            <a:off x="6858000" y="1152144"/>
            <a:ext cx="73152" cy="7315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1234440"/>
            <a:ext cx="7315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sp>
        <p:nvSpPr>
          <p:cNvPr id="20" name="Oval 19"/>
          <p:cNvSpPr/>
          <p:nvPr/>
        </p:nvSpPr>
        <p:spPr>
          <a:xfrm>
            <a:off x="7022592" y="1152144"/>
            <a:ext cx="73152" cy="7315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22592" y="1234440"/>
            <a:ext cx="7315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pic>
        <p:nvPicPr>
          <p:cNvPr id="22" name="Picture 21" descr="home.png"/>
          <p:cNvPicPr>
            <a:picLocks noChangeAspect="1"/>
          </p:cNvPicPr>
          <p:nvPr/>
        </p:nvPicPr>
        <p:blipFill>
          <a:blip r:embed="rId2"/>
          <a:srcRect l="3348" r="3348"/>
          <a:stretch>
            <a:fillRect/>
          </a:stretch>
        </p:blipFill>
        <p:spPr>
          <a:xfrm>
            <a:off x="6620256" y="1463040"/>
            <a:ext cx="4791456" cy="3566160"/>
          </a:xfrm>
          <a:prstGeom prst="rect">
            <a:avLst/>
          </a:prstGeom>
        </p:spPr>
      </p:pic>
      <p:sp>
        <p:nvSpPr>
          <p:cNvPr id="23" name="TextBox 22"/>
          <p:cNvSpPr txBox="1"/>
          <p:nvPr/>
        </p:nvSpPr>
        <p:spPr>
          <a:xfrm>
            <a:off x="6711696" y="5202936"/>
            <a:ext cx="4572000" cy="219456"/>
          </a:xfrm>
          <a:prstGeom prst="rect">
            <a:avLst/>
          </a:prstGeom>
          <a:noFill/>
        </p:spPr>
        <p:txBody>
          <a:bodyPr wrap="square" lIns="0" rIns="0" tIns="0" bIns="0">
            <a:spAutoFit/>
          </a:bodyPr>
          <a:lstStyle/>
          <a:p>
            <a:pPr>
              <a:lnSpc>
                <a:spcPct val="108000"/>
              </a:lnSpc>
              <a:spcAft>
                <a:spcPts val="700"/>
              </a:spcAft>
              <a:defRPr sz="1100" b="1">
                <a:solidFill>
                  <a:srgbClr val="2C6F4D"/>
                </a:solidFill>
                <a:latin typeface="Arial"/>
              </a:defRPr>
            </a:pPr>
            <a:r>
              <a:t>Giao diện VCoi • Ảnh chạy thử</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66928" y="320040"/>
            <a:ext cx="10058400" cy="256032"/>
          </a:xfrm>
          <a:prstGeom prst="rect">
            <a:avLst/>
          </a:prstGeom>
          <a:noFill/>
        </p:spPr>
        <p:txBody>
          <a:bodyPr wrap="square" lIns="0" rIns="0" tIns="0" bIns="0">
            <a:spAutoFit/>
          </a:bodyPr>
          <a:lstStyle/>
          <a:p>
            <a:pPr>
              <a:lnSpc>
                <a:spcPct val="108000"/>
              </a:lnSpc>
              <a:spcAft>
                <a:spcPts val="700"/>
              </a:spcAft>
              <a:defRPr sz="1050" b="1">
                <a:solidFill>
                  <a:srgbClr val="2C6F4D"/>
                </a:solidFill>
                <a:latin typeface="Arial"/>
              </a:defRPr>
            </a:pPr>
            <a:r>
              <a:t>02 / PHÂN HỆ &amp; NGHIỆP VỤ</a:t>
            </a:r>
          </a:p>
        </p:txBody>
      </p:sp>
      <p:sp>
        <p:nvSpPr>
          <p:cNvPr id="3" name="TextBox 2"/>
          <p:cNvSpPr txBox="1"/>
          <p:nvPr/>
        </p:nvSpPr>
        <p:spPr>
          <a:xfrm>
            <a:off x="566928" y="822960"/>
            <a:ext cx="11018520" cy="658368"/>
          </a:xfrm>
          <a:prstGeom prst="rect">
            <a:avLst/>
          </a:prstGeom>
          <a:noFill/>
        </p:spPr>
        <p:txBody>
          <a:bodyPr wrap="square" lIns="0" rIns="0" tIns="0" bIns="0">
            <a:spAutoFit/>
          </a:bodyPr>
          <a:lstStyle/>
          <a:p>
            <a:pPr>
              <a:lnSpc>
                <a:spcPct val="108000"/>
              </a:lnSpc>
              <a:spcAft>
                <a:spcPts val="700"/>
              </a:spcAft>
              <a:defRPr sz="3100" b="1">
                <a:solidFill>
                  <a:srgbClr val="1E3F32"/>
                </a:solidFill>
                <a:latin typeface="Arial"/>
              </a:defRPr>
            </a:pPr>
            <a:r>
              <a:t>Ba vai trò, một giao dịch thu mua.</a:t>
            </a:r>
          </a:p>
        </p:txBody>
      </p:sp>
      <p:sp>
        <p:nvSpPr>
          <p:cNvPr id="4" name="TextBox 3"/>
          <p:cNvSpPr txBox="1"/>
          <p:nvPr/>
        </p:nvSpPr>
        <p:spPr>
          <a:xfrm>
            <a:off x="594360" y="1536192"/>
            <a:ext cx="10881360" cy="365760"/>
          </a:xfrm>
          <a:prstGeom prst="rect">
            <a:avLst/>
          </a:prstGeom>
          <a:noFill/>
        </p:spPr>
        <p:txBody>
          <a:bodyPr wrap="square" lIns="0" rIns="0" tIns="0" bIns="0">
            <a:spAutoFit/>
          </a:bodyPr>
          <a:lstStyle/>
          <a:p>
            <a:pPr>
              <a:lnSpc>
                <a:spcPct val="108000"/>
              </a:lnSpc>
              <a:spcAft>
                <a:spcPts val="700"/>
              </a:spcAft>
              <a:defRPr sz="1550" b="0">
                <a:solidFill>
                  <a:srgbClr val="63756A"/>
                </a:solidFill>
                <a:latin typeface="Arial"/>
              </a:defRPr>
            </a:pPr>
            <a:r>
              <a:t>Giá trị cốt lõi: khách duyệt báo giá sau khi cân thực tế.</a:t>
            </a:r>
          </a:p>
        </p:txBody>
      </p:sp>
      <p:sp>
        <p:nvSpPr>
          <p:cNvPr id="5" name="Rectangle 4"/>
          <p:cNvSpPr/>
          <p:nvPr/>
        </p:nvSpPr>
        <p:spPr>
          <a:xfrm>
            <a:off x="566928" y="6419088"/>
            <a:ext cx="11045952" cy="10972"/>
          </a:xfrm>
          <a:prstGeom prst="rect">
            <a:avLst/>
          </a:prstGeom>
          <a:solidFill>
            <a:srgbClr val="D8E2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37960"/>
            <a:ext cx="8961120" cy="182880"/>
          </a:xfrm>
          <a:prstGeom prst="rect">
            <a:avLst/>
          </a:prstGeom>
          <a:noFill/>
        </p:spPr>
        <p:txBody>
          <a:bodyPr wrap="square" lIns="0" rIns="0" tIns="0" bIns="0">
            <a:spAutoFit/>
          </a:bodyPr>
          <a:lstStyle/>
          <a:p>
            <a:pPr>
              <a:lnSpc>
                <a:spcPct val="108000"/>
              </a:lnSpc>
              <a:spcAft>
                <a:spcPts val="700"/>
              </a:spcAft>
              <a:defRPr sz="900" b="0">
                <a:solidFill>
                  <a:srgbClr val="63756A"/>
                </a:solidFill>
                <a:latin typeface="Arial"/>
              </a:defRPr>
            </a:pPr>
            <a:r>
              <a:t>VCoi  /  Đồ án Thương mại điện tử  /  C2B</a:t>
            </a:r>
          </a:p>
        </p:txBody>
      </p:sp>
      <p:sp>
        <p:nvSpPr>
          <p:cNvPr id="7" name="TextBox 6"/>
          <p:cNvSpPr txBox="1"/>
          <p:nvPr/>
        </p:nvSpPr>
        <p:spPr>
          <a:xfrm>
            <a:off x="10671048" y="6519672"/>
            <a:ext cx="914400" cy="228600"/>
          </a:xfrm>
          <a:prstGeom prst="rect">
            <a:avLst/>
          </a:prstGeom>
          <a:noFill/>
        </p:spPr>
        <p:txBody>
          <a:bodyPr wrap="square" lIns="0" rIns="0" tIns="0" bIns="0">
            <a:spAutoFit/>
          </a:bodyPr>
          <a:lstStyle/>
          <a:p>
            <a:pPr algn="r">
              <a:lnSpc>
                <a:spcPct val="108000"/>
              </a:lnSpc>
              <a:spcAft>
                <a:spcPts val="700"/>
              </a:spcAft>
              <a:defRPr sz="1000" b="1">
                <a:solidFill>
                  <a:srgbClr val="2C6F4D"/>
                </a:solidFill>
                <a:latin typeface="Arial"/>
              </a:defRPr>
            </a:pPr>
            <a:r>
              <a:t>02 / 05</a:t>
            </a:r>
          </a:p>
        </p:txBody>
      </p:sp>
      <p:sp>
        <p:nvSpPr>
          <p:cNvPr id="8" name="Rounded Rectangle 7"/>
          <p:cNvSpPr/>
          <p:nvPr/>
        </p:nvSpPr>
        <p:spPr>
          <a:xfrm>
            <a:off x="621792" y="2212848"/>
            <a:ext cx="3493008" cy="31546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2459736"/>
            <a:ext cx="420624" cy="420624"/>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542032"/>
            <a:ext cx="420624"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r>
              <a:t>K</a:t>
            </a:r>
          </a:p>
        </p:txBody>
      </p:sp>
      <p:sp>
        <p:nvSpPr>
          <p:cNvPr id="11" name="TextBox 10"/>
          <p:cNvSpPr txBox="1"/>
          <p:nvPr/>
        </p:nvSpPr>
        <p:spPr>
          <a:xfrm>
            <a:off x="1417320" y="2496312"/>
            <a:ext cx="2487168" cy="320040"/>
          </a:xfrm>
          <a:prstGeom prst="rect">
            <a:avLst/>
          </a:prstGeom>
          <a:noFill/>
        </p:spPr>
        <p:txBody>
          <a:bodyPr wrap="square" lIns="0" rIns="0" tIns="0" bIns="0">
            <a:spAutoFit/>
          </a:bodyPr>
          <a:lstStyle/>
          <a:p>
            <a:pPr>
              <a:lnSpc>
                <a:spcPct val="108000"/>
              </a:lnSpc>
              <a:spcAft>
                <a:spcPts val="700"/>
              </a:spcAft>
              <a:defRPr sz="1800" b="1">
                <a:solidFill>
                  <a:srgbClr val="1E3F32"/>
                </a:solidFill>
                <a:latin typeface="Arial"/>
              </a:defRPr>
            </a:pPr>
            <a:r>
              <a:t>KHÁCH HÀNG</a:t>
            </a:r>
          </a:p>
        </p:txBody>
      </p:sp>
      <p:sp>
        <p:nvSpPr>
          <p:cNvPr id="12" name="TextBox 11"/>
          <p:cNvSpPr txBox="1"/>
          <p:nvPr/>
        </p:nvSpPr>
        <p:spPr>
          <a:xfrm>
            <a:off x="832104" y="3035808"/>
            <a:ext cx="3035808" cy="274320"/>
          </a:xfrm>
          <a:prstGeom prst="rect">
            <a:avLst/>
          </a:prstGeom>
          <a:noFill/>
        </p:spPr>
        <p:txBody>
          <a:bodyPr wrap="square" lIns="0" rIns="0" tIns="0" bIns="0">
            <a:spAutoFit/>
          </a:bodyPr>
          <a:lstStyle/>
          <a:p>
            <a:pPr>
              <a:lnSpc>
                <a:spcPct val="108000"/>
              </a:lnSpc>
              <a:spcAft>
                <a:spcPts val="700"/>
              </a:spcAft>
              <a:defRPr sz="1400" b="0">
                <a:solidFill>
                  <a:srgbClr val="63756A"/>
                </a:solidFill>
                <a:latin typeface="Arial"/>
              </a:defRPr>
            </a:pPr>
            <a:r>
              <a:t>Người bán vật liệu</a:t>
            </a:r>
          </a:p>
        </p:txBody>
      </p:sp>
      <p:sp>
        <p:nvSpPr>
          <p:cNvPr id="13" name="Rectangle 12"/>
          <p:cNvSpPr/>
          <p:nvPr/>
        </p:nvSpPr>
        <p:spPr>
          <a:xfrm>
            <a:off x="850392" y="3648456"/>
            <a:ext cx="59436" cy="59436"/>
          </a:xfrm>
          <a:prstGeom prst="rect">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557016"/>
            <a:ext cx="2852928" cy="393192"/>
          </a:xfrm>
          <a:prstGeom prst="rect">
            <a:avLst/>
          </a:prstGeom>
          <a:noFill/>
        </p:spPr>
        <p:txBody>
          <a:bodyPr wrap="square" lIns="0" rIns="0" tIns="0" bIns="0">
            <a:spAutoFit/>
          </a:bodyPr>
          <a:lstStyle/>
          <a:p>
            <a:pPr>
              <a:lnSpc>
                <a:spcPct val="108000"/>
              </a:lnSpc>
              <a:spcAft>
                <a:spcPts val="700"/>
              </a:spcAft>
              <a:defRPr sz="1620" b="0">
                <a:solidFill>
                  <a:srgbClr val="1E3F32"/>
                </a:solidFill>
                <a:latin typeface="Arial"/>
              </a:defRPr>
            </a:pPr>
            <a:r>
              <a:t>Xem vật liệu và bảng giá</a:t>
            </a:r>
          </a:p>
        </p:txBody>
      </p:sp>
      <p:sp>
        <p:nvSpPr>
          <p:cNvPr id="15" name="Rectangle 14"/>
          <p:cNvSpPr/>
          <p:nvPr/>
        </p:nvSpPr>
        <p:spPr>
          <a:xfrm>
            <a:off x="850392" y="4142232"/>
            <a:ext cx="59436" cy="59436"/>
          </a:xfrm>
          <a:prstGeom prst="rect">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050791"/>
            <a:ext cx="2852928" cy="393192"/>
          </a:xfrm>
          <a:prstGeom prst="rect">
            <a:avLst/>
          </a:prstGeom>
          <a:noFill/>
        </p:spPr>
        <p:txBody>
          <a:bodyPr wrap="square" lIns="0" rIns="0" tIns="0" bIns="0">
            <a:spAutoFit/>
          </a:bodyPr>
          <a:lstStyle/>
          <a:p>
            <a:pPr>
              <a:lnSpc>
                <a:spcPct val="108000"/>
              </a:lnSpc>
              <a:spcAft>
                <a:spcPts val="700"/>
              </a:spcAft>
              <a:defRPr sz="1620" b="0">
                <a:solidFill>
                  <a:srgbClr val="1E3F32"/>
                </a:solidFill>
                <a:latin typeface="Arial"/>
              </a:defRPr>
            </a:pPr>
            <a:r>
              <a:t>Đặt lịch, theo dõi thu gom</a:t>
            </a:r>
          </a:p>
        </p:txBody>
      </p:sp>
      <p:sp>
        <p:nvSpPr>
          <p:cNvPr id="17" name="Rectangle 16"/>
          <p:cNvSpPr/>
          <p:nvPr/>
        </p:nvSpPr>
        <p:spPr>
          <a:xfrm>
            <a:off x="850392" y="4636008"/>
            <a:ext cx="59436" cy="59436"/>
          </a:xfrm>
          <a:prstGeom prst="rect">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544568"/>
            <a:ext cx="2852928" cy="393192"/>
          </a:xfrm>
          <a:prstGeom prst="rect">
            <a:avLst/>
          </a:prstGeom>
          <a:noFill/>
        </p:spPr>
        <p:txBody>
          <a:bodyPr wrap="square" lIns="0" rIns="0" tIns="0" bIns="0">
            <a:spAutoFit/>
          </a:bodyPr>
          <a:lstStyle/>
          <a:p>
            <a:pPr>
              <a:lnSpc>
                <a:spcPct val="108000"/>
              </a:lnSpc>
              <a:spcAft>
                <a:spcPts val="700"/>
              </a:spcAft>
              <a:defRPr sz="1620" b="0">
                <a:solidFill>
                  <a:srgbClr val="1E3F32"/>
                </a:solidFill>
                <a:latin typeface="Arial"/>
              </a:defRPr>
            </a:pPr>
            <a:r>
              <a:t>Duyệt giá, xem biên nhận</a:t>
            </a:r>
          </a:p>
        </p:txBody>
      </p:sp>
      <p:sp>
        <p:nvSpPr>
          <p:cNvPr id="19" name="Rounded Rectangle 18"/>
          <p:cNvSpPr/>
          <p:nvPr/>
        </p:nvSpPr>
        <p:spPr>
          <a:xfrm>
            <a:off x="4352544" y="2212848"/>
            <a:ext cx="3493008" cy="31546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53712" y="2459736"/>
            <a:ext cx="420624" cy="420624"/>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53712" y="2542032"/>
            <a:ext cx="420624"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r>
              <a:t>N</a:t>
            </a:r>
          </a:p>
        </p:txBody>
      </p:sp>
      <p:sp>
        <p:nvSpPr>
          <p:cNvPr id="22" name="TextBox 21"/>
          <p:cNvSpPr txBox="1"/>
          <p:nvPr/>
        </p:nvSpPr>
        <p:spPr>
          <a:xfrm>
            <a:off x="5148072" y="2496312"/>
            <a:ext cx="2487168" cy="320040"/>
          </a:xfrm>
          <a:prstGeom prst="rect">
            <a:avLst/>
          </a:prstGeom>
          <a:noFill/>
        </p:spPr>
        <p:txBody>
          <a:bodyPr wrap="square" lIns="0" rIns="0" tIns="0" bIns="0">
            <a:spAutoFit/>
          </a:bodyPr>
          <a:lstStyle/>
          <a:p>
            <a:pPr>
              <a:lnSpc>
                <a:spcPct val="108000"/>
              </a:lnSpc>
              <a:spcAft>
                <a:spcPts val="700"/>
              </a:spcAft>
              <a:defRPr sz="1800" b="1">
                <a:solidFill>
                  <a:srgbClr val="1E3F32"/>
                </a:solidFill>
                <a:latin typeface="Arial"/>
              </a:defRPr>
            </a:pPr>
            <a:r>
              <a:t>NHÂN VIÊN</a:t>
            </a:r>
          </a:p>
        </p:txBody>
      </p:sp>
      <p:sp>
        <p:nvSpPr>
          <p:cNvPr id="23" name="TextBox 22"/>
          <p:cNvSpPr txBox="1"/>
          <p:nvPr/>
        </p:nvSpPr>
        <p:spPr>
          <a:xfrm>
            <a:off x="4562856" y="3035808"/>
            <a:ext cx="3035808" cy="274320"/>
          </a:xfrm>
          <a:prstGeom prst="rect">
            <a:avLst/>
          </a:prstGeom>
          <a:noFill/>
        </p:spPr>
        <p:txBody>
          <a:bodyPr wrap="square" lIns="0" rIns="0" tIns="0" bIns="0">
            <a:spAutoFit/>
          </a:bodyPr>
          <a:lstStyle/>
          <a:p>
            <a:pPr>
              <a:lnSpc>
                <a:spcPct val="108000"/>
              </a:lnSpc>
              <a:spcAft>
                <a:spcPts val="700"/>
              </a:spcAft>
              <a:defRPr sz="1400" b="0">
                <a:solidFill>
                  <a:srgbClr val="63756A"/>
                </a:solidFill>
                <a:latin typeface="Arial"/>
              </a:defRPr>
            </a:pPr>
            <a:r>
              <a:t>Người thu gom</a:t>
            </a:r>
          </a:p>
        </p:txBody>
      </p:sp>
      <p:sp>
        <p:nvSpPr>
          <p:cNvPr id="24" name="Rectangle 23"/>
          <p:cNvSpPr/>
          <p:nvPr/>
        </p:nvSpPr>
        <p:spPr>
          <a:xfrm>
            <a:off x="4581144" y="3648456"/>
            <a:ext cx="59436" cy="59436"/>
          </a:xfrm>
          <a:prstGeom prst="rect">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3557016"/>
            <a:ext cx="2852928" cy="393192"/>
          </a:xfrm>
          <a:prstGeom prst="rect">
            <a:avLst/>
          </a:prstGeom>
          <a:noFill/>
        </p:spPr>
        <p:txBody>
          <a:bodyPr wrap="square" lIns="0" rIns="0" tIns="0" bIns="0">
            <a:spAutoFit/>
          </a:bodyPr>
          <a:lstStyle/>
          <a:p>
            <a:pPr>
              <a:lnSpc>
                <a:spcPct val="108000"/>
              </a:lnSpc>
              <a:spcAft>
                <a:spcPts val="700"/>
              </a:spcAft>
              <a:defRPr sz="1620" b="0">
                <a:solidFill>
                  <a:srgbClr val="1E3F32"/>
                </a:solidFill>
                <a:latin typeface="Arial"/>
              </a:defRPr>
            </a:pPr>
            <a:r>
              <a:t>Nhận lịch được phân công</a:t>
            </a:r>
          </a:p>
        </p:txBody>
      </p:sp>
      <p:sp>
        <p:nvSpPr>
          <p:cNvPr id="26" name="Rectangle 25"/>
          <p:cNvSpPr/>
          <p:nvPr/>
        </p:nvSpPr>
        <p:spPr>
          <a:xfrm>
            <a:off x="4581144" y="4142232"/>
            <a:ext cx="59436" cy="59436"/>
          </a:xfrm>
          <a:prstGeom prst="rect">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4050791"/>
            <a:ext cx="2852928" cy="393192"/>
          </a:xfrm>
          <a:prstGeom prst="rect">
            <a:avLst/>
          </a:prstGeom>
          <a:noFill/>
        </p:spPr>
        <p:txBody>
          <a:bodyPr wrap="square" lIns="0" rIns="0" tIns="0" bIns="0">
            <a:spAutoFit/>
          </a:bodyPr>
          <a:lstStyle/>
          <a:p>
            <a:pPr>
              <a:lnSpc>
                <a:spcPct val="108000"/>
              </a:lnSpc>
              <a:spcAft>
                <a:spcPts val="700"/>
              </a:spcAft>
              <a:defRPr sz="1620" b="0">
                <a:solidFill>
                  <a:srgbClr val="1E3F32"/>
                </a:solidFill>
                <a:latin typeface="Arial"/>
              </a:defRPr>
            </a:pPr>
            <a:r>
              <a:t>Cân thực tế, gửi báo giá</a:t>
            </a:r>
          </a:p>
        </p:txBody>
      </p:sp>
      <p:sp>
        <p:nvSpPr>
          <p:cNvPr id="28" name="Rectangle 27"/>
          <p:cNvSpPr/>
          <p:nvPr/>
        </p:nvSpPr>
        <p:spPr>
          <a:xfrm>
            <a:off x="4581144" y="4636008"/>
            <a:ext cx="59436" cy="59436"/>
          </a:xfrm>
          <a:prstGeom prst="rect">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0" y="4544568"/>
            <a:ext cx="2852928" cy="393192"/>
          </a:xfrm>
          <a:prstGeom prst="rect">
            <a:avLst/>
          </a:prstGeom>
          <a:noFill/>
        </p:spPr>
        <p:txBody>
          <a:bodyPr wrap="square" lIns="0" rIns="0" tIns="0" bIns="0">
            <a:spAutoFit/>
          </a:bodyPr>
          <a:lstStyle/>
          <a:p>
            <a:pPr>
              <a:lnSpc>
                <a:spcPct val="108000"/>
              </a:lnSpc>
              <a:spcAft>
                <a:spcPts val="700"/>
              </a:spcAft>
              <a:defRPr sz="1620" b="0">
                <a:solidFill>
                  <a:srgbClr val="1E3F32"/>
                </a:solidFill>
                <a:latin typeface="Arial"/>
              </a:defRPr>
            </a:pPr>
            <a:r>
              <a:t>Ghi khoản chi mô phỏng</a:t>
            </a:r>
          </a:p>
        </p:txBody>
      </p:sp>
      <p:sp>
        <p:nvSpPr>
          <p:cNvPr id="30" name="Rounded Rectangle 29"/>
          <p:cNvSpPr/>
          <p:nvPr/>
        </p:nvSpPr>
        <p:spPr>
          <a:xfrm>
            <a:off x="8083296" y="2212848"/>
            <a:ext cx="3493008" cy="31546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84464" y="2459736"/>
            <a:ext cx="420624" cy="420624"/>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4464" y="2542032"/>
            <a:ext cx="420624"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r>
              <a:t>Q</a:t>
            </a:r>
          </a:p>
        </p:txBody>
      </p:sp>
      <p:sp>
        <p:nvSpPr>
          <p:cNvPr id="33" name="TextBox 32"/>
          <p:cNvSpPr txBox="1"/>
          <p:nvPr/>
        </p:nvSpPr>
        <p:spPr>
          <a:xfrm>
            <a:off x="8878824" y="2496312"/>
            <a:ext cx="2487168" cy="320040"/>
          </a:xfrm>
          <a:prstGeom prst="rect">
            <a:avLst/>
          </a:prstGeom>
          <a:noFill/>
        </p:spPr>
        <p:txBody>
          <a:bodyPr wrap="square" lIns="0" rIns="0" tIns="0" bIns="0">
            <a:spAutoFit/>
          </a:bodyPr>
          <a:lstStyle/>
          <a:p>
            <a:pPr>
              <a:lnSpc>
                <a:spcPct val="108000"/>
              </a:lnSpc>
              <a:spcAft>
                <a:spcPts val="700"/>
              </a:spcAft>
              <a:defRPr sz="1800" b="1">
                <a:solidFill>
                  <a:srgbClr val="1E3F32"/>
                </a:solidFill>
                <a:latin typeface="Arial"/>
              </a:defRPr>
            </a:pPr>
            <a:r>
              <a:t>QUẢN TRỊ</a:t>
            </a:r>
          </a:p>
        </p:txBody>
      </p:sp>
      <p:sp>
        <p:nvSpPr>
          <p:cNvPr id="34" name="TextBox 33"/>
          <p:cNvSpPr txBox="1"/>
          <p:nvPr/>
        </p:nvSpPr>
        <p:spPr>
          <a:xfrm>
            <a:off x="8293608" y="3035808"/>
            <a:ext cx="3035808" cy="274320"/>
          </a:xfrm>
          <a:prstGeom prst="rect">
            <a:avLst/>
          </a:prstGeom>
          <a:noFill/>
        </p:spPr>
        <p:txBody>
          <a:bodyPr wrap="square" lIns="0" rIns="0" tIns="0" bIns="0">
            <a:spAutoFit/>
          </a:bodyPr>
          <a:lstStyle/>
          <a:p>
            <a:pPr>
              <a:lnSpc>
                <a:spcPct val="108000"/>
              </a:lnSpc>
              <a:spcAft>
                <a:spcPts val="700"/>
              </a:spcAft>
              <a:defRPr sz="1400" b="0">
                <a:solidFill>
                  <a:srgbClr val="63756A"/>
                </a:solidFill>
                <a:latin typeface="Arial"/>
              </a:defRPr>
            </a:pPr>
            <a:r>
              <a:t>Đại lý thu mua</a:t>
            </a:r>
          </a:p>
        </p:txBody>
      </p:sp>
      <p:sp>
        <p:nvSpPr>
          <p:cNvPr id="35" name="Rectangle 34"/>
          <p:cNvSpPr/>
          <p:nvPr/>
        </p:nvSpPr>
        <p:spPr>
          <a:xfrm>
            <a:off x="8311896" y="3648456"/>
            <a:ext cx="59436" cy="59436"/>
          </a:xfrm>
          <a:prstGeom prst="rect">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85632" y="3557016"/>
            <a:ext cx="2852928" cy="393192"/>
          </a:xfrm>
          <a:prstGeom prst="rect">
            <a:avLst/>
          </a:prstGeom>
          <a:noFill/>
        </p:spPr>
        <p:txBody>
          <a:bodyPr wrap="square" lIns="0" rIns="0" tIns="0" bIns="0">
            <a:spAutoFit/>
          </a:bodyPr>
          <a:lstStyle/>
          <a:p>
            <a:pPr>
              <a:lnSpc>
                <a:spcPct val="108000"/>
              </a:lnSpc>
              <a:spcAft>
                <a:spcPts val="700"/>
              </a:spcAft>
              <a:defRPr sz="1620" b="0">
                <a:solidFill>
                  <a:srgbClr val="1E3F32"/>
                </a:solidFill>
                <a:latin typeface="Arial"/>
              </a:defRPr>
            </a:pPr>
            <a:r>
              <a:t>Quản lý vật liệu và giá</a:t>
            </a:r>
          </a:p>
        </p:txBody>
      </p:sp>
      <p:sp>
        <p:nvSpPr>
          <p:cNvPr id="37" name="Rectangle 36"/>
          <p:cNvSpPr/>
          <p:nvPr/>
        </p:nvSpPr>
        <p:spPr>
          <a:xfrm>
            <a:off x="8311896" y="4142232"/>
            <a:ext cx="59436" cy="59436"/>
          </a:xfrm>
          <a:prstGeom prst="rect">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85632" y="4050791"/>
            <a:ext cx="2852928" cy="393192"/>
          </a:xfrm>
          <a:prstGeom prst="rect">
            <a:avLst/>
          </a:prstGeom>
          <a:noFill/>
        </p:spPr>
        <p:txBody>
          <a:bodyPr wrap="square" lIns="0" rIns="0" tIns="0" bIns="0">
            <a:spAutoFit/>
          </a:bodyPr>
          <a:lstStyle/>
          <a:p>
            <a:pPr>
              <a:lnSpc>
                <a:spcPct val="108000"/>
              </a:lnSpc>
              <a:spcAft>
                <a:spcPts val="700"/>
              </a:spcAft>
              <a:defRPr sz="1620" b="0">
                <a:solidFill>
                  <a:srgbClr val="1E3F32"/>
                </a:solidFill>
                <a:latin typeface="Arial"/>
              </a:defRPr>
            </a:pPr>
            <a:r>
              <a:t>Điều phối, xử lý yêu cầu</a:t>
            </a:r>
          </a:p>
        </p:txBody>
      </p:sp>
      <p:sp>
        <p:nvSpPr>
          <p:cNvPr id="39" name="Rectangle 38"/>
          <p:cNvSpPr/>
          <p:nvPr/>
        </p:nvSpPr>
        <p:spPr>
          <a:xfrm>
            <a:off x="8311896" y="4636008"/>
            <a:ext cx="59436" cy="59436"/>
          </a:xfrm>
          <a:prstGeom prst="rect">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85632" y="4544568"/>
            <a:ext cx="2852928" cy="393192"/>
          </a:xfrm>
          <a:prstGeom prst="rect">
            <a:avLst/>
          </a:prstGeom>
          <a:noFill/>
        </p:spPr>
        <p:txBody>
          <a:bodyPr wrap="square" lIns="0" rIns="0" tIns="0" bIns="0">
            <a:spAutoFit/>
          </a:bodyPr>
          <a:lstStyle/>
          <a:p>
            <a:pPr>
              <a:lnSpc>
                <a:spcPct val="108000"/>
              </a:lnSpc>
              <a:spcAft>
                <a:spcPts val="700"/>
              </a:spcAft>
              <a:defRPr sz="1620" b="0">
                <a:solidFill>
                  <a:srgbClr val="1E3F32"/>
                </a:solidFill>
                <a:latin typeface="Arial"/>
              </a:defRPr>
            </a:pPr>
            <a:r>
              <a:t>Thống kê khoản chi</a:t>
            </a:r>
          </a:p>
        </p:txBody>
      </p:sp>
      <p:sp>
        <p:nvSpPr>
          <p:cNvPr id="41" name="Rounded Rectangle 40"/>
          <p:cNvSpPr/>
          <p:nvPr/>
        </p:nvSpPr>
        <p:spPr>
          <a:xfrm>
            <a:off x="640080" y="5614416"/>
            <a:ext cx="10917936" cy="493776"/>
          </a:xfrm>
          <a:prstGeom prst="roundRect">
            <a:avLst>
              <a:gd name="adj" fmla="val 10000"/>
            </a:avLst>
          </a:prstGeom>
          <a:solidFill>
            <a:srgbClr val="153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5751576"/>
            <a:ext cx="10469880" cy="274320"/>
          </a:xfrm>
          <a:prstGeom prst="rect">
            <a:avLst/>
          </a:prstGeom>
          <a:noFill/>
        </p:spPr>
        <p:txBody>
          <a:bodyPr wrap="square" lIns="0" rIns="0" tIns="0" bIns="0">
            <a:spAutoFit/>
          </a:bodyPr>
          <a:lstStyle/>
          <a:p>
            <a:pPr>
              <a:lnSpc>
                <a:spcPct val="108000"/>
              </a:lnSpc>
              <a:spcAft>
                <a:spcPts val="700"/>
              </a:spcAft>
              <a:defRPr sz="1800" b="1">
                <a:solidFill>
                  <a:srgbClr val="FFFFFF"/>
                </a:solidFill>
                <a:latin typeface="Arial"/>
              </a:defRPr>
            </a:pPr>
            <a:r>
              <a:t>Điểm nhấn TMĐT: khối lượng thực tế → báo giá → khách chấp thuận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66928" y="320040"/>
            <a:ext cx="10058400" cy="256032"/>
          </a:xfrm>
          <a:prstGeom prst="rect">
            <a:avLst/>
          </a:prstGeom>
          <a:noFill/>
        </p:spPr>
        <p:txBody>
          <a:bodyPr wrap="square" lIns="0" rIns="0" tIns="0" bIns="0">
            <a:spAutoFit/>
          </a:bodyPr>
          <a:lstStyle/>
          <a:p>
            <a:pPr>
              <a:lnSpc>
                <a:spcPct val="108000"/>
              </a:lnSpc>
              <a:spcAft>
                <a:spcPts val="700"/>
              </a:spcAft>
              <a:defRPr sz="1050" b="1">
                <a:solidFill>
                  <a:srgbClr val="2C6F4D"/>
                </a:solidFill>
                <a:latin typeface="Arial"/>
              </a:defRPr>
            </a:pPr>
            <a:r>
              <a:t>03 / KIẾN TRÚC &amp; LUỒNG GIAO DỊCH</a:t>
            </a:r>
          </a:p>
        </p:txBody>
      </p:sp>
      <p:sp>
        <p:nvSpPr>
          <p:cNvPr id="3" name="TextBox 2"/>
          <p:cNvSpPr txBox="1"/>
          <p:nvPr/>
        </p:nvSpPr>
        <p:spPr>
          <a:xfrm>
            <a:off x="566928" y="822960"/>
            <a:ext cx="11018520" cy="658368"/>
          </a:xfrm>
          <a:prstGeom prst="rect">
            <a:avLst/>
          </a:prstGeom>
          <a:noFill/>
        </p:spPr>
        <p:txBody>
          <a:bodyPr wrap="square" lIns="0" rIns="0" tIns="0" bIns="0">
            <a:spAutoFit/>
          </a:bodyPr>
          <a:lstStyle/>
          <a:p>
            <a:pPr>
              <a:lnSpc>
                <a:spcPct val="108000"/>
              </a:lnSpc>
              <a:spcAft>
                <a:spcPts val="700"/>
              </a:spcAft>
              <a:defRPr sz="3100" b="1">
                <a:solidFill>
                  <a:srgbClr val="1E3F32"/>
                </a:solidFill>
                <a:latin typeface="Arial"/>
              </a:defRPr>
            </a:pPr>
            <a:r>
              <a:t>Từ đặt lịch đến biên nhận.</a:t>
            </a:r>
          </a:p>
        </p:txBody>
      </p:sp>
      <p:sp>
        <p:nvSpPr>
          <p:cNvPr id="4" name="TextBox 3"/>
          <p:cNvSpPr txBox="1"/>
          <p:nvPr/>
        </p:nvSpPr>
        <p:spPr>
          <a:xfrm>
            <a:off x="594360" y="1536192"/>
            <a:ext cx="10881360" cy="365760"/>
          </a:xfrm>
          <a:prstGeom prst="rect">
            <a:avLst/>
          </a:prstGeom>
          <a:noFill/>
        </p:spPr>
        <p:txBody>
          <a:bodyPr wrap="square" lIns="0" rIns="0" tIns="0" bIns="0">
            <a:spAutoFit/>
          </a:bodyPr>
          <a:lstStyle/>
          <a:p>
            <a:pPr>
              <a:lnSpc>
                <a:spcPct val="108000"/>
              </a:lnSpc>
              <a:spcAft>
                <a:spcPts val="700"/>
              </a:spcAft>
              <a:defRPr sz="1550" b="0">
                <a:solidFill>
                  <a:srgbClr val="63756A"/>
                </a:solidFill>
                <a:latin typeface="Arial"/>
              </a:defRPr>
            </a:pPr>
            <a:r>
              <a:t>React/Vite ↔ Spring Boot ↔ SQL Server</a:t>
            </a:r>
          </a:p>
        </p:txBody>
      </p:sp>
      <p:sp>
        <p:nvSpPr>
          <p:cNvPr id="5" name="Rectangle 4"/>
          <p:cNvSpPr/>
          <p:nvPr/>
        </p:nvSpPr>
        <p:spPr>
          <a:xfrm>
            <a:off x="566928" y="6419088"/>
            <a:ext cx="11045952" cy="10972"/>
          </a:xfrm>
          <a:prstGeom prst="rect">
            <a:avLst/>
          </a:prstGeom>
          <a:solidFill>
            <a:srgbClr val="D8E2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37960"/>
            <a:ext cx="8961120" cy="182880"/>
          </a:xfrm>
          <a:prstGeom prst="rect">
            <a:avLst/>
          </a:prstGeom>
          <a:noFill/>
        </p:spPr>
        <p:txBody>
          <a:bodyPr wrap="square" lIns="0" rIns="0" tIns="0" bIns="0">
            <a:spAutoFit/>
          </a:bodyPr>
          <a:lstStyle/>
          <a:p>
            <a:pPr>
              <a:lnSpc>
                <a:spcPct val="108000"/>
              </a:lnSpc>
              <a:spcAft>
                <a:spcPts val="700"/>
              </a:spcAft>
              <a:defRPr sz="900" b="0">
                <a:solidFill>
                  <a:srgbClr val="63756A"/>
                </a:solidFill>
                <a:latin typeface="Arial"/>
              </a:defRPr>
            </a:pPr>
            <a:r>
              <a:t>VCoi  /  Đồ án Thương mại điện tử  /  C2B</a:t>
            </a:r>
          </a:p>
        </p:txBody>
      </p:sp>
      <p:sp>
        <p:nvSpPr>
          <p:cNvPr id="7" name="TextBox 6"/>
          <p:cNvSpPr txBox="1"/>
          <p:nvPr/>
        </p:nvSpPr>
        <p:spPr>
          <a:xfrm>
            <a:off x="10671048" y="6519672"/>
            <a:ext cx="914400" cy="228600"/>
          </a:xfrm>
          <a:prstGeom prst="rect">
            <a:avLst/>
          </a:prstGeom>
          <a:noFill/>
        </p:spPr>
        <p:txBody>
          <a:bodyPr wrap="square" lIns="0" rIns="0" tIns="0" bIns="0">
            <a:spAutoFit/>
          </a:bodyPr>
          <a:lstStyle/>
          <a:p>
            <a:pPr algn="r">
              <a:lnSpc>
                <a:spcPct val="108000"/>
              </a:lnSpc>
              <a:spcAft>
                <a:spcPts val="700"/>
              </a:spcAft>
              <a:defRPr sz="1000" b="1">
                <a:solidFill>
                  <a:srgbClr val="2C6F4D"/>
                </a:solidFill>
                <a:latin typeface="Arial"/>
              </a:defRPr>
            </a:pPr>
            <a:r>
              <a:t>03 / 05</a:t>
            </a:r>
          </a:p>
        </p:txBody>
      </p:sp>
      <p:sp>
        <p:nvSpPr>
          <p:cNvPr id="8" name="Rounded Rectangle 7"/>
          <p:cNvSpPr/>
          <p:nvPr/>
        </p:nvSpPr>
        <p:spPr>
          <a:xfrm>
            <a:off x="676656" y="2121408"/>
            <a:ext cx="3218688" cy="121615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286000"/>
            <a:ext cx="2852928" cy="210312"/>
          </a:xfrm>
          <a:prstGeom prst="rect">
            <a:avLst/>
          </a:prstGeom>
          <a:noFill/>
        </p:spPr>
        <p:txBody>
          <a:bodyPr wrap="square" lIns="0" rIns="0" tIns="0" bIns="0">
            <a:spAutoFit/>
          </a:bodyPr>
          <a:lstStyle/>
          <a:p>
            <a:pPr>
              <a:lnSpc>
                <a:spcPct val="108000"/>
              </a:lnSpc>
              <a:spcAft>
                <a:spcPts val="700"/>
              </a:spcAft>
              <a:defRPr sz="1050" b="1">
                <a:solidFill>
                  <a:srgbClr val="2C6F4D"/>
                </a:solidFill>
                <a:latin typeface="Arial"/>
              </a:defRPr>
            </a:pPr>
            <a:r>
              <a:t>GIAO DIỆN</a:t>
            </a:r>
          </a:p>
        </p:txBody>
      </p:sp>
      <p:sp>
        <p:nvSpPr>
          <p:cNvPr id="10" name="TextBox 9"/>
          <p:cNvSpPr txBox="1"/>
          <p:nvPr/>
        </p:nvSpPr>
        <p:spPr>
          <a:xfrm>
            <a:off x="859536" y="2624328"/>
            <a:ext cx="2852928" cy="320040"/>
          </a:xfrm>
          <a:prstGeom prst="rect">
            <a:avLst/>
          </a:prstGeom>
          <a:noFill/>
        </p:spPr>
        <p:txBody>
          <a:bodyPr wrap="square" lIns="0" rIns="0" tIns="0" bIns="0">
            <a:spAutoFit/>
          </a:bodyPr>
          <a:lstStyle/>
          <a:p>
            <a:pPr>
              <a:lnSpc>
                <a:spcPct val="108000"/>
              </a:lnSpc>
              <a:spcAft>
                <a:spcPts val="700"/>
              </a:spcAft>
              <a:defRPr sz="2100" b="1">
                <a:solidFill>
                  <a:srgbClr val="1E3F32"/>
                </a:solidFill>
                <a:latin typeface="Arial"/>
              </a:defRPr>
            </a:pPr>
            <a:r>
              <a:t>React + Vite</a:t>
            </a:r>
          </a:p>
        </p:txBody>
      </p:sp>
      <p:sp>
        <p:nvSpPr>
          <p:cNvPr id="11" name="TextBox 10"/>
          <p:cNvSpPr txBox="1"/>
          <p:nvPr/>
        </p:nvSpPr>
        <p:spPr>
          <a:xfrm>
            <a:off x="859536" y="3054096"/>
            <a:ext cx="2852928" cy="201168"/>
          </a:xfrm>
          <a:prstGeom prst="rect">
            <a:avLst/>
          </a:prstGeom>
          <a:noFill/>
        </p:spPr>
        <p:txBody>
          <a:bodyPr wrap="square" lIns="0" rIns="0" tIns="0" bIns="0">
            <a:spAutoFit/>
          </a:bodyPr>
          <a:lstStyle/>
          <a:p>
            <a:pPr>
              <a:lnSpc>
                <a:spcPct val="108000"/>
              </a:lnSpc>
              <a:spcAft>
                <a:spcPts val="700"/>
              </a:spcAft>
              <a:defRPr sz="1250" b="0">
                <a:solidFill>
                  <a:srgbClr val="63756A"/>
                </a:solidFill>
                <a:latin typeface="Arial"/>
              </a:defRPr>
            </a:pPr>
            <a:r>
              <a:t>Ba khu vực theo vai trò</a:t>
            </a:r>
          </a:p>
        </p:txBody>
      </p:sp>
      <p:sp>
        <p:nvSpPr>
          <p:cNvPr id="12" name="Rounded Rectangle 11"/>
          <p:cNvSpPr/>
          <p:nvPr/>
        </p:nvSpPr>
        <p:spPr>
          <a:xfrm>
            <a:off x="4489704" y="2121408"/>
            <a:ext cx="3218688" cy="121615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72584" y="2286000"/>
            <a:ext cx="2852928" cy="210312"/>
          </a:xfrm>
          <a:prstGeom prst="rect">
            <a:avLst/>
          </a:prstGeom>
          <a:noFill/>
        </p:spPr>
        <p:txBody>
          <a:bodyPr wrap="square" lIns="0" rIns="0" tIns="0" bIns="0">
            <a:spAutoFit/>
          </a:bodyPr>
          <a:lstStyle/>
          <a:p>
            <a:pPr>
              <a:lnSpc>
                <a:spcPct val="108000"/>
              </a:lnSpc>
              <a:spcAft>
                <a:spcPts val="700"/>
              </a:spcAft>
              <a:defRPr sz="1050" b="1">
                <a:solidFill>
                  <a:srgbClr val="2C6F4D"/>
                </a:solidFill>
                <a:latin typeface="Arial"/>
              </a:defRPr>
            </a:pPr>
            <a:r>
              <a:t>DỊCH VỤ</a:t>
            </a:r>
          </a:p>
        </p:txBody>
      </p:sp>
      <p:sp>
        <p:nvSpPr>
          <p:cNvPr id="14" name="TextBox 13"/>
          <p:cNvSpPr txBox="1"/>
          <p:nvPr/>
        </p:nvSpPr>
        <p:spPr>
          <a:xfrm>
            <a:off x="4672584" y="2624328"/>
            <a:ext cx="2852928" cy="320040"/>
          </a:xfrm>
          <a:prstGeom prst="rect">
            <a:avLst/>
          </a:prstGeom>
          <a:noFill/>
        </p:spPr>
        <p:txBody>
          <a:bodyPr wrap="square" lIns="0" rIns="0" tIns="0" bIns="0">
            <a:spAutoFit/>
          </a:bodyPr>
          <a:lstStyle/>
          <a:p>
            <a:pPr>
              <a:lnSpc>
                <a:spcPct val="108000"/>
              </a:lnSpc>
              <a:spcAft>
                <a:spcPts val="700"/>
              </a:spcAft>
              <a:defRPr sz="2100" b="1">
                <a:solidFill>
                  <a:srgbClr val="1E3F32"/>
                </a:solidFill>
                <a:latin typeface="Arial"/>
              </a:defRPr>
            </a:pPr>
            <a:r>
              <a:t>Spring Boot</a:t>
            </a:r>
          </a:p>
        </p:txBody>
      </p:sp>
      <p:sp>
        <p:nvSpPr>
          <p:cNvPr id="15" name="TextBox 14"/>
          <p:cNvSpPr txBox="1"/>
          <p:nvPr/>
        </p:nvSpPr>
        <p:spPr>
          <a:xfrm>
            <a:off x="4672584" y="3054096"/>
            <a:ext cx="2852928" cy="201168"/>
          </a:xfrm>
          <a:prstGeom prst="rect">
            <a:avLst/>
          </a:prstGeom>
          <a:noFill/>
        </p:spPr>
        <p:txBody>
          <a:bodyPr wrap="square" lIns="0" rIns="0" tIns="0" bIns="0">
            <a:spAutoFit/>
          </a:bodyPr>
          <a:lstStyle/>
          <a:p>
            <a:pPr>
              <a:lnSpc>
                <a:spcPct val="108000"/>
              </a:lnSpc>
              <a:spcAft>
                <a:spcPts val="700"/>
              </a:spcAft>
              <a:defRPr sz="1250" b="0">
                <a:solidFill>
                  <a:srgbClr val="63756A"/>
                </a:solidFill>
                <a:latin typeface="Arial"/>
              </a:defRPr>
            </a:pPr>
            <a:r>
              <a:t>REST API · Phiên · CSRF</a:t>
            </a:r>
          </a:p>
        </p:txBody>
      </p:sp>
      <p:sp>
        <p:nvSpPr>
          <p:cNvPr id="16" name="Rounded Rectangle 15"/>
          <p:cNvSpPr/>
          <p:nvPr/>
        </p:nvSpPr>
        <p:spPr>
          <a:xfrm>
            <a:off x="8302752" y="2121408"/>
            <a:ext cx="3218688" cy="121615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85632" y="2286000"/>
            <a:ext cx="2852928" cy="210312"/>
          </a:xfrm>
          <a:prstGeom prst="rect">
            <a:avLst/>
          </a:prstGeom>
          <a:noFill/>
        </p:spPr>
        <p:txBody>
          <a:bodyPr wrap="square" lIns="0" rIns="0" tIns="0" bIns="0">
            <a:spAutoFit/>
          </a:bodyPr>
          <a:lstStyle/>
          <a:p>
            <a:pPr>
              <a:lnSpc>
                <a:spcPct val="108000"/>
              </a:lnSpc>
              <a:spcAft>
                <a:spcPts val="700"/>
              </a:spcAft>
              <a:defRPr sz="1050" b="1">
                <a:solidFill>
                  <a:srgbClr val="2C6F4D"/>
                </a:solidFill>
                <a:latin typeface="Arial"/>
              </a:defRPr>
            </a:pPr>
            <a:r>
              <a:t>DỮ LIỆU</a:t>
            </a:r>
          </a:p>
        </p:txBody>
      </p:sp>
      <p:sp>
        <p:nvSpPr>
          <p:cNvPr id="18" name="TextBox 17"/>
          <p:cNvSpPr txBox="1"/>
          <p:nvPr/>
        </p:nvSpPr>
        <p:spPr>
          <a:xfrm>
            <a:off x="8485632" y="2624328"/>
            <a:ext cx="2852928" cy="320040"/>
          </a:xfrm>
          <a:prstGeom prst="rect">
            <a:avLst/>
          </a:prstGeom>
          <a:noFill/>
        </p:spPr>
        <p:txBody>
          <a:bodyPr wrap="square" lIns="0" rIns="0" tIns="0" bIns="0">
            <a:spAutoFit/>
          </a:bodyPr>
          <a:lstStyle/>
          <a:p>
            <a:pPr>
              <a:lnSpc>
                <a:spcPct val="108000"/>
              </a:lnSpc>
              <a:spcAft>
                <a:spcPts val="700"/>
              </a:spcAft>
              <a:defRPr sz="2100" b="1">
                <a:solidFill>
                  <a:srgbClr val="1E3F32"/>
                </a:solidFill>
                <a:latin typeface="Arial"/>
              </a:defRPr>
            </a:pPr>
            <a:r>
              <a:t>SQL Server</a:t>
            </a:r>
          </a:p>
        </p:txBody>
      </p:sp>
      <p:sp>
        <p:nvSpPr>
          <p:cNvPr id="19" name="TextBox 18"/>
          <p:cNvSpPr txBox="1"/>
          <p:nvPr/>
        </p:nvSpPr>
        <p:spPr>
          <a:xfrm>
            <a:off x="8485632" y="3054096"/>
            <a:ext cx="2852928" cy="201168"/>
          </a:xfrm>
          <a:prstGeom prst="rect">
            <a:avLst/>
          </a:prstGeom>
          <a:noFill/>
        </p:spPr>
        <p:txBody>
          <a:bodyPr wrap="square" lIns="0" rIns="0" tIns="0" bIns="0">
            <a:spAutoFit/>
          </a:bodyPr>
          <a:lstStyle/>
          <a:p>
            <a:pPr>
              <a:lnSpc>
                <a:spcPct val="108000"/>
              </a:lnSpc>
              <a:spcAft>
                <a:spcPts val="700"/>
              </a:spcAft>
              <a:defRPr sz="1250" b="0">
                <a:solidFill>
                  <a:srgbClr val="63756A"/>
                </a:solidFill>
                <a:latin typeface="Arial"/>
              </a:defRPr>
            </a:pPr>
            <a:r>
              <a:t>Đơn, báo giá, khoản chi</a:t>
            </a:r>
          </a:p>
        </p:txBody>
      </p:sp>
      <p:sp>
        <p:nvSpPr>
          <p:cNvPr id="20" name="TextBox 19"/>
          <p:cNvSpPr txBox="1"/>
          <p:nvPr/>
        </p:nvSpPr>
        <p:spPr>
          <a:xfrm>
            <a:off x="3968496" y="2542032"/>
            <a:ext cx="457200" cy="365760"/>
          </a:xfrm>
          <a:prstGeom prst="rect">
            <a:avLst/>
          </a:prstGeom>
          <a:noFill/>
        </p:spPr>
        <p:txBody>
          <a:bodyPr wrap="square" lIns="0" rIns="0" tIns="0" bIns="0">
            <a:spAutoFit/>
          </a:bodyPr>
          <a:lstStyle/>
          <a:p>
            <a:pPr algn="ctr">
              <a:lnSpc>
                <a:spcPct val="108000"/>
              </a:lnSpc>
              <a:spcAft>
                <a:spcPts val="700"/>
              </a:spcAft>
              <a:defRPr sz="2600" b="1">
                <a:solidFill>
                  <a:srgbClr val="2C6F4D"/>
                </a:solidFill>
                <a:latin typeface="Arial"/>
              </a:defRPr>
            </a:pPr>
            <a:r>
              <a:t>↔</a:t>
            </a:r>
          </a:p>
        </p:txBody>
      </p:sp>
      <p:sp>
        <p:nvSpPr>
          <p:cNvPr id="21" name="TextBox 20"/>
          <p:cNvSpPr txBox="1"/>
          <p:nvPr/>
        </p:nvSpPr>
        <p:spPr>
          <a:xfrm>
            <a:off x="7781544" y="2542032"/>
            <a:ext cx="457200" cy="365760"/>
          </a:xfrm>
          <a:prstGeom prst="rect">
            <a:avLst/>
          </a:prstGeom>
          <a:noFill/>
        </p:spPr>
        <p:txBody>
          <a:bodyPr wrap="square" lIns="0" rIns="0" tIns="0" bIns="0">
            <a:spAutoFit/>
          </a:bodyPr>
          <a:lstStyle/>
          <a:p>
            <a:pPr algn="ctr">
              <a:lnSpc>
                <a:spcPct val="108000"/>
              </a:lnSpc>
              <a:spcAft>
                <a:spcPts val="700"/>
              </a:spcAft>
              <a:defRPr sz="2600" b="1">
                <a:solidFill>
                  <a:srgbClr val="2C6F4D"/>
                </a:solidFill>
                <a:latin typeface="Arial"/>
              </a:defRPr>
            </a:pPr>
            <a:r>
              <a:t>↔</a:t>
            </a:r>
          </a:p>
        </p:txBody>
      </p:sp>
      <p:sp>
        <p:nvSpPr>
          <p:cNvPr id="22" name="TextBox 21"/>
          <p:cNvSpPr txBox="1"/>
          <p:nvPr/>
        </p:nvSpPr>
        <p:spPr>
          <a:xfrm>
            <a:off x="704088" y="3703320"/>
            <a:ext cx="10515600" cy="246888"/>
          </a:xfrm>
          <a:prstGeom prst="rect">
            <a:avLst/>
          </a:prstGeom>
          <a:noFill/>
        </p:spPr>
        <p:txBody>
          <a:bodyPr wrap="square" lIns="0" rIns="0" tIns="0" bIns="0">
            <a:spAutoFit/>
          </a:bodyPr>
          <a:lstStyle/>
          <a:p>
            <a:pPr>
              <a:lnSpc>
                <a:spcPct val="108000"/>
              </a:lnSpc>
              <a:spcAft>
                <a:spcPts val="700"/>
              </a:spcAft>
              <a:defRPr sz="1100" b="1">
                <a:solidFill>
                  <a:srgbClr val="2C6F4D"/>
                </a:solidFill>
                <a:latin typeface="Arial"/>
              </a:defRPr>
            </a:pPr>
            <a:r>
              <a:t>LUỒNG CỐT LÕI</a:t>
            </a:r>
          </a:p>
        </p:txBody>
      </p:sp>
      <p:sp>
        <p:nvSpPr>
          <p:cNvPr id="23" name="Rounded Rectangle 22"/>
          <p:cNvSpPr/>
          <p:nvPr/>
        </p:nvSpPr>
        <p:spPr>
          <a:xfrm>
            <a:off x="694944" y="4224528"/>
            <a:ext cx="1956816" cy="1115568"/>
          </a:xfrm>
          <a:prstGeom prst="roundRect">
            <a:avLst>
              <a:gd name="adj" fmla="val 10000"/>
            </a:avLst>
          </a:prstGeom>
          <a:solidFill>
            <a:srgbClr val="E8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4389120"/>
            <a:ext cx="1664208" cy="365760"/>
          </a:xfrm>
          <a:prstGeom prst="rect">
            <a:avLst/>
          </a:prstGeom>
          <a:noFill/>
        </p:spPr>
        <p:txBody>
          <a:bodyPr wrap="square" lIns="0" rIns="0" tIns="0" bIns="0">
            <a:spAutoFit/>
          </a:bodyPr>
          <a:lstStyle/>
          <a:p>
            <a:pPr algn="ctr">
              <a:lnSpc>
                <a:spcPct val="108000"/>
              </a:lnSpc>
              <a:spcAft>
                <a:spcPts val="700"/>
              </a:spcAft>
              <a:defRPr sz="1700" b="1">
                <a:solidFill>
                  <a:srgbClr val="1E3F32"/>
                </a:solidFill>
                <a:latin typeface="Arial"/>
              </a:defRPr>
            </a:pPr>
            <a:r>
              <a:t>Đặt lịch</a:t>
            </a:r>
          </a:p>
        </p:txBody>
      </p:sp>
      <p:sp>
        <p:nvSpPr>
          <p:cNvPr id="25" name="TextBox 24"/>
          <p:cNvSpPr txBox="1"/>
          <p:nvPr/>
        </p:nvSpPr>
        <p:spPr>
          <a:xfrm>
            <a:off x="841248" y="4882896"/>
            <a:ext cx="1664208" cy="246888"/>
          </a:xfrm>
          <a:prstGeom prst="rect">
            <a:avLst/>
          </a:prstGeom>
          <a:noFill/>
        </p:spPr>
        <p:txBody>
          <a:bodyPr wrap="square" lIns="0" rIns="0" tIns="0" bIns="0">
            <a:spAutoFit/>
          </a:bodyPr>
          <a:lstStyle/>
          <a:p>
            <a:pPr algn="ctr">
              <a:lnSpc>
                <a:spcPct val="108000"/>
              </a:lnSpc>
              <a:spcAft>
                <a:spcPts val="700"/>
              </a:spcAft>
              <a:defRPr sz="1200" b="0">
                <a:solidFill>
                  <a:srgbClr val="63756A"/>
                </a:solidFill>
                <a:latin typeface="Arial"/>
              </a:defRPr>
            </a:pPr>
            <a:r>
              <a:t>Khách hàng</a:t>
            </a:r>
          </a:p>
        </p:txBody>
      </p:sp>
      <p:sp>
        <p:nvSpPr>
          <p:cNvPr id="26" name="TextBox 25"/>
          <p:cNvSpPr txBox="1"/>
          <p:nvPr/>
        </p:nvSpPr>
        <p:spPr>
          <a:xfrm>
            <a:off x="2688336" y="4544568"/>
            <a:ext cx="210312" cy="274320"/>
          </a:xfrm>
          <a:prstGeom prst="rect">
            <a:avLst/>
          </a:prstGeom>
          <a:noFill/>
        </p:spPr>
        <p:txBody>
          <a:bodyPr wrap="square" lIns="0" rIns="0" tIns="0" bIns="0">
            <a:spAutoFit/>
          </a:bodyPr>
          <a:lstStyle/>
          <a:p>
            <a:pPr algn="ctr">
              <a:lnSpc>
                <a:spcPct val="108000"/>
              </a:lnSpc>
              <a:spcAft>
                <a:spcPts val="700"/>
              </a:spcAft>
              <a:defRPr sz="1800" b="1">
                <a:solidFill>
                  <a:srgbClr val="2C6F4D"/>
                </a:solidFill>
                <a:latin typeface="Arial"/>
              </a:defRPr>
            </a:pPr>
            <a:r>
              <a:t>→</a:t>
            </a:r>
          </a:p>
        </p:txBody>
      </p:sp>
      <p:sp>
        <p:nvSpPr>
          <p:cNvPr id="27" name="Rounded Rectangle 26"/>
          <p:cNvSpPr/>
          <p:nvPr/>
        </p:nvSpPr>
        <p:spPr>
          <a:xfrm>
            <a:off x="2916936" y="4224528"/>
            <a:ext cx="1956816" cy="1115568"/>
          </a:xfrm>
          <a:prstGeom prst="roundRect">
            <a:avLst>
              <a:gd name="adj" fmla="val 10000"/>
            </a:avLst>
          </a:prstGeom>
          <a:solidFill>
            <a:srgbClr val="E8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63240" y="4389120"/>
            <a:ext cx="1664208" cy="365760"/>
          </a:xfrm>
          <a:prstGeom prst="rect">
            <a:avLst/>
          </a:prstGeom>
          <a:noFill/>
        </p:spPr>
        <p:txBody>
          <a:bodyPr wrap="square" lIns="0" rIns="0" tIns="0" bIns="0">
            <a:spAutoFit/>
          </a:bodyPr>
          <a:lstStyle/>
          <a:p>
            <a:pPr algn="ctr">
              <a:lnSpc>
                <a:spcPct val="108000"/>
              </a:lnSpc>
              <a:spcAft>
                <a:spcPts val="700"/>
              </a:spcAft>
              <a:defRPr sz="1700" b="1">
                <a:solidFill>
                  <a:srgbClr val="1E3F32"/>
                </a:solidFill>
                <a:latin typeface="Arial"/>
              </a:defRPr>
            </a:pPr>
            <a:r>
              <a:t>Phân công</a:t>
            </a:r>
          </a:p>
        </p:txBody>
      </p:sp>
      <p:sp>
        <p:nvSpPr>
          <p:cNvPr id="29" name="TextBox 28"/>
          <p:cNvSpPr txBox="1"/>
          <p:nvPr/>
        </p:nvSpPr>
        <p:spPr>
          <a:xfrm>
            <a:off x="3063240" y="4882896"/>
            <a:ext cx="1664208" cy="246888"/>
          </a:xfrm>
          <a:prstGeom prst="rect">
            <a:avLst/>
          </a:prstGeom>
          <a:noFill/>
        </p:spPr>
        <p:txBody>
          <a:bodyPr wrap="square" lIns="0" rIns="0" tIns="0" bIns="0">
            <a:spAutoFit/>
          </a:bodyPr>
          <a:lstStyle/>
          <a:p>
            <a:pPr algn="ctr">
              <a:lnSpc>
                <a:spcPct val="108000"/>
              </a:lnSpc>
              <a:spcAft>
                <a:spcPts val="700"/>
              </a:spcAft>
              <a:defRPr sz="1200" b="0">
                <a:solidFill>
                  <a:srgbClr val="63756A"/>
                </a:solidFill>
                <a:latin typeface="Arial"/>
              </a:defRPr>
            </a:pPr>
            <a:r>
              <a:t>Quản trị</a:t>
            </a:r>
          </a:p>
        </p:txBody>
      </p:sp>
      <p:sp>
        <p:nvSpPr>
          <p:cNvPr id="30" name="TextBox 29"/>
          <p:cNvSpPr txBox="1"/>
          <p:nvPr/>
        </p:nvSpPr>
        <p:spPr>
          <a:xfrm>
            <a:off x="4910328" y="4544568"/>
            <a:ext cx="210312" cy="274320"/>
          </a:xfrm>
          <a:prstGeom prst="rect">
            <a:avLst/>
          </a:prstGeom>
          <a:noFill/>
        </p:spPr>
        <p:txBody>
          <a:bodyPr wrap="square" lIns="0" rIns="0" tIns="0" bIns="0">
            <a:spAutoFit/>
          </a:bodyPr>
          <a:lstStyle/>
          <a:p>
            <a:pPr algn="ctr">
              <a:lnSpc>
                <a:spcPct val="108000"/>
              </a:lnSpc>
              <a:spcAft>
                <a:spcPts val="700"/>
              </a:spcAft>
              <a:defRPr sz="1800" b="1">
                <a:solidFill>
                  <a:srgbClr val="2C6F4D"/>
                </a:solidFill>
                <a:latin typeface="Arial"/>
              </a:defRPr>
            </a:pPr>
            <a:r>
              <a:t>→</a:t>
            </a:r>
          </a:p>
        </p:txBody>
      </p:sp>
      <p:sp>
        <p:nvSpPr>
          <p:cNvPr id="31" name="Rounded Rectangle 30"/>
          <p:cNvSpPr/>
          <p:nvPr/>
        </p:nvSpPr>
        <p:spPr>
          <a:xfrm>
            <a:off x="5138928" y="4224528"/>
            <a:ext cx="1956816" cy="1115568"/>
          </a:xfrm>
          <a:prstGeom prst="roundRect">
            <a:avLst>
              <a:gd name="adj" fmla="val 10000"/>
            </a:avLst>
          </a:prstGeom>
          <a:solidFill>
            <a:srgbClr val="E8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85232" y="4389120"/>
            <a:ext cx="1664208" cy="365760"/>
          </a:xfrm>
          <a:prstGeom prst="rect">
            <a:avLst/>
          </a:prstGeom>
          <a:noFill/>
        </p:spPr>
        <p:txBody>
          <a:bodyPr wrap="square" lIns="0" rIns="0" tIns="0" bIns="0">
            <a:spAutoFit/>
          </a:bodyPr>
          <a:lstStyle/>
          <a:p>
            <a:pPr algn="ctr">
              <a:lnSpc>
                <a:spcPct val="108000"/>
              </a:lnSpc>
              <a:spcAft>
                <a:spcPts val="700"/>
              </a:spcAft>
              <a:defRPr sz="1700" b="1">
                <a:solidFill>
                  <a:srgbClr val="1E3F32"/>
                </a:solidFill>
                <a:latin typeface="Arial"/>
              </a:defRPr>
            </a:pPr>
            <a:r>
              <a:t>Cân &amp; báo giá</a:t>
            </a:r>
          </a:p>
        </p:txBody>
      </p:sp>
      <p:sp>
        <p:nvSpPr>
          <p:cNvPr id="33" name="TextBox 32"/>
          <p:cNvSpPr txBox="1"/>
          <p:nvPr/>
        </p:nvSpPr>
        <p:spPr>
          <a:xfrm>
            <a:off x="5285232" y="4882896"/>
            <a:ext cx="1664208" cy="246888"/>
          </a:xfrm>
          <a:prstGeom prst="rect">
            <a:avLst/>
          </a:prstGeom>
          <a:noFill/>
        </p:spPr>
        <p:txBody>
          <a:bodyPr wrap="square" lIns="0" rIns="0" tIns="0" bIns="0">
            <a:spAutoFit/>
          </a:bodyPr>
          <a:lstStyle/>
          <a:p>
            <a:pPr algn="ctr">
              <a:lnSpc>
                <a:spcPct val="108000"/>
              </a:lnSpc>
              <a:spcAft>
                <a:spcPts val="700"/>
              </a:spcAft>
              <a:defRPr sz="1200" b="0">
                <a:solidFill>
                  <a:srgbClr val="63756A"/>
                </a:solidFill>
                <a:latin typeface="Arial"/>
              </a:defRPr>
            </a:pPr>
            <a:r>
              <a:t>Nhân viên</a:t>
            </a:r>
          </a:p>
        </p:txBody>
      </p:sp>
      <p:sp>
        <p:nvSpPr>
          <p:cNvPr id="34" name="TextBox 33"/>
          <p:cNvSpPr txBox="1"/>
          <p:nvPr/>
        </p:nvSpPr>
        <p:spPr>
          <a:xfrm>
            <a:off x="7132320" y="4544568"/>
            <a:ext cx="210312" cy="274320"/>
          </a:xfrm>
          <a:prstGeom prst="rect">
            <a:avLst/>
          </a:prstGeom>
          <a:noFill/>
        </p:spPr>
        <p:txBody>
          <a:bodyPr wrap="square" lIns="0" rIns="0" tIns="0" bIns="0">
            <a:spAutoFit/>
          </a:bodyPr>
          <a:lstStyle/>
          <a:p>
            <a:pPr algn="ctr">
              <a:lnSpc>
                <a:spcPct val="108000"/>
              </a:lnSpc>
              <a:spcAft>
                <a:spcPts val="700"/>
              </a:spcAft>
              <a:defRPr sz="1800" b="1">
                <a:solidFill>
                  <a:srgbClr val="2C6F4D"/>
                </a:solidFill>
                <a:latin typeface="Arial"/>
              </a:defRPr>
            </a:pPr>
            <a:r>
              <a:t>→</a:t>
            </a:r>
          </a:p>
        </p:txBody>
      </p:sp>
      <p:sp>
        <p:nvSpPr>
          <p:cNvPr id="35" name="Rounded Rectangle 34"/>
          <p:cNvSpPr/>
          <p:nvPr/>
        </p:nvSpPr>
        <p:spPr>
          <a:xfrm>
            <a:off x="7360920" y="4224528"/>
            <a:ext cx="1956816" cy="1115568"/>
          </a:xfrm>
          <a:prstGeom prst="roundRect">
            <a:avLst>
              <a:gd name="adj" fmla="val 10000"/>
            </a:avLst>
          </a:prstGeom>
          <a:solidFill>
            <a:srgbClr val="E8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07224" y="4389120"/>
            <a:ext cx="1664208" cy="365760"/>
          </a:xfrm>
          <a:prstGeom prst="rect">
            <a:avLst/>
          </a:prstGeom>
          <a:noFill/>
        </p:spPr>
        <p:txBody>
          <a:bodyPr wrap="square" lIns="0" rIns="0" tIns="0" bIns="0">
            <a:spAutoFit/>
          </a:bodyPr>
          <a:lstStyle/>
          <a:p>
            <a:pPr algn="ctr">
              <a:lnSpc>
                <a:spcPct val="108000"/>
              </a:lnSpc>
              <a:spcAft>
                <a:spcPts val="700"/>
              </a:spcAft>
              <a:defRPr sz="1700" b="1">
                <a:solidFill>
                  <a:srgbClr val="1E3F32"/>
                </a:solidFill>
                <a:latin typeface="Arial"/>
              </a:defRPr>
            </a:pPr>
            <a:r>
              <a:t>Duyệt giá</a:t>
            </a:r>
          </a:p>
        </p:txBody>
      </p:sp>
      <p:sp>
        <p:nvSpPr>
          <p:cNvPr id="37" name="TextBox 36"/>
          <p:cNvSpPr txBox="1"/>
          <p:nvPr/>
        </p:nvSpPr>
        <p:spPr>
          <a:xfrm>
            <a:off x="7507224" y="4882896"/>
            <a:ext cx="1664208" cy="246888"/>
          </a:xfrm>
          <a:prstGeom prst="rect">
            <a:avLst/>
          </a:prstGeom>
          <a:noFill/>
        </p:spPr>
        <p:txBody>
          <a:bodyPr wrap="square" lIns="0" rIns="0" tIns="0" bIns="0">
            <a:spAutoFit/>
          </a:bodyPr>
          <a:lstStyle/>
          <a:p>
            <a:pPr algn="ctr">
              <a:lnSpc>
                <a:spcPct val="108000"/>
              </a:lnSpc>
              <a:spcAft>
                <a:spcPts val="700"/>
              </a:spcAft>
              <a:defRPr sz="1200" b="0">
                <a:solidFill>
                  <a:srgbClr val="63756A"/>
                </a:solidFill>
                <a:latin typeface="Arial"/>
              </a:defRPr>
            </a:pPr>
            <a:r>
              <a:t>Khách hàng</a:t>
            </a:r>
          </a:p>
        </p:txBody>
      </p:sp>
      <p:sp>
        <p:nvSpPr>
          <p:cNvPr id="38" name="TextBox 37"/>
          <p:cNvSpPr txBox="1"/>
          <p:nvPr/>
        </p:nvSpPr>
        <p:spPr>
          <a:xfrm>
            <a:off x="9354312" y="4544568"/>
            <a:ext cx="210312" cy="274320"/>
          </a:xfrm>
          <a:prstGeom prst="rect">
            <a:avLst/>
          </a:prstGeom>
          <a:noFill/>
        </p:spPr>
        <p:txBody>
          <a:bodyPr wrap="square" lIns="0" rIns="0" tIns="0" bIns="0">
            <a:spAutoFit/>
          </a:bodyPr>
          <a:lstStyle/>
          <a:p>
            <a:pPr algn="ctr">
              <a:lnSpc>
                <a:spcPct val="108000"/>
              </a:lnSpc>
              <a:spcAft>
                <a:spcPts val="700"/>
              </a:spcAft>
              <a:defRPr sz="1800" b="1">
                <a:solidFill>
                  <a:srgbClr val="2C6F4D"/>
                </a:solidFill>
                <a:latin typeface="Arial"/>
              </a:defRPr>
            </a:pPr>
            <a:r>
              <a:t>→</a:t>
            </a:r>
          </a:p>
        </p:txBody>
      </p:sp>
      <p:sp>
        <p:nvSpPr>
          <p:cNvPr id="39" name="Rounded Rectangle 38"/>
          <p:cNvSpPr/>
          <p:nvPr/>
        </p:nvSpPr>
        <p:spPr>
          <a:xfrm>
            <a:off x="9582912" y="4224528"/>
            <a:ext cx="1956816" cy="1115568"/>
          </a:xfrm>
          <a:prstGeom prst="roundRect">
            <a:avLst>
              <a:gd name="adj" fmla="val 10000"/>
            </a:avLst>
          </a:prstGeom>
          <a:solidFill>
            <a:srgbClr val="153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29216" y="4389120"/>
            <a:ext cx="1664208" cy="365760"/>
          </a:xfrm>
          <a:prstGeom prst="rect">
            <a:avLst/>
          </a:prstGeom>
          <a:noFill/>
        </p:spPr>
        <p:txBody>
          <a:bodyPr wrap="square" lIns="0" rIns="0" tIns="0" bIns="0">
            <a:spAutoFit/>
          </a:bodyPr>
          <a:lstStyle/>
          <a:p>
            <a:pPr algn="ctr">
              <a:lnSpc>
                <a:spcPct val="108000"/>
              </a:lnSpc>
              <a:spcAft>
                <a:spcPts val="700"/>
              </a:spcAft>
              <a:defRPr sz="1700" b="1">
                <a:solidFill>
                  <a:srgbClr val="FFFFFF"/>
                </a:solidFill>
                <a:latin typeface="Arial"/>
              </a:defRPr>
            </a:pPr>
            <a:r>
              <a:t>Chi trả</a:t>
            </a:r>
          </a:p>
        </p:txBody>
      </p:sp>
      <p:sp>
        <p:nvSpPr>
          <p:cNvPr id="41" name="TextBox 40"/>
          <p:cNvSpPr txBox="1"/>
          <p:nvPr/>
        </p:nvSpPr>
        <p:spPr>
          <a:xfrm>
            <a:off x="9729216" y="4882896"/>
            <a:ext cx="1664208" cy="246888"/>
          </a:xfrm>
          <a:prstGeom prst="rect">
            <a:avLst/>
          </a:prstGeom>
          <a:noFill/>
        </p:spPr>
        <p:txBody>
          <a:bodyPr wrap="square" lIns="0" rIns="0" tIns="0" bIns="0">
            <a:spAutoFit/>
          </a:bodyPr>
          <a:lstStyle/>
          <a:p>
            <a:pPr algn="ctr">
              <a:lnSpc>
                <a:spcPct val="108000"/>
              </a:lnSpc>
              <a:spcAft>
                <a:spcPts val="700"/>
              </a:spcAft>
              <a:defRPr sz="1050" b="0">
                <a:solidFill>
                  <a:srgbClr val="D5EE92"/>
                </a:solidFill>
                <a:latin typeface="Arial"/>
              </a:defRPr>
            </a:pPr>
            <a:r>
              <a:t>Nhân viên · mô phỏng</a:t>
            </a:r>
          </a:p>
        </p:txBody>
      </p:sp>
      <p:sp>
        <p:nvSpPr>
          <p:cNvPr id="42" name="TextBox 41"/>
          <p:cNvSpPr txBox="1"/>
          <p:nvPr/>
        </p:nvSpPr>
        <p:spPr>
          <a:xfrm>
            <a:off x="740664" y="5687568"/>
            <a:ext cx="10881360" cy="365760"/>
          </a:xfrm>
          <a:prstGeom prst="rect">
            <a:avLst/>
          </a:prstGeom>
          <a:noFill/>
        </p:spPr>
        <p:txBody>
          <a:bodyPr wrap="square" lIns="0" rIns="0" tIns="0" bIns="0">
            <a:spAutoFit/>
          </a:bodyPr>
          <a:lstStyle/>
          <a:p>
            <a:pPr>
              <a:lnSpc>
                <a:spcPct val="108000"/>
              </a:lnSpc>
              <a:spcAft>
                <a:spcPts val="700"/>
              </a:spcAft>
              <a:defRPr sz="1900" b="1">
                <a:solidFill>
                  <a:srgbClr val="2C6F4D"/>
                </a:solidFill>
                <a:latin typeface="Arial"/>
              </a:defRPr>
            </a:pPr>
            <a:r>
              <a:t>Chi trả theo báo giá đã duyệt • Lưu lịch sử và biên nhận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66928" y="320040"/>
            <a:ext cx="10058400" cy="256032"/>
          </a:xfrm>
          <a:prstGeom prst="rect">
            <a:avLst/>
          </a:prstGeom>
          <a:noFill/>
        </p:spPr>
        <p:txBody>
          <a:bodyPr wrap="square" lIns="0" rIns="0" tIns="0" bIns="0">
            <a:spAutoFit/>
          </a:bodyPr>
          <a:lstStyle/>
          <a:p>
            <a:pPr>
              <a:lnSpc>
                <a:spcPct val="108000"/>
              </a:lnSpc>
              <a:spcAft>
                <a:spcPts val="700"/>
              </a:spcAft>
              <a:defRPr sz="1050" b="1">
                <a:solidFill>
                  <a:srgbClr val="2C6F4D"/>
                </a:solidFill>
                <a:latin typeface="Arial"/>
              </a:defRPr>
            </a:pPr>
            <a:r>
              <a:t>04 / USE CASE TỔNG QUÁT</a:t>
            </a:r>
          </a:p>
        </p:txBody>
      </p:sp>
      <p:sp>
        <p:nvSpPr>
          <p:cNvPr id="3" name="TextBox 2"/>
          <p:cNvSpPr txBox="1"/>
          <p:nvPr/>
        </p:nvSpPr>
        <p:spPr>
          <a:xfrm>
            <a:off x="566928" y="822960"/>
            <a:ext cx="11018520" cy="658368"/>
          </a:xfrm>
          <a:prstGeom prst="rect">
            <a:avLst/>
          </a:prstGeom>
          <a:noFill/>
        </p:spPr>
        <p:txBody>
          <a:bodyPr wrap="square" lIns="0" rIns="0" tIns="0" bIns="0">
            <a:spAutoFit/>
          </a:bodyPr>
          <a:lstStyle/>
          <a:p>
            <a:pPr>
              <a:lnSpc>
                <a:spcPct val="108000"/>
              </a:lnSpc>
              <a:spcAft>
                <a:spcPts val="700"/>
              </a:spcAft>
              <a:defRPr sz="3100" b="1">
                <a:solidFill>
                  <a:srgbClr val="1E3F32"/>
                </a:solidFill>
                <a:latin typeface="Arial"/>
              </a:defRPr>
            </a:pPr>
            <a:r>
              <a:t>Ai sử dụng chức năng nào?</a:t>
            </a:r>
          </a:p>
        </p:txBody>
      </p:sp>
      <p:sp>
        <p:nvSpPr>
          <p:cNvPr id="4" name="TextBox 3"/>
          <p:cNvSpPr txBox="1"/>
          <p:nvPr/>
        </p:nvSpPr>
        <p:spPr>
          <a:xfrm>
            <a:off x="594360" y="1536192"/>
            <a:ext cx="10881360" cy="365760"/>
          </a:xfrm>
          <a:prstGeom prst="rect">
            <a:avLst/>
          </a:prstGeom>
          <a:noFill/>
        </p:spPr>
        <p:txBody>
          <a:bodyPr wrap="square" lIns="0" rIns="0" tIns="0" bIns="0">
            <a:spAutoFit/>
          </a:bodyPr>
          <a:lstStyle/>
          <a:p>
            <a:pPr>
              <a:lnSpc>
                <a:spcPct val="108000"/>
              </a:lnSpc>
              <a:spcAft>
                <a:spcPts val="700"/>
              </a:spcAft>
              <a:defRPr sz="1550" b="0">
                <a:solidFill>
                  <a:srgbClr val="63756A"/>
                </a:solidFill>
                <a:latin typeface="Arial"/>
              </a:defRPr>
            </a:pPr>
            <a:r>
              <a:t>Ba tác nhân và các chức năng chính trong VCoi.</a:t>
            </a:r>
          </a:p>
        </p:txBody>
      </p:sp>
      <p:sp>
        <p:nvSpPr>
          <p:cNvPr id="5" name="Rectangle 4"/>
          <p:cNvSpPr/>
          <p:nvPr/>
        </p:nvSpPr>
        <p:spPr>
          <a:xfrm>
            <a:off x="566928" y="6419088"/>
            <a:ext cx="11045952" cy="10972"/>
          </a:xfrm>
          <a:prstGeom prst="rect">
            <a:avLst/>
          </a:prstGeom>
          <a:solidFill>
            <a:srgbClr val="D8E2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37960"/>
            <a:ext cx="8961120" cy="182880"/>
          </a:xfrm>
          <a:prstGeom prst="rect">
            <a:avLst/>
          </a:prstGeom>
          <a:noFill/>
        </p:spPr>
        <p:txBody>
          <a:bodyPr wrap="square" lIns="0" rIns="0" tIns="0" bIns="0">
            <a:spAutoFit/>
          </a:bodyPr>
          <a:lstStyle/>
          <a:p>
            <a:pPr>
              <a:lnSpc>
                <a:spcPct val="108000"/>
              </a:lnSpc>
              <a:spcAft>
                <a:spcPts val="700"/>
              </a:spcAft>
              <a:defRPr sz="900" b="0">
                <a:solidFill>
                  <a:srgbClr val="63756A"/>
                </a:solidFill>
                <a:latin typeface="Arial"/>
              </a:defRPr>
            </a:pPr>
            <a:r>
              <a:t>VCoi  /  Đồ án Thương mại điện tử  /  C2B</a:t>
            </a:r>
          </a:p>
        </p:txBody>
      </p:sp>
      <p:sp>
        <p:nvSpPr>
          <p:cNvPr id="7" name="TextBox 6"/>
          <p:cNvSpPr txBox="1"/>
          <p:nvPr/>
        </p:nvSpPr>
        <p:spPr>
          <a:xfrm>
            <a:off x="10671048" y="6519672"/>
            <a:ext cx="914400" cy="228600"/>
          </a:xfrm>
          <a:prstGeom prst="rect">
            <a:avLst/>
          </a:prstGeom>
          <a:noFill/>
        </p:spPr>
        <p:txBody>
          <a:bodyPr wrap="square" lIns="0" rIns="0" tIns="0" bIns="0">
            <a:spAutoFit/>
          </a:bodyPr>
          <a:lstStyle/>
          <a:p>
            <a:pPr algn="r">
              <a:lnSpc>
                <a:spcPct val="108000"/>
              </a:lnSpc>
              <a:spcAft>
                <a:spcPts val="700"/>
              </a:spcAft>
              <a:defRPr sz="1000" b="1">
                <a:solidFill>
                  <a:srgbClr val="2C6F4D"/>
                </a:solidFill>
                <a:latin typeface="Arial"/>
              </a:defRPr>
            </a:pPr>
            <a:r>
              <a:t>04 / 05</a:t>
            </a:r>
          </a:p>
        </p:txBody>
      </p:sp>
      <p:sp>
        <p:nvSpPr>
          <p:cNvPr id="8" name="Rectangle 7"/>
          <p:cNvSpPr/>
          <p:nvPr/>
        </p:nvSpPr>
        <p:spPr>
          <a:xfrm>
            <a:off x="1938528" y="2057400"/>
            <a:ext cx="8302752" cy="3941063"/>
          </a:xfrm>
          <a:prstGeom prst="rect">
            <a:avLst/>
          </a:prstGeom>
          <a:solidFill>
            <a:srgbClr val="FFFFFF"/>
          </a:solidFill>
          <a:ln w="10160">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45152" y="2221992"/>
            <a:ext cx="2907792" cy="329184"/>
          </a:xfrm>
          <a:prstGeom prst="roundRect">
            <a:avLst>
              <a:gd name="adj" fmla="val 10000"/>
            </a:avLst>
          </a:prstGeom>
          <a:solidFill>
            <a:srgbClr val="153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2290572"/>
            <a:ext cx="2688336" cy="219456"/>
          </a:xfrm>
          <a:prstGeom prst="rect">
            <a:avLst/>
          </a:prstGeom>
          <a:noFill/>
        </p:spPr>
        <p:txBody>
          <a:bodyPr wrap="square" lIns="0" rIns="0" tIns="0" bIns="0">
            <a:spAutoFit/>
          </a:bodyPr>
          <a:lstStyle/>
          <a:p>
            <a:pPr>
              <a:lnSpc>
                <a:spcPct val="108000"/>
              </a:lnSpc>
              <a:spcAft>
                <a:spcPts val="700"/>
              </a:spcAft>
              <a:defRPr sz="1050" b="1">
                <a:solidFill>
                  <a:srgbClr val="FFFFFF"/>
                </a:solidFill>
                <a:latin typeface="Arial"/>
              </a:defRPr>
            </a:pPr>
            <a:r>
              <a:t>HỆ THỐNG VCOI</a:t>
            </a:r>
          </a:p>
        </p:txBody>
      </p:sp>
      <p:sp>
        <p:nvSpPr>
          <p:cNvPr id="11" name="Oval 10"/>
          <p:cNvSpPr/>
          <p:nvPr/>
        </p:nvSpPr>
        <p:spPr>
          <a:xfrm>
            <a:off x="740664" y="2569464"/>
            <a:ext cx="256032" cy="256032"/>
          </a:xfrm>
          <a:prstGeom prst="ellipse">
            <a:avLst/>
          </a:prstGeom>
          <a:solidFill>
            <a:srgbClr val="F4F6EF"/>
          </a:solidFill>
          <a:ln w="22860">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68680" y="2825496"/>
            <a:ext cx="0" cy="466344"/>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21792" y="2999232"/>
            <a:ext cx="493776" cy="0"/>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58368" y="3291840"/>
            <a:ext cx="210312" cy="320040"/>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68680" y="3291840"/>
            <a:ext cx="210312" cy="320040"/>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7" y="2176272"/>
            <a:ext cx="1609344" cy="329184"/>
          </a:xfrm>
          <a:prstGeom prst="rect">
            <a:avLst/>
          </a:prstGeom>
          <a:noFill/>
        </p:spPr>
        <p:txBody>
          <a:bodyPr wrap="square" lIns="0" rIns="0" tIns="0" bIns="0">
            <a:spAutoFit/>
          </a:bodyPr>
          <a:lstStyle/>
          <a:p>
            <a:pPr algn="ctr">
              <a:lnSpc>
                <a:spcPct val="108000"/>
              </a:lnSpc>
              <a:spcAft>
                <a:spcPts val="700"/>
              </a:spcAft>
              <a:defRPr sz="1550" b="1">
                <a:solidFill>
                  <a:srgbClr val="1E3F32"/>
                </a:solidFill>
                <a:latin typeface="Arial"/>
              </a:defRPr>
            </a:pPr>
            <a:r>
              <a:t>Khách hàng</a:t>
            </a:r>
          </a:p>
        </p:txBody>
      </p:sp>
      <p:sp>
        <p:nvSpPr>
          <p:cNvPr id="17" name="Oval 16"/>
          <p:cNvSpPr/>
          <p:nvPr/>
        </p:nvSpPr>
        <p:spPr>
          <a:xfrm>
            <a:off x="740664" y="4489704"/>
            <a:ext cx="256032" cy="256032"/>
          </a:xfrm>
          <a:prstGeom prst="ellipse">
            <a:avLst/>
          </a:prstGeom>
          <a:solidFill>
            <a:srgbClr val="F4F6EF"/>
          </a:solidFill>
          <a:ln w="22860">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868680" y="4745736"/>
            <a:ext cx="0" cy="466344"/>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1792" y="4919472"/>
            <a:ext cx="493776" cy="0"/>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58368" y="5212080"/>
            <a:ext cx="210312" cy="320040"/>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 y="5212080"/>
            <a:ext cx="210312" cy="320040"/>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7" y="4096512"/>
            <a:ext cx="1609344" cy="329184"/>
          </a:xfrm>
          <a:prstGeom prst="rect">
            <a:avLst/>
          </a:prstGeom>
          <a:noFill/>
        </p:spPr>
        <p:txBody>
          <a:bodyPr wrap="square" lIns="0" rIns="0" tIns="0" bIns="0">
            <a:spAutoFit/>
          </a:bodyPr>
          <a:lstStyle/>
          <a:p>
            <a:pPr algn="ctr">
              <a:lnSpc>
                <a:spcPct val="108000"/>
              </a:lnSpc>
              <a:spcAft>
                <a:spcPts val="700"/>
              </a:spcAft>
              <a:defRPr sz="1550" b="1">
                <a:solidFill>
                  <a:srgbClr val="1E3F32"/>
                </a:solidFill>
                <a:latin typeface="Arial"/>
              </a:defRPr>
            </a:pPr>
            <a:r>
              <a:t>Nhân viên</a:t>
            </a:r>
          </a:p>
        </p:txBody>
      </p:sp>
      <p:sp>
        <p:nvSpPr>
          <p:cNvPr id="23" name="Oval 22"/>
          <p:cNvSpPr/>
          <p:nvPr/>
        </p:nvSpPr>
        <p:spPr>
          <a:xfrm>
            <a:off x="10863072" y="3236976"/>
            <a:ext cx="256032" cy="256032"/>
          </a:xfrm>
          <a:prstGeom prst="ellipse">
            <a:avLst/>
          </a:prstGeom>
          <a:solidFill>
            <a:srgbClr val="F4F6EF"/>
          </a:solidFill>
          <a:ln w="22860">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0991088" y="3493008"/>
            <a:ext cx="0" cy="466344"/>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744200" y="3666744"/>
            <a:ext cx="493776" cy="0"/>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0780776" y="3959352"/>
            <a:ext cx="210312" cy="320040"/>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991088" y="3959352"/>
            <a:ext cx="210312" cy="320040"/>
          </a:xfrm>
          <a:prstGeom prst="line">
            <a:avLst/>
          </a:prstGeom>
          <a:ln w="22860">
            <a:solidFill>
              <a:srgbClr val="2C6F4D"/>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86415" y="2816352"/>
            <a:ext cx="1609344" cy="329184"/>
          </a:xfrm>
          <a:prstGeom prst="rect">
            <a:avLst/>
          </a:prstGeom>
          <a:noFill/>
        </p:spPr>
        <p:txBody>
          <a:bodyPr wrap="square" lIns="0" rIns="0" tIns="0" bIns="0">
            <a:spAutoFit/>
          </a:bodyPr>
          <a:lstStyle/>
          <a:p>
            <a:pPr algn="ctr">
              <a:lnSpc>
                <a:spcPct val="108000"/>
              </a:lnSpc>
              <a:spcAft>
                <a:spcPts val="700"/>
              </a:spcAft>
              <a:defRPr sz="1550" b="1">
                <a:solidFill>
                  <a:srgbClr val="1E3F32"/>
                </a:solidFill>
                <a:latin typeface="Arial"/>
              </a:defRPr>
            </a:pPr>
            <a:r>
              <a:t>Quản trị viên</a:t>
            </a:r>
          </a:p>
        </p:txBody>
      </p:sp>
      <p:cxnSp>
        <p:nvCxnSpPr>
          <p:cNvPr id="29" name="Connector 28"/>
          <p:cNvCxnSpPr/>
          <p:nvPr/>
        </p:nvCxnSpPr>
        <p:spPr>
          <a:xfrm>
            <a:off x="1115568" y="2999232"/>
            <a:ext cx="1380744" cy="0"/>
          </a:xfrm>
          <a:prstGeom prst="line">
            <a:avLst/>
          </a:prstGeom>
          <a:ln w="1524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15568" y="2999232"/>
            <a:ext cx="1380744" cy="777240"/>
          </a:xfrm>
          <a:prstGeom prst="line">
            <a:avLst/>
          </a:prstGeom>
          <a:ln w="1524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115568" y="4553712"/>
            <a:ext cx="1380744" cy="365760"/>
          </a:xfrm>
          <a:prstGeom prst="line">
            <a:avLst/>
          </a:prstGeom>
          <a:ln w="1524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15568" y="4919472"/>
            <a:ext cx="1380744" cy="411480"/>
          </a:xfrm>
          <a:prstGeom prst="line">
            <a:avLst/>
          </a:prstGeom>
          <a:ln w="1524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9628632" y="2999232"/>
            <a:ext cx="1115568" cy="667512"/>
          </a:xfrm>
          <a:prstGeom prst="line">
            <a:avLst/>
          </a:prstGeom>
          <a:ln w="1524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28632" y="3666744"/>
            <a:ext cx="1115568" cy="109728"/>
          </a:xfrm>
          <a:prstGeom prst="line">
            <a:avLst/>
          </a:prstGeom>
          <a:ln w="1524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9628632" y="3666744"/>
            <a:ext cx="1115568" cy="886968"/>
          </a:xfrm>
          <a:prstGeom prst="line">
            <a:avLst/>
          </a:prstGeom>
          <a:ln w="15240">
            <a:solidFill>
              <a:srgbClr val="2C6F4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628632" y="3666744"/>
            <a:ext cx="1115568" cy="1664208"/>
          </a:xfrm>
          <a:prstGeom prst="line">
            <a:avLst/>
          </a:prstGeom>
          <a:ln w="15240">
            <a:solidFill>
              <a:srgbClr val="2C6F4D"/>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2496312" y="2706624"/>
            <a:ext cx="3090672" cy="585216"/>
          </a:xfrm>
          <a:prstGeom prst="ellipse">
            <a:avLst/>
          </a:prstGeom>
          <a:solidFill>
            <a:srgbClr val="E8EFDF"/>
          </a:solidFill>
          <a:ln w="14604">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tIns="0" bIns="0" wrap="none"/>
          <a:lstStyle/>
          <a:p>
            <a:pPr algn="ctr">
              <a:spcBef>
                <a:spcPts val="0"/>
              </a:spcBef>
              <a:spcAft>
                <a:spcPts val="0"/>
              </a:spcAft>
              <a:defRPr sz="1650">
                <a:solidFill>
                  <a:srgbClr val="1E3F32"/>
                </a:solidFill>
                <a:latin typeface="Arial"/>
              </a:defRPr>
            </a:pPr>
            <a:r>
              <a:t>Đặt lịch thu gom</a:t>
            </a:r>
          </a:p>
        </p:txBody>
      </p:sp>
      <p:sp>
        <p:nvSpPr>
          <p:cNvPr id="38" name="Oval 37"/>
          <p:cNvSpPr/>
          <p:nvPr/>
        </p:nvSpPr>
        <p:spPr>
          <a:xfrm>
            <a:off x="2496312" y="3483864"/>
            <a:ext cx="3090672" cy="585216"/>
          </a:xfrm>
          <a:prstGeom prst="ellipse">
            <a:avLst/>
          </a:prstGeom>
          <a:solidFill>
            <a:srgbClr val="E8EFDF"/>
          </a:solidFill>
          <a:ln w="14604">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tIns="0" bIns="0" wrap="none"/>
          <a:lstStyle/>
          <a:p>
            <a:pPr algn="ctr">
              <a:spcBef>
                <a:spcPts val="0"/>
              </a:spcBef>
              <a:spcAft>
                <a:spcPts val="0"/>
              </a:spcAft>
              <a:defRPr sz="1650">
                <a:solidFill>
                  <a:srgbClr val="1E3F32"/>
                </a:solidFill>
                <a:latin typeface="Arial"/>
              </a:defRPr>
            </a:pPr>
            <a:r>
              <a:t>Duyệt báo giá</a:t>
            </a:r>
          </a:p>
        </p:txBody>
      </p:sp>
      <p:sp>
        <p:nvSpPr>
          <p:cNvPr id="39" name="Oval 38"/>
          <p:cNvSpPr/>
          <p:nvPr/>
        </p:nvSpPr>
        <p:spPr>
          <a:xfrm>
            <a:off x="2496312" y="4261104"/>
            <a:ext cx="3090672" cy="585216"/>
          </a:xfrm>
          <a:prstGeom prst="ellipse">
            <a:avLst/>
          </a:prstGeom>
          <a:solidFill>
            <a:srgbClr val="E8EFDF"/>
          </a:solidFill>
          <a:ln w="14604">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tIns="0" bIns="0" wrap="none"/>
          <a:lstStyle/>
          <a:p>
            <a:pPr algn="ctr">
              <a:spcBef>
                <a:spcPts val="0"/>
              </a:spcBef>
              <a:spcAft>
                <a:spcPts val="0"/>
              </a:spcAft>
              <a:defRPr sz="1650">
                <a:solidFill>
                  <a:srgbClr val="1E3F32"/>
                </a:solidFill>
                <a:latin typeface="Arial"/>
              </a:defRPr>
            </a:pPr>
            <a:r>
              <a:t>Cân và lập báo giá</a:t>
            </a:r>
          </a:p>
        </p:txBody>
      </p:sp>
      <p:sp>
        <p:nvSpPr>
          <p:cNvPr id="40" name="Oval 39"/>
          <p:cNvSpPr/>
          <p:nvPr/>
        </p:nvSpPr>
        <p:spPr>
          <a:xfrm>
            <a:off x="2496312" y="5038344"/>
            <a:ext cx="3090672" cy="585216"/>
          </a:xfrm>
          <a:prstGeom prst="ellipse">
            <a:avLst/>
          </a:prstGeom>
          <a:solidFill>
            <a:srgbClr val="E8EFDF"/>
          </a:solidFill>
          <a:ln w="14604">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tIns="0" bIns="0" wrap="none"/>
          <a:lstStyle/>
          <a:p>
            <a:pPr algn="ctr">
              <a:spcBef>
                <a:spcPts val="0"/>
              </a:spcBef>
              <a:spcAft>
                <a:spcPts val="0"/>
              </a:spcAft>
              <a:defRPr sz="1650">
                <a:solidFill>
                  <a:srgbClr val="1E3F32"/>
                </a:solidFill>
                <a:latin typeface="Arial"/>
              </a:defRPr>
            </a:pPr>
            <a:r>
              <a:t>Ghi khoản chi mô phỏng</a:t>
            </a:r>
          </a:p>
        </p:txBody>
      </p:sp>
      <p:sp>
        <p:nvSpPr>
          <p:cNvPr id="41" name="Oval 40"/>
          <p:cNvSpPr/>
          <p:nvPr/>
        </p:nvSpPr>
        <p:spPr>
          <a:xfrm>
            <a:off x="6446520" y="2706624"/>
            <a:ext cx="3182112" cy="585216"/>
          </a:xfrm>
          <a:prstGeom prst="ellipse">
            <a:avLst/>
          </a:prstGeom>
          <a:solidFill>
            <a:srgbClr val="F4F6EF"/>
          </a:solidFill>
          <a:ln w="14604">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tIns="0" bIns="0" wrap="none"/>
          <a:lstStyle/>
          <a:p>
            <a:pPr algn="ctr">
              <a:spcBef>
                <a:spcPts val="0"/>
              </a:spcBef>
              <a:spcAft>
                <a:spcPts val="0"/>
              </a:spcAft>
              <a:defRPr sz="1650">
                <a:solidFill>
                  <a:srgbClr val="1E3F32"/>
                </a:solidFill>
                <a:latin typeface="Arial"/>
              </a:defRPr>
            </a:pPr>
            <a:r>
              <a:t>Quản lý vật liệu</a:t>
            </a:r>
          </a:p>
        </p:txBody>
      </p:sp>
      <p:sp>
        <p:nvSpPr>
          <p:cNvPr id="42" name="Oval 41"/>
          <p:cNvSpPr/>
          <p:nvPr/>
        </p:nvSpPr>
        <p:spPr>
          <a:xfrm>
            <a:off x="6446520" y="3483864"/>
            <a:ext cx="3182112" cy="585216"/>
          </a:xfrm>
          <a:prstGeom prst="ellipse">
            <a:avLst/>
          </a:prstGeom>
          <a:solidFill>
            <a:srgbClr val="F4F6EF"/>
          </a:solidFill>
          <a:ln w="14604">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tIns="0" bIns="0" wrap="none"/>
          <a:lstStyle/>
          <a:p>
            <a:pPr algn="ctr">
              <a:spcBef>
                <a:spcPts val="0"/>
              </a:spcBef>
              <a:spcAft>
                <a:spcPts val="0"/>
              </a:spcAft>
              <a:defRPr sz="1650">
                <a:solidFill>
                  <a:srgbClr val="1E3F32"/>
                </a:solidFill>
                <a:latin typeface="Arial"/>
              </a:defRPr>
            </a:pPr>
            <a:r>
              <a:t>Quản lý bảng giá</a:t>
            </a:r>
          </a:p>
        </p:txBody>
      </p:sp>
      <p:sp>
        <p:nvSpPr>
          <p:cNvPr id="43" name="Oval 42"/>
          <p:cNvSpPr/>
          <p:nvPr/>
        </p:nvSpPr>
        <p:spPr>
          <a:xfrm>
            <a:off x="6446520" y="4261104"/>
            <a:ext cx="3182112" cy="585216"/>
          </a:xfrm>
          <a:prstGeom prst="ellipse">
            <a:avLst/>
          </a:prstGeom>
          <a:solidFill>
            <a:srgbClr val="F4F6EF"/>
          </a:solidFill>
          <a:ln w="14604">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tIns="0" bIns="0" wrap="none"/>
          <a:lstStyle/>
          <a:p>
            <a:pPr algn="ctr">
              <a:spcBef>
                <a:spcPts val="0"/>
              </a:spcBef>
              <a:spcAft>
                <a:spcPts val="0"/>
              </a:spcAft>
              <a:defRPr sz="1650">
                <a:solidFill>
                  <a:srgbClr val="1E3F32"/>
                </a:solidFill>
                <a:latin typeface="Arial"/>
              </a:defRPr>
            </a:pPr>
            <a:r>
              <a:t>Phân công nhân viên</a:t>
            </a:r>
          </a:p>
        </p:txBody>
      </p:sp>
      <p:sp>
        <p:nvSpPr>
          <p:cNvPr id="44" name="Oval 43"/>
          <p:cNvSpPr/>
          <p:nvPr/>
        </p:nvSpPr>
        <p:spPr>
          <a:xfrm>
            <a:off x="6446520" y="5038344"/>
            <a:ext cx="3182112" cy="585216"/>
          </a:xfrm>
          <a:prstGeom prst="ellipse">
            <a:avLst/>
          </a:prstGeom>
          <a:solidFill>
            <a:srgbClr val="F4F6EF"/>
          </a:solidFill>
          <a:ln w="14604">
            <a:solidFill>
              <a:srgbClr val="2C6F4D"/>
            </a:solidFill>
          </a:ln>
        </p:spPr>
        <p:style>
          <a:lnRef idx="1">
            <a:schemeClr val="accent1"/>
          </a:lnRef>
          <a:fillRef idx="3">
            <a:schemeClr val="accent1"/>
          </a:fillRef>
          <a:effectRef idx="2">
            <a:schemeClr val="accent1"/>
          </a:effectRef>
          <a:fontRef idx="minor">
            <a:schemeClr val="lt1"/>
          </a:fontRef>
        </p:style>
        <p:txBody>
          <a:bodyPr rtlCol="0" anchor="ctr" tIns="0" bIns="0" wrap="none"/>
          <a:lstStyle/>
          <a:p>
            <a:pPr algn="ctr">
              <a:spcBef>
                <a:spcPts val="0"/>
              </a:spcBef>
              <a:spcAft>
                <a:spcPts val="0"/>
              </a:spcAft>
              <a:defRPr sz="1650">
                <a:solidFill>
                  <a:srgbClr val="1E3F32"/>
                </a:solidFill>
                <a:latin typeface="Arial"/>
              </a:defRPr>
            </a:pPr>
            <a:r>
              <a:t>Xem thống kê khoản chi</a:t>
            </a:r>
          </a:p>
        </p:txBody>
      </p:sp>
      <p:sp>
        <p:nvSpPr>
          <p:cNvPr id="45" name="TextBox 44"/>
          <p:cNvSpPr txBox="1"/>
          <p:nvPr/>
        </p:nvSpPr>
        <p:spPr>
          <a:xfrm>
            <a:off x="2103120" y="6126480"/>
            <a:ext cx="7955279" cy="219456"/>
          </a:xfrm>
          <a:prstGeom prst="rect">
            <a:avLst/>
          </a:prstGeom>
          <a:noFill/>
        </p:spPr>
        <p:txBody>
          <a:bodyPr wrap="square" lIns="0" rIns="0" tIns="0" bIns="0">
            <a:spAutoFit/>
          </a:bodyPr>
          <a:lstStyle/>
          <a:p>
            <a:pPr algn="ctr">
              <a:lnSpc>
                <a:spcPct val="108000"/>
              </a:lnSpc>
              <a:spcAft>
                <a:spcPts val="700"/>
              </a:spcAft>
              <a:defRPr sz="1150" b="0">
                <a:solidFill>
                  <a:srgbClr val="2C6F4D"/>
                </a:solidFill>
                <a:latin typeface="Arial"/>
              </a:defRPr>
            </a:pPr>
            <a:r>
              <a:t>Đăng nhập và phân quyền theo vai trò • Thanh toán mô phỏng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66928" y="320040"/>
            <a:ext cx="10058400" cy="256032"/>
          </a:xfrm>
          <a:prstGeom prst="rect">
            <a:avLst/>
          </a:prstGeom>
          <a:noFill/>
        </p:spPr>
        <p:txBody>
          <a:bodyPr wrap="square" lIns="0" rIns="0" tIns="0" bIns="0">
            <a:spAutoFit/>
          </a:bodyPr>
          <a:lstStyle/>
          <a:p>
            <a:pPr>
              <a:lnSpc>
                <a:spcPct val="108000"/>
              </a:lnSpc>
              <a:spcAft>
                <a:spcPts val="700"/>
              </a:spcAft>
              <a:defRPr sz="1050" b="1">
                <a:solidFill>
                  <a:srgbClr val="2C6F4D"/>
                </a:solidFill>
                <a:latin typeface="Arial"/>
              </a:defRPr>
            </a:pPr>
            <a:r>
              <a:t>05 / KẾT QUẢ &amp; HƯỚNG PHÁT TRIỂN</a:t>
            </a:r>
          </a:p>
        </p:txBody>
      </p:sp>
      <p:sp>
        <p:nvSpPr>
          <p:cNvPr id="3" name="TextBox 2"/>
          <p:cNvSpPr txBox="1"/>
          <p:nvPr/>
        </p:nvSpPr>
        <p:spPr>
          <a:xfrm>
            <a:off x="566928" y="822960"/>
            <a:ext cx="11018520" cy="658368"/>
          </a:xfrm>
          <a:prstGeom prst="rect">
            <a:avLst/>
          </a:prstGeom>
          <a:noFill/>
        </p:spPr>
        <p:txBody>
          <a:bodyPr wrap="square" lIns="0" rIns="0" tIns="0" bIns="0">
            <a:spAutoFit/>
          </a:bodyPr>
          <a:lstStyle/>
          <a:p>
            <a:pPr>
              <a:lnSpc>
                <a:spcPct val="108000"/>
              </a:lnSpc>
              <a:spcAft>
                <a:spcPts val="700"/>
              </a:spcAft>
              <a:defRPr sz="3100" b="1">
                <a:solidFill>
                  <a:srgbClr val="1E3F32"/>
                </a:solidFill>
                <a:latin typeface="Arial"/>
              </a:defRPr>
            </a:pPr>
            <a:r>
              <a:t>Giao diện đã có, sẵn sàng trình diễn.</a:t>
            </a:r>
          </a:p>
        </p:txBody>
      </p:sp>
      <p:sp>
        <p:nvSpPr>
          <p:cNvPr id="4" name="TextBox 3"/>
          <p:cNvSpPr txBox="1"/>
          <p:nvPr/>
        </p:nvSpPr>
        <p:spPr>
          <a:xfrm>
            <a:off x="594360" y="1536192"/>
            <a:ext cx="10881360" cy="365760"/>
          </a:xfrm>
          <a:prstGeom prst="rect">
            <a:avLst/>
          </a:prstGeom>
          <a:noFill/>
        </p:spPr>
        <p:txBody>
          <a:bodyPr wrap="square" lIns="0" rIns="0" tIns="0" bIns="0">
            <a:spAutoFit/>
          </a:bodyPr>
          <a:lstStyle/>
          <a:p>
            <a:pPr>
              <a:lnSpc>
                <a:spcPct val="108000"/>
              </a:lnSpc>
              <a:spcAft>
                <a:spcPts val="700"/>
              </a:spcAft>
              <a:defRPr sz="1550" b="0">
                <a:solidFill>
                  <a:srgbClr val="63756A"/>
                </a:solidFill>
                <a:latin typeface="Arial"/>
              </a:defRPr>
            </a:pPr>
            <a:r>
              <a:t>Các ảnh dưới đây chụp từ bản chạy thử với dữ liệu giả lập.</a:t>
            </a:r>
          </a:p>
        </p:txBody>
      </p:sp>
      <p:sp>
        <p:nvSpPr>
          <p:cNvPr id="5" name="Rectangle 4"/>
          <p:cNvSpPr/>
          <p:nvPr/>
        </p:nvSpPr>
        <p:spPr>
          <a:xfrm>
            <a:off x="566928" y="6419088"/>
            <a:ext cx="11045952" cy="10972"/>
          </a:xfrm>
          <a:prstGeom prst="rect">
            <a:avLst/>
          </a:prstGeom>
          <a:solidFill>
            <a:srgbClr val="D8E2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37960"/>
            <a:ext cx="8961120" cy="182880"/>
          </a:xfrm>
          <a:prstGeom prst="rect">
            <a:avLst/>
          </a:prstGeom>
          <a:noFill/>
        </p:spPr>
        <p:txBody>
          <a:bodyPr wrap="square" lIns="0" rIns="0" tIns="0" bIns="0">
            <a:spAutoFit/>
          </a:bodyPr>
          <a:lstStyle/>
          <a:p>
            <a:pPr>
              <a:lnSpc>
                <a:spcPct val="108000"/>
              </a:lnSpc>
              <a:spcAft>
                <a:spcPts val="700"/>
              </a:spcAft>
              <a:defRPr sz="900" b="0">
                <a:solidFill>
                  <a:srgbClr val="63756A"/>
                </a:solidFill>
                <a:latin typeface="Arial"/>
              </a:defRPr>
            </a:pPr>
            <a:r>
              <a:t>VCoi  /  Đồ án Thương mại điện tử  /  C2B</a:t>
            </a:r>
          </a:p>
        </p:txBody>
      </p:sp>
      <p:sp>
        <p:nvSpPr>
          <p:cNvPr id="7" name="TextBox 6"/>
          <p:cNvSpPr txBox="1"/>
          <p:nvPr/>
        </p:nvSpPr>
        <p:spPr>
          <a:xfrm>
            <a:off x="10671048" y="6519672"/>
            <a:ext cx="914400" cy="228600"/>
          </a:xfrm>
          <a:prstGeom prst="rect">
            <a:avLst/>
          </a:prstGeom>
          <a:noFill/>
        </p:spPr>
        <p:txBody>
          <a:bodyPr wrap="square" lIns="0" rIns="0" tIns="0" bIns="0">
            <a:spAutoFit/>
          </a:bodyPr>
          <a:lstStyle/>
          <a:p>
            <a:pPr algn="r">
              <a:lnSpc>
                <a:spcPct val="108000"/>
              </a:lnSpc>
              <a:spcAft>
                <a:spcPts val="700"/>
              </a:spcAft>
              <a:defRPr sz="1000" b="1">
                <a:solidFill>
                  <a:srgbClr val="2C6F4D"/>
                </a:solidFill>
                <a:latin typeface="Arial"/>
              </a:defRPr>
            </a:pPr>
            <a:r>
              <a:t>05 / 05</a:t>
            </a:r>
          </a:p>
        </p:txBody>
      </p:sp>
      <p:sp>
        <p:nvSpPr>
          <p:cNvPr id="8" name="Rounded Rectangle 7"/>
          <p:cNvSpPr/>
          <p:nvPr/>
        </p:nvSpPr>
        <p:spPr>
          <a:xfrm>
            <a:off x="658368" y="2194560"/>
            <a:ext cx="3502152" cy="2688336"/>
          </a:xfrm>
          <a:prstGeom prst="roundRect">
            <a:avLst>
              <a:gd name="adj" fmla="val 10000"/>
            </a:avLst>
          </a:prstGeom>
          <a:solidFill>
            <a:srgbClr val="FFFFFF"/>
          </a:solidFill>
          <a:ln w="10160">
            <a:solidFill>
              <a:srgbClr val="D8E2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2194560"/>
            <a:ext cx="3502152" cy="237744"/>
          </a:xfrm>
          <a:prstGeom prst="roundRect">
            <a:avLst>
              <a:gd name="adj" fmla="val 10000"/>
            </a:avLst>
          </a:prstGeom>
          <a:solidFill>
            <a:srgbClr val="E8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2276856"/>
            <a:ext cx="50292" cy="5029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59152"/>
            <a:ext cx="5029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sp>
        <p:nvSpPr>
          <p:cNvPr id="12" name="Oval 11"/>
          <p:cNvSpPr/>
          <p:nvPr/>
        </p:nvSpPr>
        <p:spPr>
          <a:xfrm>
            <a:off x="905256" y="2276856"/>
            <a:ext cx="50292" cy="5029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2359152"/>
            <a:ext cx="5029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sp>
        <p:nvSpPr>
          <p:cNvPr id="14" name="Oval 13"/>
          <p:cNvSpPr/>
          <p:nvPr/>
        </p:nvSpPr>
        <p:spPr>
          <a:xfrm>
            <a:off x="1033271" y="2276856"/>
            <a:ext cx="50292" cy="5029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2359152"/>
            <a:ext cx="5029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pic>
        <p:nvPicPr>
          <p:cNvPr id="16" name="Picture 15" descr="booking.png"/>
          <p:cNvPicPr>
            <a:picLocks noChangeAspect="1"/>
          </p:cNvPicPr>
          <p:nvPr/>
        </p:nvPicPr>
        <p:blipFill>
          <a:blip r:embed="rId2"/>
          <a:stretch>
            <a:fillRect/>
          </a:stretch>
        </p:blipFill>
        <p:spPr>
          <a:xfrm>
            <a:off x="809609" y="2532888"/>
            <a:ext cx="3199668" cy="2221992"/>
          </a:xfrm>
          <a:prstGeom prst="rect">
            <a:avLst/>
          </a:prstGeom>
        </p:spPr>
      </p:pic>
      <p:sp>
        <p:nvSpPr>
          <p:cNvPr id="17" name="TextBox 16"/>
          <p:cNvSpPr txBox="1"/>
          <p:nvPr/>
        </p:nvSpPr>
        <p:spPr>
          <a:xfrm>
            <a:off x="685800" y="5102352"/>
            <a:ext cx="3447288" cy="356616"/>
          </a:xfrm>
          <a:prstGeom prst="rect">
            <a:avLst/>
          </a:prstGeom>
          <a:noFill/>
        </p:spPr>
        <p:txBody>
          <a:bodyPr wrap="square" lIns="0" rIns="0" tIns="0" bIns="0">
            <a:spAutoFit/>
          </a:bodyPr>
          <a:lstStyle/>
          <a:p>
            <a:pPr algn="ctr">
              <a:lnSpc>
                <a:spcPct val="108000"/>
              </a:lnSpc>
              <a:spcAft>
                <a:spcPts val="700"/>
              </a:spcAft>
              <a:defRPr sz="2100" b="1">
                <a:solidFill>
                  <a:srgbClr val="1E3F32"/>
                </a:solidFill>
                <a:latin typeface="Arial"/>
              </a:defRPr>
            </a:pPr>
            <a:r>
              <a:t>Đặt lịch thu gom</a:t>
            </a:r>
          </a:p>
        </p:txBody>
      </p:sp>
      <p:sp>
        <p:nvSpPr>
          <p:cNvPr id="18" name="Rounded Rectangle 17"/>
          <p:cNvSpPr/>
          <p:nvPr/>
        </p:nvSpPr>
        <p:spPr>
          <a:xfrm>
            <a:off x="4389120" y="2194560"/>
            <a:ext cx="3502152" cy="2688336"/>
          </a:xfrm>
          <a:prstGeom prst="roundRect">
            <a:avLst>
              <a:gd name="adj" fmla="val 10000"/>
            </a:avLst>
          </a:prstGeom>
          <a:solidFill>
            <a:srgbClr val="FFFFFF"/>
          </a:solidFill>
          <a:ln w="10160">
            <a:solidFill>
              <a:srgbClr val="D8E2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89120" y="2194560"/>
            <a:ext cx="3502152" cy="237744"/>
          </a:xfrm>
          <a:prstGeom prst="roundRect">
            <a:avLst>
              <a:gd name="adj" fmla="val 10000"/>
            </a:avLst>
          </a:prstGeom>
          <a:solidFill>
            <a:srgbClr val="E8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07992" y="2276856"/>
            <a:ext cx="50292" cy="5029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7992" y="2359152"/>
            <a:ext cx="5029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sp>
        <p:nvSpPr>
          <p:cNvPr id="22" name="Oval 21"/>
          <p:cNvSpPr/>
          <p:nvPr/>
        </p:nvSpPr>
        <p:spPr>
          <a:xfrm>
            <a:off x="4636007" y="2276856"/>
            <a:ext cx="50292" cy="5029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7" y="2359152"/>
            <a:ext cx="5029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sp>
        <p:nvSpPr>
          <p:cNvPr id="24" name="Oval 23"/>
          <p:cNvSpPr/>
          <p:nvPr/>
        </p:nvSpPr>
        <p:spPr>
          <a:xfrm>
            <a:off x="4764024" y="2276856"/>
            <a:ext cx="50292" cy="5029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64024" y="2359152"/>
            <a:ext cx="5029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pic>
        <p:nvPicPr>
          <p:cNvPr id="26" name="Picture 25" descr="receipt.png"/>
          <p:cNvPicPr>
            <a:picLocks noChangeAspect="1"/>
          </p:cNvPicPr>
          <p:nvPr/>
        </p:nvPicPr>
        <p:blipFill>
          <a:blip r:embed="rId3"/>
          <a:stretch>
            <a:fillRect/>
          </a:stretch>
        </p:blipFill>
        <p:spPr>
          <a:xfrm>
            <a:off x="4480559" y="2626060"/>
            <a:ext cx="3319272" cy="2035647"/>
          </a:xfrm>
          <a:prstGeom prst="rect">
            <a:avLst/>
          </a:prstGeom>
        </p:spPr>
      </p:pic>
      <p:sp>
        <p:nvSpPr>
          <p:cNvPr id="27" name="TextBox 26"/>
          <p:cNvSpPr txBox="1"/>
          <p:nvPr/>
        </p:nvSpPr>
        <p:spPr>
          <a:xfrm>
            <a:off x="4416552" y="5102352"/>
            <a:ext cx="3447288" cy="356616"/>
          </a:xfrm>
          <a:prstGeom prst="rect">
            <a:avLst/>
          </a:prstGeom>
          <a:noFill/>
        </p:spPr>
        <p:txBody>
          <a:bodyPr wrap="square" lIns="0" rIns="0" tIns="0" bIns="0">
            <a:spAutoFit/>
          </a:bodyPr>
          <a:lstStyle/>
          <a:p>
            <a:pPr algn="ctr">
              <a:lnSpc>
                <a:spcPct val="108000"/>
              </a:lnSpc>
              <a:spcAft>
                <a:spcPts val="700"/>
              </a:spcAft>
              <a:defRPr sz="2100" b="1">
                <a:solidFill>
                  <a:srgbClr val="1E3F32"/>
                </a:solidFill>
                <a:latin typeface="Arial"/>
              </a:defRPr>
            </a:pPr>
            <a:r>
              <a:t>Biên nhận giao dịch</a:t>
            </a:r>
          </a:p>
        </p:txBody>
      </p:sp>
      <p:sp>
        <p:nvSpPr>
          <p:cNvPr id="28" name="Rounded Rectangle 27"/>
          <p:cNvSpPr/>
          <p:nvPr/>
        </p:nvSpPr>
        <p:spPr>
          <a:xfrm>
            <a:off x="8119872" y="2194560"/>
            <a:ext cx="3502152" cy="2688336"/>
          </a:xfrm>
          <a:prstGeom prst="roundRect">
            <a:avLst>
              <a:gd name="adj" fmla="val 10000"/>
            </a:avLst>
          </a:prstGeom>
          <a:solidFill>
            <a:srgbClr val="FFFFFF"/>
          </a:solidFill>
          <a:ln w="10160">
            <a:solidFill>
              <a:srgbClr val="D8E2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19872" y="2194560"/>
            <a:ext cx="3502152" cy="237744"/>
          </a:xfrm>
          <a:prstGeom prst="roundRect">
            <a:avLst>
              <a:gd name="adj" fmla="val 10000"/>
            </a:avLst>
          </a:prstGeom>
          <a:solidFill>
            <a:srgbClr val="E8E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38744" y="2276856"/>
            <a:ext cx="50292" cy="5029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38744" y="2359152"/>
            <a:ext cx="5029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sp>
        <p:nvSpPr>
          <p:cNvPr id="32" name="Oval 31"/>
          <p:cNvSpPr/>
          <p:nvPr/>
        </p:nvSpPr>
        <p:spPr>
          <a:xfrm>
            <a:off x="8366760" y="2276856"/>
            <a:ext cx="50292" cy="5029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66760" y="2359152"/>
            <a:ext cx="5029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sp>
        <p:nvSpPr>
          <p:cNvPr id="34" name="Oval 33"/>
          <p:cNvSpPr/>
          <p:nvPr/>
        </p:nvSpPr>
        <p:spPr>
          <a:xfrm>
            <a:off x="8494776" y="2276856"/>
            <a:ext cx="50292" cy="50292"/>
          </a:xfrm>
          <a:prstGeom prst="ellipse">
            <a:avLst/>
          </a:prstGeom>
          <a:solidFill>
            <a:srgbClr val="2C6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94776" y="2359152"/>
            <a:ext cx="50292" cy="228600"/>
          </a:xfrm>
          <a:prstGeom prst="rect">
            <a:avLst/>
          </a:prstGeom>
          <a:noFill/>
        </p:spPr>
        <p:txBody>
          <a:bodyPr wrap="square" lIns="0" rIns="0" tIns="0" bIns="0">
            <a:spAutoFit/>
          </a:bodyPr>
          <a:lstStyle/>
          <a:p>
            <a:pPr algn="ctr">
              <a:lnSpc>
                <a:spcPct val="108000"/>
              </a:lnSpc>
              <a:spcAft>
                <a:spcPts val="700"/>
              </a:spcAft>
              <a:defRPr sz="1400" b="1">
                <a:solidFill>
                  <a:srgbClr val="FFFFFF"/>
                </a:solidFill>
                <a:latin typeface="Arial"/>
              </a:defRPr>
            </a:pPr>
          </a:p>
        </p:txBody>
      </p:sp>
      <p:pic>
        <p:nvPicPr>
          <p:cNvPr id="36" name="Picture 35" descr="admin.png"/>
          <p:cNvPicPr>
            <a:picLocks noChangeAspect="1"/>
          </p:cNvPicPr>
          <p:nvPr/>
        </p:nvPicPr>
        <p:blipFill>
          <a:blip r:embed="rId4"/>
          <a:stretch>
            <a:fillRect/>
          </a:stretch>
        </p:blipFill>
        <p:spPr>
          <a:xfrm>
            <a:off x="8271113" y="2532888"/>
            <a:ext cx="3199668" cy="2221992"/>
          </a:xfrm>
          <a:prstGeom prst="rect">
            <a:avLst/>
          </a:prstGeom>
        </p:spPr>
      </p:pic>
      <p:sp>
        <p:nvSpPr>
          <p:cNvPr id="37" name="TextBox 36"/>
          <p:cNvSpPr txBox="1"/>
          <p:nvPr/>
        </p:nvSpPr>
        <p:spPr>
          <a:xfrm>
            <a:off x="8147304" y="5102352"/>
            <a:ext cx="3447288" cy="356616"/>
          </a:xfrm>
          <a:prstGeom prst="rect">
            <a:avLst/>
          </a:prstGeom>
          <a:noFill/>
        </p:spPr>
        <p:txBody>
          <a:bodyPr wrap="square" lIns="0" rIns="0" tIns="0" bIns="0">
            <a:spAutoFit/>
          </a:bodyPr>
          <a:lstStyle/>
          <a:p>
            <a:pPr algn="ctr">
              <a:lnSpc>
                <a:spcPct val="108000"/>
              </a:lnSpc>
              <a:spcAft>
                <a:spcPts val="700"/>
              </a:spcAft>
              <a:defRPr sz="2100" b="1">
                <a:solidFill>
                  <a:srgbClr val="1E3F32"/>
                </a:solidFill>
                <a:latin typeface="Arial"/>
              </a:defRPr>
            </a:pPr>
            <a:r>
              <a:t>Quản trị &amp; điều phối</a:t>
            </a:r>
          </a:p>
        </p:txBody>
      </p:sp>
      <p:sp>
        <p:nvSpPr>
          <p:cNvPr id="38" name="Rounded Rectangle 37"/>
          <p:cNvSpPr/>
          <p:nvPr/>
        </p:nvSpPr>
        <p:spPr>
          <a:xfrm>
            <a:off x="685800" y="5660136"/>
            <a:ext cx="10917936" cy="484632"/>
          </a:xfrm>
          <a:prstGeom prst="roundRect">
            <a:avLst>
              <a:gd name="adj" fmla="val 10000"/>
            </a:avLst>
          </a:prstGeom>
          <a:solidFill>
            <a:srgbClr val="153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5256" y="5797296"/>
            <a:ext cx="10442448" cy="265176"/>
          </a:xfrm>
          <a:prstGeom prst="rect">
            <a:avLst/>
          </a:prstGeom>
          <a:noFill/>
        </p:spPr>
        <p:txBody>
          <a:bodyPr wrap="square" lIns="0" rIns="0" tIns="0" bIns="0">
            <a:spAutoFit/>
          </a:bodyPr>
          <a:lstStyle/>
          <a:p>
            <a:pPr>
              <a:lnSpc>
                <a:spcPct val="108000"/>
              </a:lnSpc>
              <a:spcAft>
                <a:spcPts val="700"/>
              </a:spcAft>
              <a:defRPr sz="1800" b="1">
                <a:solidFill>
                  <a:srgbClr val="FFFFFF"/>
                </a:solidFill>
                <a:latin typeface="Arial"/>
              </a:defRPr>
            </a:pPr>
            <a:r>
              <a:t>Tiếp theo: kiểm thử đầy đủ • tích hợp thanh toán thực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VCoi — Thu mua ve chai trực tuyến</dc:title>
  <dc:subject>Đồ án Thương mại điện tử • 5 slide • khoảng 2 phút 40 giây</dc:subject>
  <dc:creator>Nhóm đồ án VCoi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