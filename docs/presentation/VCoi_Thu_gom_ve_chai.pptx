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30 giây.</a:t>
            </a:r>
          </a:p>
          <a:p/>
          <a:p>
            <a:r>
              <a:t>Kính chào thầy cô và ban giám khảo. Nhóm chúng em giới thiệu VCoi, dự án kết nối người có nhu cầu bán ve chai với đại lý và nhân viên thu gom. Dự án kết hợp một nền tảng quản lý giao dịch với đề xuất thu gom thí điểm tại trường học hoặc địa phương. Logo chữ V trên slide là biểu trưng minh họa. Ảnh sử dụng từ thư mục public của dự án, không phải bằng chứng hoạt động thí điểm đã diễn ra.</a:t>
            </a:r>
          </a:p>
          <a:p/>
          <a:p>
            <a:r>
              <a:t>Nguồn: repository https://github.com/1250080247-cloud/VCOI, commit 2c804bc. Các con số về mục tiêu và ngân sách là đề xuất thí điểm, chưa phải kết quả thực tế.</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45 giây.</a:t>
            </a:r>
          </a:p>
          <a:p/>
          <a:p>
            <a:r>
              <a:t>Vấn đề dự án hướng tới gồm ba điểm. Thứ nhất, vật liệu có thể tái chế còn bị bỏ chung với rác sinh hoạt. Thứ hai, người bán và người thu gom chưa dễ thống nhất thời gian. Thứ ba, giao dịch thủ công khó đối chiếu khối lượng và đơn giá. Đây là các vấn đề cần khảo sát tại điểm thí điểm; nhóm chưa công bố số liệu thực trạng địa phương khi chưa có dữ liệu. VCoi tạo một luồng đặt lịch và ghi nhận giao dịch rõ ràng để giải quyết những bất tiện đó.</a:t>
            </a:r>
          </a:p>
          <a:p/>
          <a:p>
            <a:r>
              <a:t>Nguồn: repository https://github.com/1250080247-cloud/VCOI, commit 2c804bc. Các con số về mục tiêu và ngân sách là đề xuất thí điểm, chưa phải kết quả thực tế.</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45 giây.</a:t>
            </a:r>
          </a:p>
          <a:p/>
          <a:p>
            <a:r>
              <a:t>Trong bốn tuần đầu, nhóm đề xuất tiếp cận 50 người tham gia và thu gom 100 kg vật liệu. Đây là mục tiêu thí điểm, không phải thành tích đã đạt. Về sản phẩm, mục tiêu ngắn hạn là hoàn thiện luồng từ đặt lịch tới biên nhận, ghi rõ khối lượng và đơn giá. Về dài hạn, nhóm mong muốn duy trì lịch thu gom định kỳ và mở rộng sau khi đã đánh giá được hiệu quả, chi phí và phản hồi.</a:t>
            </a:r>
          </a:p>
          <a:p/>
          <a:p>
            <a:r>
              <a:t>Nguồn: repository https://github.com/1250080247-cloud/VCOI, commit 2c804bc. Các con số về mục tiêu và ngân sách là đề xuất thí điểm, chưa phải kết quả thực tế.</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90 giây.</a:t>
            </a:r>
          </a:p>
          <a:p/>
          <a:p>
            <a:r>
              <a:t>Mô hình có ba vai trò chính: khách bán ve chai, quản trị viên và nhân viên thu gom. Đầu tiên người tham gia phân loại giấy, nhựa và kim loại, giữ vật liệu sạch và khô. Sau đó khách đặt lịch trên VCoi. Quản trị viên xác nhận và phân công người phù hợp; hệ thống kiểm tra lịch trùng. Nhân viên đến nơi, cân thực tế và gửi báo giá. Khách có quyền chấp thuận hoặc từ chối trước khi ghi nhận chi trả. Hệ thống lưu lịch sử và biên nhận để các bên đối chiếu. Cuối cùng đại lý tập kết và chuyển vật liệu tới đơn vị tái chế. Cần phân biệt phạm vi: phần mềm hiện mô phỏng thanh toán, chưa chuyển tiền thật; hoạt động tái chế vật lý là phần vận hành đề xuất.</a:t>
            </a:r>
          </a:p>
          <a:p/>
          <a:p>
            <a:r>
              <a:t>Nguồn: repository https://github.com/1250080247-cloud/VCOI, commit 2c804bc. Các con số về mục tiêu và ngân sách là đề xuất thí điểm, chưa phải kết quả thực tế.</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60 giây.</a:t>
            </a:r>
          </a:p>
          <a:p/>
          <a:p>
            <a:r>
              <a:t>Lộ trình triển khai kéo dài bốn tuần. Tuần đầu khảo sát nhu cầu, chọn phạm vi và điểm tập kết được cho phép sử dụng. Tuần hai hoàn thiện các lỗi ưu tiên đã nhận diện, kiểm thử và hướng dẫn các vai trò. Tuần ba truyền thông, nhận lịch và thực hiện thu gom thí điểm. Tuần bốn đối chiếu khối lượng, chi phí và phản hồi để quyết định tiếp tục hay điều chỉnh. Mỗi tuần đều có một kết quả rõ ràng để nhóm theo dõi, không chỉ là danh sách công việc.</a:t>
            </a:r>
          </a:p>
          <a:p/>
          <a:p>
            <a:r>
              <a:t>Nguồn: repository https://github.com/1250080247-cloud/VCOI, commit 2c804bc. Các con số về mục tiêu và ngân sách là đề xuất thí điểm, chưa phải kết quả thực tế.</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60 giây.</a:t>
            </a:r>
          </a:p>
          <a:p/>
          <a:p>
            <a:r>
              <a:t>Nhóm đề xuất bốn người: một điều phối viên, hai người thu gom, một người phụ trách kỹ thuật và báo cáo. Điểm tập kết cần được cho phép sử dụng, có mái che và phân khu. Ngân sách minh họa cho vật tư, bảo hộ, vận chuyển, truyền thông và dự phòng là hai triệu đồng. Con số này cần được khảo giá và chưa bao gồm vốn trả tiền thu mua, thuê địa điểm hay hạ tầng triển khai phần mềm. Tiền thu mua phải được dự trù riêng theo khối lượng và đơn giá, vì khách hàng là người bán ve chai và nhận tiền.</a:t>
            </a:r>
          </a:p>
          <a:p/>
          <a:p>
            <a:r>
              <a:t>Nguồn: repository https://github.com/1250080247-cloud/VCOI, commit 2c804bc. Các con số về mục tiêu và ngân sách là đề xuất thí điểm, chưa phải kết quả thực tế.</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60 giây.</a:t>
            </a:r>
          </a:p>
          <a:p/>
          <a:p>
            <a:r>
              <a:t>Lợi ích môi trường trước hết là tăng lượng vật liệu được phân loại và chuyển tới nơi tái chế. Với người dân, hệ thống giúp chủ động lịch và hiểu rõ khối lượng, đơn giá. Với đại lý, thông tin đơn và khoản chi được quản lý tập trung. Nhóm sẽ đánh giá bằng số kilogram từng loại vật liệu, số người tham gia, tỷ lệ hoàn tất và mức độ hài lòng. Nếu phát triển quỹ xanh hoặc hoạt động thiện nguyện, việc trích tiền phải hoàn toàn tự nguyện và có công khai. Đây là hướng mở rộng, chưa phải tính năng gây quỹ đã được triển khai. Không quy đổi sang lượng CO2 giảm nếu chưa có phương pháp đo phù hợp.</a:t>
            </a:r>
          </a:p>
          <a:p/>
          <a:p>
            <a:r>
              <a:t>Nguồn: repository https://github.com/1250080247-cloud/VCOI, commit 2c804bc. Các con số về mục tiêu và ngân sách là đề xuất thí điểm, chưa phải kết quả thực tế.</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Thời lượng gợi ý: 30 giây.</a:t>
            </a:r>
          </a:p>
          <a:p/>
          <a:p>
            <a:r>
              <a:t>Nhóm mong nhận được sự đồng hành của ba phía. Người tham gia bắt đầu bằng việc phân loại và đăng ký một lịch thu gom. Nhà trường hoặc địa phương hỗ trợ truyền thông và điểm tập kết. Đối tác đồng hành vận chuyển và tiếp nhận vật liệu tái chế. Mời thầy cô và ban giám khảo xem mã nguồn hoặc góp ý cho phương án thí điểm. Xin cảm ơn. Thu gom hôm nay, xanh hơn ngày mai.</a:t>
            </a:r>
          </a:p>
          <a:p/>
          <a:p>
            <a:r>
              <a:t>Nguồn: repository https://github.com/1250080247-cloud/VCOI, commit 2c804bc. Các con số về mục tiêu và ngân sách là đề xuất thí điểm, chưa phải kết quả thực tế.</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1250080247-cloud/VCOI" TargetMode="External"/><Relationship Id="rId3"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3D30"/>
        </a:solidFill>
        <a:effectLst/>
      </p:bgPr>
    </p:bg>
    <p:spTree>
      <p:nvGrpSpPr>
        <p:cNvPr id="1" name=""/>
        <p:cNvGrpSpPr/>
        <p:nvPr/>
      </p:nvGrpSpPr>
      <p:grpSpPr/>
      <p:pic>
        <p:nvPicPr>
          <p:cNvPr id="2" name="Picture 1" descr="recycling-yard.jpg"/>
          <p:cNvPicPr>
            <a:picLocks noChangeAspect="1"/>
          </p:cNvPicPr>
          <p:nvPr/>
        </p:nvPicPr>
        <p:blipFill>
          <a:blip r:embed="rId2"/>
          <a:srcRect l="25113" r="25113"/>
          <a:stretch>
            <a:fillRect/>
          </a:stretch>
        </p:blipFill>
        <p:spPr>
          <a:xfrm>
            <a:off x="6126480" y="0"/>
            <a:ext cx="6065215" cy="6858000"/>
          </a:xfrm>
          <a:prstGeom prst="rect">
            <a:avLst/>
          </a:prstGeom>
        </p:spPr>
      </p:pic>
      <p:sp>
        <p:nvSpPr>
          <p:cNvPr id="3" name="Rectangle 2"/>
          <p:cNvSpPr/>
          <p:nvPr/>
        </p:nvSpPr>
        <p:spPr>
          <a:xfrm>
            <a:off x="0" y="0"/>
            <a:ext cx="6126480" cy="6858000"/>
          </a:xfrm>
          <a:prstGeom prst="rect">
            <a:avLst/>
          </a:prstGeom>
          <a:solidFill>
            <a:srgbClr val="143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603504" y="502920"/>
            <a:ext cx="475488" cy="475488"/>
          </a:xfrm>
          <a:prstGeom prst="ellipse">
            <a:avLst/>
          </a:prstGeom>
          <a:solidFill>
            <a:srgbClr val="C9E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3504" y="585216"/>
            <a:ext cx="475488" cy="274320"/>
          </a:xfrm>
          <a:prstGeom prst="rect">
            <a:avLst/>
          </a:prstGeom>
          <a:noFill/>
        </p:spPr>
        <p:txBody>
          <a:bodyPr wrap="square" lIns="0" rIns="0" tIns="0" bIns="0">
            <a:spAutoFit/>
          </a:bodyPr>
          <a:lstStyle/>
          <a:p>
            <a:pPr algn="ctr">
              <a:lnSpc>
                <a:spcPct val="110000"/>
              </a:lnSpc>
              <a:spcAft>
                <a:spcPts val="700"/>
              </a:spcAft>
              <a:defRPr sz="1900" b="1">
                <a:solidFill>
                  <a:srgbClr val="143D30"/>
                </a:solidFill>
                <a:latin typeface="Arial"/>
              </a:defRPr>
            </a:pPr>
            <a:r>
              <a:t>V</a:t>
            </a:r>
          </a:p>
        </p:txBody>
      </p:sp>
      <p:sp>
        <p:nvSpPr>
          <p:cNvPr id="6" name="TextBox 5"/>
          <p:cNvSpPr txBox="1"/>
          <p:nvPr/>
        </p:nvSpPr>
        <p:spPr>
          <a:xfrm>
            <a:off x="1234440" y="585216"/>
            <a:ext cx="3657600" cy="274320"/>
          </a:xfrm>
          <a:prstGeom prst="rect">
            <a:avLst/>
          </a:prstGeom>
          <a:noFill/>
        </p:spPr>
        <p:txBody>
          <a:bodyPr wrap="square" lIns="0" rIns="0" tIns="0" bIns="0">
            <a:spAutoFit/>
          </a:bodyPr>
          <a:lstStyle/>
          <a:p>
            <a:pPr>
              <a:lnSpc>
                <a:spcPct val="110000"/>
              </a:lnSpc>
              <a:spcAft>
                <a:spcPts val="700"/>
              </a:spcAft>
              <a:defRPr sz="1100" b="1">
                <a:solidFill>
                  <a:srgbClr val="C9EB8B"/>
                </a:solidFill>
                <a:latin typeface="Arial"/>
              </a:defRPr>
            </a:pPr>
            <a:r>
              <a:t>VCOI  /  DỰ ÁN THU GOM VE CHAI</a:t>
            </a:r>
          </a:p>
        </p:txBody>
      </p:sp>
      <p:sp>
        <p:nvSpPr>
          <p:cNvPr id="7" name="TextBox 6"/>
          <p:cNvSpPr txBox="1"/>
          <p:nvPr/>
        </p:nvSpPr>
        <p:spPr>
          <a:xfrm>
            <a:off x="594360" y="1508760"/>
            <a:ext cx="5257800" cy="914400"/>
          </a:xfrm>
          <a:prstGeom prst="rect">
            <a:avLst/>
          </a:prstGeom>
          <a:noFill/>
        </p:spPr>
        <p:txBody>
          <a:bodyPr wrap="square" lIns="0" rIns="0" tIns="0" bIns="0">
            <a:spAutoFit/>
          </a:bodyPr>
          <a:lstStyle/>
          <a:p>
            <a:pPr>
              <a:lnSpc>
                <a:spcPct val="110000"/>
              </a:lnSpc>
              <a:spcAft>
                <a:spcPts val="700"/>
              </a:spcAft>
              <a:defRPr sz="6400" b="1">
                <a:solidFill>
                  <a:srgbClr val="FFFFFF"/>
                </a:solidFill>
                <a:latin typeface="Arial"/>
              </a:defRPr>
            </a:pPr>
            <a:r>
              <a:t>VCoi</a:t>
            </a:r>
          </a:p>
        </p:txBody>
      </p:sp>
      <p:sp>
        <p:nvSpPr>
          <p:cNvPr id="8" name="TextBox 7"/>
          <p:cNvSpPr txBox="1"/>
          <p:nvPr/>
        </p:nvSpPr>
        <p:spPr>
          <a:xfrm>
            <a:off x="621792" y="2606040"/>
            <a:ext cx="5166360" cy="1417320"/>
          </a:xfrm>
          <a:prstGeom prst="rect">
            <a:avLst/>
          </a:prstGeom>
          <a:noFill/>
        </p:spPr>
        <p:txBody>
          <a:bodyPr wrap="square" lIns="0" rIns="0" tIns="0" bIns="0">
            <a:spAutoFit/>
          </a:bodyPr>
          <a:lstStyle/>
          <a:p>
            <a:pPr>
              <a:lnSpc>
                <a:spcPct val="110000"/>
              </a:lnSpc>
              <a:spcAft>
                <a:spcPts val="700"/>
              </a:spcAft>
              <a:defRPr sz="3400" b="1">
                <a:solidFill>
                  <a:srgbClr val="FFFFFF"/>
                </a:solidFill>
                <a:latin typeface="Arial"/>
              </a:defRPr>
            </a:pPr>
            <a:r>
              <a:t>Thu gom ve chai,</a:t>
            </a:r>
          </a:p>
          <a:p>
            <a:pPr>
              <a:lnSpc>
                <a:spcPct val="110000"/>
              </a:lnSpc>
              <a:spcAft>
                <a:spcPts val="700"/>
              </a:spcAft>
              <a:defRPr sz="3400" b="1">
                <a:solidFill>
                  <a:srgbClr val="FFFFFF"/>
                </a:solidFill>
                <a:latin typeface="Arial"/>
              </a:defRPr>
            </a:pPr>
            <a:r>
              <a:t>kết nối tái chế.</a:t>
            </a:r>
          </a:p>
        </p:txBody>
      </p:sp>
      <p:sp>
        <p:nvSpPr>
          <p:cNvPr id="9" name="TextBox 8"/>
          <p:cNvSpPr txBox="1"/>
          <p:nvPr/>
        </p:nvSpPr>
        <p:spPr>
          <a:xfrm>
            <a:off x="640080" y="4251960"/>
            <a:ext cx="4846320" cy="685800"/>
          </a:xfrm>
          <a:prstGeom prst="rect">
            <a:avLst/>
          </a:prstGeom>
          <a:noFill/>
        </p:spPr>
        <p:txBody>
          <a:bodyPr wrap="square" lIns="0" rIns="0" tIns="0" bIns="0">
            <a:spAutoFit/>
          </a:bodyPr>
          <a:lstStyle/>
          <a:p>
            <a:pPr>
              <a:lnSpc>
                <a:spcPct val="110000"/>
              </a:lnSpc>
              <a:spcAft>
                <a:spcPts val="700"/>
              </a:spcAft>
              <a:defRPr sz="2200" b="0">
                <a:solidFill>
                  <a:srgbClr val="C9EB8B"/>
                </a:solidFill>
                <a:latin typeface="Arial"/>
              </a:defRPr>
            </a:pPr>
            <a:r>
              <a:t>Thu gom hôm nay,</a:t>
            </a:r>
          </a:p>
          <a:p>
            <a:pPr>
              <a:lnSpc>
                <a:spcPct val="110000"/>
              </a:lnSpc>
              <a:spcAft>
                <a:spcPts val="700"/>
              </a:spcAft>
              <a:defRPr sz="2200" b="0">
                <a:solidFill>
                  <a:srgbClr val="C9EB8B"/>
                </a:solidFill>
                <a:latin typeface="Arial"/>
              </a:defRPr>
            </a:pPr>
            <a:r>
              <a:t>xanh hơn ngày mai.</a:t>
            </a:r>
          </a:p>
        </p:txBody>
      </p:sp>
      <p:sp>
        <p:nvSpPr>
          <p:cNvPr id="10" name="Rectangle 9"/>
          <p:cNvSpPr/>
          <p:nvPr/>
        </p:nvSpPr>
        <p:spPr>
          <a:xfrm>
            <a:off x="640080" y="5276088"/>
            <a:ext cx="4800600" cy="16459"/>
          </a:xfrm>
          <a:prstGeom prst="rect">
            <a:avLst/>
          </a:prstGeom>
          <a:solidFill>
            <a:srgbClr val="5571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5504688"/>
            <a:ext cx="4800600" cy="731520"/>
          </a:xfrm>
          <a:prstGeom prst="rect">
            <a:avLst/>
          </a:prstGeom>
          <a:noFill/>
        </p:spPr>
        <p:txBody>
          <a:bodyPr wrap="square" lIns="0" rIns="0" tIns="0" bIns="0">
            <a:spAutoFit/>
          </a:bodyPr>
          <a:lstStyle/>
          <a:p>
            <a:pPr>
              <a:lnSpc>
                <a:spcPct val="110000"/>
              </a:lnSpc>
              <a:spcAft>
                <a:spcPts val="700"/>
              </a:spcAft>
              <a:defRPr sz="1400" b="0">
                <a:solidFill>
                  <a:srgbClr val="C4D6C8"/>
                </a:solidFill>
                <a:latin typeface="Arial"/>
              </a:defRPr>
            </a:pPr>
            <a:r>
              <a:t>Nhóm thực hiện: [Tên nhóm]</a:t>
            </a:r>
          </a:p>
          <a:p>
            <a:pPr>
              <a:lnSpc>
                <a:spcPct val="110000"/>
              </a:lnSpc>
              <a:spcAft>
                <a:spcPts val="700"/>
              </a:spcAft>
              <a:defRPr sz="1400" b="0">
                <a:solidFill>
                  <a:srgbClr val="C4D6C8"/>
                </a:solidFill>
                <a:latin typeface="Arial"/>
              </a:defRPr>
            </a:pPr>
            <a:r>
              <a:t>[Lớp / Trường]  •  [Thành viên]</a:t>
            </a:r>
          </a:p>
        </p:txBody>
      </p:sp>
      <p:sp>
        <p:nvSpPr>
          <p:cNvPr id="12" name="Rounded Rectangle 11"/>
          <p:cNvSpPr/>
          <p:nvPr/>
        </p:nvSpPr>
        <p:spPr>
          <a:xfrm>
            <a:off x="9528048" y="457200"/>
            <a:ext cx="2057400" cy="31089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19488" y="512064"/>
            <a:ext cx="1874519" cy="210312"/>
          </a:xfrm>
          <a:prstGeom prst="rect">
            <a:avLst/>
          </a:prstGeom>
          <a:noFill/>
        </p:spPr>
        <p:txBody>
          <a:bodyPr wrap="square" lIns="0" rIns="0" tIns="0" bIns="0">
            <a:spAutoFit/>
          </a:bodyPr>
          <a:lstStyle/>
          <a:p>
            <a:pPr>
              <a:lnSpc>
                <a:spcPct val="110000"/>
              </a:lnSpc>
              <a:spcAft>
                <a:spcPts val="700"/>
              </a:spcAft>
              <a:defRPr sz="1000" b="1">
                <a:solidFill>
                  <a:srgbClr val="143D30"/>
                </a:solidFill>
                <a:latin typeface="Arial"/>
              </a:defRPr>
            </a:pPr>
            <a:r>
              <a:t>ĐỀ XUẤT THÍ ĐIỂM</a:t>
            </a:r>
          </a:p>
        </p:txBody>
      </p:sp>
      <p:sp>
        <p:nvSpPr>
          <p:cNvPr id="14" name="TextBox 13"/>
          <p:cNvSpPr txBox="1"/>
          <p:nvPr/>
        </p:nvSpPr>
        <p:spPr>
          <a:xfrm>
            <a:off x="6446520" y="6263640"/>
            <a:ext cx="5074920" cy="256032"/>
          </a:xfrm>
          <a:prstGeom prst="rect">
            <a:avLst/>
          </a:prstGeom>
          <a:noFill/>
        </p:spPr>
        <p:txBody>
          <a:bodyPr wrap="square" lIns="0" rIns="0" tIns="0" bIns="0">
            <a:spAutoFit/>
          </a:bodyPr>
          <a:lstStyle/>
          <a:p>
            <a:pPr>
              <a:lnSpc>
                <a:spcPct val="110000"/>
              </a:lnSpc>
              <a:spcAft>
                <a:spcPts val="700"/>
              </a:spcAft>
              <a:defRPr sz="1100" b="1">
                <a:solidFill>
                  <a:srgbClr val="FFFFFF"/>
                </a:solidFill>
                <a:latin typeface="Arial"/>
              </a:defRPr>
            </a:pPr>
            <a:r>
              <a:t>MỘT LỊCH HẸN. THÊM MỘT VÒNG TÁI CHẾ.</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EF"/>
        </a:solidFill>
        <a:effectLst/>
      </p:bgPr>
    </p:bg>
    <p:spTree>
      <p:nvGrpSpPr>
        <p:cNvPr id="1" name=""/>
        <p:cNvGrpSpPr/>
        <p:nvPr/>
      </p:nvGrpSpPr>
      <p:grpSpPr/>
      <p:sp>
        <p:nvSpPr>
          <p:cNvPr id="2" name="TextBox 1"/>
          <p:cNvSpPr txBox="1"/>
          <p:nvPr/>
        </p:nvSpPr>
        <p:spPr>
          <a:xfrm>
            <a:off x="594360" y="384048"/>
            <a:ext cx="10058400" cy="274320"/>
          </a:xfrm>
          <a:prstGeom prst="rect">
            <a:avLst/>
          </a:prstGeom>
          <a:noFill/>
        </p:spPr>
        <p:txBody>
          <a:bodyPr wrap="square" lIns="0" rIns="0" tIns="0" bIns="0">
            <a:spAutoFit/>
          </a:bodyPr>
          <a:lstStyle/>
          <a:p>
            <a:pPr>
              <a:lnSpc>
                <a:spcPct val="110000"/>
              </a:lnSpc>
              <a:spcAft>
                <a:spcPts val="700"/>
              </a:spcAft>
              <a:defRPr sz="1100" b="1">
                <a:solidFill>
                  <a:srgbClr val="286B4C"/>
                </a:solidFill>
                <a:latin typeface="Arial"/>
              </a:defRPr>
            </a:pPr>
            <a:r>
              <a:t>01 / ĐẶT VẤN ĐỀ</a:t>
            </a:r>
          </a:p>
        </p:txBody>
      </p:sp>
      <p:sp>
        <p:nvSpPr>
          <p:cNvPr id="3" name="TextBox 2"/>
          <p:cNvSpPr txBox="1"/>
          <p:nvPr/>
        </p:nvSpPr>
        <p:spPr>
          <a:xfrm>
            <a:off x="594360" y="868680"/>
            <a:ext cx="10972800" cy="914400"/>
          </a:xfrm>
          <a:prstGeom prst="rect">
            <a:avLst/>
          </a:prstGeom>
          <a:noFill/>
        </p:spPr>
        <p:txBody>
          <a:bodyPr wrap="square" lIns="0" rIns="0" tIns="0" bIns="0">
            <a:spAutoFit/>
          </a:bodyPr>
          <a:lstStyle/>
          <a:p>
            <a:pPr>
              <a:lnSpc>
                <a:spcPct val="110000"/>
              </a:lnSpc>
              <a:spcAft>
                <a:spcPts val="700"/>
              </a:spcAft>
              <a:defRPr sz="3200" b="1">
                <a:solidFill>
                  <a:srgbClr val="19382D"/>
                </a:solidFill>
                <a:latin typeface="Arial"/>
              </a:defRPr>
            </a:pPr>
            <a:r>
              <a:t>Vật liệu còn giá trị, nhưng dễ bị bỏ lỡ.</a:t>
            </a:r>
          </a:p>
        </p:txBody>
      </p:sp>
      <p:sp>
        <p:nvSpPr>
          <p:cNvPr id="4" name="TextBox 3"/>
          <p:cNvSpPr txBox="1"/>
          <p:nvPr/>
        </p:nvSpPr>
        <p:spPr>
          <a:xfrm>
            <a:off x="612648" y="1600200"/>
            <a:ext cx="10881360" cy="566928"/>
          </a:xfrm>
          <a:prstGeom prst="rect">
            <a:avLst/>
          </a:prstGeom>
          <a:noFill/>
        </p:spPr>
        <p:txBody>
          <a:bodyPr wrap="square" lIns="0" rIns="0" tIns="0" bIns="0">
            <a:spAutoFit/>
          </a:bodyPr>
          <a:lstStyle/>
          <a:p>
            <a:pPr>
              <a:lnSpc>
                <a:spcPct val="110000"/>
              </a:lnSpc>
              <a:spcAft>
                <a:spcPts val="700"/>
              </a:spcAft>
              <a:defRPr sz="1700" b="0">
                <a:solidFill>
                  <a:srgbClr val="65766A"/>
                </a:solidFill>
                <a:latin typeface="Arial"/>
              </a:defRPr>
            </a:pPr>
            <a:r>
              <a:t>Ba vấn đề VCoi hướng tới trong hoạt động thu gom tại trường học và địa phương.</a:t>
            </a:r>
          </a:p>
        </p:txBody>
      </p:sp>
      <p:sp>
        <p:nvSpPr>
          <p:cNvPr id="5" name="Rectangle 4"/>
          <p:cNvSpPr/>
          <p:nvPr/>
        </p:nvSpPr>
        <p:spPr>
          <a:xfrm>
            <a:off x="566928" y="6437376"/>
            <a:ext cx="11045952" cy="10972"/>
          </a:xfrm>
          <a:prstGeom prst="rect">
            <a:avLst/>
          </a:prstGeom>
          <a:solidFill>
            <a:srgbClr val="D8E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37960"/>
            <a:ext cx="6400800" cy="182880"/>
          </a:xfrm>
          <a:prstGeom prst="rect">
            <a:avLst/>
          </a:prstGeom>
          <a:noFill/>
        </p:spPr>
        <p:txBody>
          <a:bodyPr wrap="square" lIns="0" rIns="0" tIns="0" bIns="0">
            <a:spAutoFit/>
          </a:bodyPr>
          <a:lstStyle/>
          <a:p>
            <a:pPr>
              <a:lnSpc>
                <a:spcPct val="110000"/>
              </a:lnSpc>
              <a:spcAft>
                <a:spcPts val="700"/>
              </a:spcAft>
              <a:defRPr sz="900" b="0">
                <a:solidFill>
                  <a:srgbClr val="65766A"/>
                </a:solidFill>
                <a:latin typeface="Arial"/>
              </a:defRPr>
            </a:pPr>
            <a:r>
              <a:t>VCoi  /  Thu gom hôm nay, xanh hơn ngày mai</a:t>
            </a:r>
          </a:p>
        </p:txBody>
      </p:sp>
      <p:sp>
        <p:nvSpPr>
          <p:cNvPr id="7" name="TextBox 6"/>
          <p:cNvSpPr txBox="1"/>
          <p:nvPr/>
        </p:nvSpPr>
        <p:spPr>
          <a:xfrm>
            <a:off x="10698480" y="6519672"/>
            <a:ext cx="914400" cy="228600"/>
          </a:xfrm>
          <a:prstGeom prst="rect">
            <a:avLst/>
          </a:prstGeom>
          <a:noFill/>
        </p:spPr>
        <p:txBody>
          <a:bodyPr wrap="square" lIns="0" rIns="0" tIns="0" bIns="0">
            <a:spAutoFit/>
          </a:bodyPr>
          <a:lstStyle/>
          <a:p>
            <a:pPr algn="r">
              <a:lnSpc>
                <a:spcPct val="110000"/>
              </a:lnSpc>
              <a:spcAft>
                <a:spcPts val="700"/>
              </a:spcAft>
              <a:defRPr sz="1000" b="1">
                <a:solidFill>
                  <a:srgbClr val="65766A"/>
                </a:solidFill>
                <a:latin typeface="Arial"/>
              </a:defRPr>
            </a:pPr>
            <a:r>
              <a:t>02 / 08</a:t>
            </a:r>
          </a:p>
        </p:txBody>
      </p:sp>
      <p:sp>
        <p:nvSpPr>
          <p:cNvPr id="8" name="Rounded Rectangle 7"/>
          <p:cNvSpPr/>
          <p:nvPr/>
        </p:nvSpPr>
        <p:spPr>
          <a:xfrm>
            <a:off x="612648" y="2377440"/>
            <a:ext cx="3511296" cy="26060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2606040"/>
            <a:ext cx="640080" cy="411480"/>
          </a:xfrm>
          <a:prstGeom prst="rect">
            <a:avLst/>
          </a:prstGeom>
          <a:noFill/>
        </p:spPr>
        <p:txBody>
          <a:bodyPr wrap="square" lIns="0" rIns="0" tIns="0" bIns="0">
            <a:spAutoFit/>
          </a:bodyPr>
          <a:lstStyle/>
          <a:p>
            <a:pPr>
              <a:lnSpc>
                <a:spcPct val="110000"/>
              </a:lnSpc>
              <a:spcAft>
                <a:spcPts val="700"/>
              </a:spcAft>
              <a:defRPr sz="2500" b="1">
                <a:solidFill>
                  <a:srgbClr val="286B4C"/>
                </a:solidFill>
                <a:latin typeface="Arial"/>
              </a:defRPr>
            </a:pPr>
            <a:r>
              <a:t>01</a:t>
            </a:r>
          </a:p>
        </p:txBody>
      </p:sp>
      <p:sp>
        <p:nvSpPr>
          <p:cNvPr id="10" name="TextBox 9"/>
          <p:cNvSpPr txBox="1"/>
          <p:nvPr/>
        </p:nvSpPr>
        <p:spPr>
          <a:xfrm>
            <a:off x="822960" y="3246120"/>
            <a:ext cx="3090672" cy="384048"/>
          </a:xfrm>
          <a:prstGeom prst="rect">
            <a:avLst/>
          </a:prstGeom>
          <a:noFill/>
        </p:spPr>
        <p:txBody>
          <a:bodyPr wrap="square" lIns="0" rIns="0" tIns="0" bIns="0">
            <a:spAutoFit/>
          </a:bodyPr>
          <a:lstStyle/>
          <a:p>
            <a:pPr>
              <a:lnSpc>
                <a:spcPct val="110000"/>
              </a:lnSpc>
              <a:spcAft>
                <a:spcPts val="700"/>
              </a:spcAft>
              <a:defRPr sz="2300" b="1">
                <a:solidFill>
                  <a:srgbClr val="19382D"/>
                </a:solidFill>
                <a:latin typeface="Arial"/>
              </a:defRPr>
            </a:pPr>
            <a:r>
              <a:t>Phân loại chưa đều</a:t>
            </a:r>
          </a:p>
        </p:txBody>
      </p:sp>
      <p:sp>
        <p:nvSpPr>
          <p:cNvPr id="11" name="TextBox 10"/>
          <p:cNvSpPr txBox="1"/>
          <p:nvPr/>
        </p:nvSpPr>
        <p:spPr>
          <a:xfrm>
            <a:off x="822960" y="3794760"/>
            <a:ext cx="3090672" cy="1051560"/>
          </a:xfrm>
          <a:prstGeom prst="rect">
            <a:avLst/>
          </a:prstGeom>
          <a:noFill/>
        </p:spPr>
        <p:txBody>
          <a:bodyPr wrap="square" lIns="0" rIns="0" tIns="0" bIns="0">
            <a:spAutoFit/>
          </a:bodyPr>
          <a:lstStyle/>
          <a:p>
            <a:pPr>
              <a:lnSpc>
                <a:spcPct val="110000"/>
              </a:lnSpc>
              <a:spcAft>
                <a:spcPts val="700"/>
              </a:spcAft>
              <a:defRPr sz="1800" b="0">
                <a:solidFill>
                  <a:srgbClr val="65766A"/>
                </a:solidFill>
                <a:latin typeface="Arial"/>
              </a:defRPr>
            </a:pPr>
            <a:r>
              <a:t>Giấy, nhựa, kim loại</a:t>
            </a:r>
          </a:p>
          <a:p>
            <a:pPr>
              <a:lnSpc>
                <a:spcPct val="110000"/>
              </a:lnSpc>
              <a:spcAft>
                <a:spcPts val="700"/>
              </a:spcAft>
              <a:defRPr sz="1800" b="0">
                <a:solidFill>
                  <a:srgbClr val="65766A"/>
                </a:solidFill>
                <a:latin typeface="Arial"/>
              </a:defRPr>
            </a:pPr>
            <a:r>
              <a:t>còn bị trộn với</a:t>
            </a:r>
          </a:p>
          <a:p>
            <a:pPr>
              <a:lnSpc>
                <a:spcPct val="110000"/>
              </a:lnSpc>
              <a:spcAft>
                <a:spcPts val="700"/>
              </a:spcAft>
              <a:defRPr sz="1800" b="0">
                <a:solidFill>
                  <a:srgbClr val="65766A"/>
                </a:solidFill>
                <a:latin typeface="Arial"/>
              </a:defRPr>
            </a:pPr>
            <a:r>
              <a:t>rác sinh hoạt.</a:t>
            </a:r>
          </a:p>
        </p:txBody>
      </p:sp>
      <p:sp>
        <p:nvSpPr>
          <p:cNvPr id="12" name="Rounded Rectangle 11"/>
          <p:cNvSpPr/>
          <p:nvPr/>
        </p:nvSpPr>
        <p:spPr>
          <a:xfrm>
            <a:off x="4343400" y="2377440"/>
            <a:ext cx="3511296" cy="26060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2606040"/>
            <a:ext cx="640080" cy="411480"/>
          </a:xfrm>
          <a:prstGeom prst="rect">
            <a:avLst/>
          </a:prstGeom>
          <a:noFill/>
        </p:spPr>
        <p:txBody>
          <a:bodyPr wrap="square" lIns="0" rIns="0" tIns="0" bIns="0">
            <a:spAutoFit/>
          </a:bodyPr>
          <a:lstStyle/>
          <a:p>
            <a:pPr>
              <a:lnSpc>
                <a:spcPct val="110000"/>
              </a:lnSpc>
              <a:spcAft>
                <a:spcPts val="700"/>
              </a:spcAft>
              <a:defRPr sz="2500" b="1">
                <a:solidFill>
                  <a:srgbClr val="286B4C"/>
                </a:solidFill>
                <a:latin typeface="Arial"/>
              </a:defRPr>
            </a:pPr>
            <a:r>
              <a:t>02</a:t>
            </a:r>
          </a:p>
        </p:txBody>
      </p:sp>
      <p:sp>
        <p:nvSpPr>
          <p:cNvPr id="14" name="TextBox 13"/>
          <p:cNvSpPr txBox="1"/>
          <p:nvPr/>
        </p:nvSpPr>
        <p:spPr>
          <a:xfrm>
            <a:off x="4553712" y="3246120"/>
            <a:ext cx="3090672" cy="384048"/>
          </a:xfrm>
          <a:prstGeom prst="rect">
            <a:avLst/>
          </a:prstGeom>
          <a:noFill/>
        </p:spPr>
        <p:txBody>
          <a:bodyPr wrap="square" lIns="0" rIns="0" tIns="0" bIns="0">
            <a:spAutoFit/>
          </a:bodyPr>
          <a:lstStyle/>
          <a:p>
            <a:pPr>
              <a:lnSpc>
                <a:spcPct val="110000"/>
              </a:lnSpc>
              <a:spcAft>
                <a:spcPts val="700"/>
              </a:spcAft>
              <a:defRPr sz="2300" b="1">
                <a:solidFill>
                  <a:srgbClr val="19382D"/>
                </a:solidFill>
                <a:latin typeface="Arial"/>
              </a:defRPr>
            </a:pPr>
            <a:r>
              <a:t>Khó chủ động lịch</a:t>
            </a:r>
          </a:p>
        </p:txBody>
      </p:sp>
      <p:sp>
        <p:nvSpPr>
          <p:cNvPr id="15" name="TextBox 14"/>
          <p:cNvSpPr txBox="1"/>
          <p:nvPr/>
        </p:nvSpPr>
        <p:spPr>
          <a:xfrm>
            <a:off x="4553712" y="3794760"/>
            <a:ext cx="3090672" cy="1051560"/>
          </a:xfrm>
          <a:prstGeom prst="rect">
            <a:avLst/>
          </a:prstGeom>
          <a:noFill/>
        </p:spPr>
        <p:txBody>
          <a:bodyPr wrap="square" lIns="0" rIns="0" tIns="0" bIns="0">
            <a:spAutoFit/>
          </a:bodyPr>
          <a:lstStyle/>
          <a:p>
            <a:pPr>
              <a:lnSpc>
                <a:spcPct val="110000"/>
              </a:lnSpc>
              <a:spcAft>
                <a:spcPts val="700"/>
              </a:spcAft>
              <a:defRPr sz="1800" b="0">
                <a:solidFill>
                  <a:srgbClr val="65766A"/>
                </a:solidFill>
                <a:latin typeface="Arial"/>
              </a:defRPr>
            </a:pPr>
            <a:r>
              <a:t>Người bán khó hẹn giờ;</a:t>
            </a:r>
          </a:p>
          <a:p>
            <a:pPr>
              <a:lnSpc>
                <a:spcPct val="110000"/>
              </a:lnSpc>
              <a:spcAft>
                <a:spcPts val="700"/>
              </a:spcAft>
              <a:defRPr sz="1800" b="0">
                <a:solidFill>
                  <a:srgbClr val="65766A"/>
                </a:solidFill>
                <a:latin typeface="Arial"/>
              </a:defRPr>
            </a:pPr>
            <a:r>
              <a:t>người thu gom khó</a:t>
            </a:r>
          </a:p>
          <a:p>
            <a:pPr>
              <a:lnSpc>
                <a:spcPct val="110000"/>
              </a:lnSpc>
              <a:spcAft>
                <a:spcPts val="700"/>
              </a:spcAft>
              <a:defRPr sz="1800" b="0">
                <a:solidFill>
                  <a:srgbClr val="65766A"/>
                </a:solidFill>
                <a:latin typeface="Arial"/>
              </a:defRPr>
            </a:pPr>
            <a:r>
              <a:t>sắp xếp chuyến đi.</a:t>
            </a:r>
          </a:p>
        </p:txBody>
      </p:sp>
      <p:sp>
        <p:nvSpPr>
          <p:cNvPr id="16" name="Rounded Rectangle 15"/>
          <p:cNvSpPr/>
          <p:nvPr/>
        </p:nvSpPr>
        <p:spPr>
          <a:xfrm>
            <a:off x="8074152" y="2377440"/>
            <a:ext cx="3511296" cy="260604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84464" y="2606040"/>
            <a:ext cx="640080" cy="411480"/>
          </a:xfrm>
          <a:prstGeom prst="rect">
            <a:avLst/>
          </a:prstGeom>
          <a:noFill/>
        </p:spPr>
        <p:txBody>
          <a:bodyPr wrap="square" lIns="0" rIns="0" tIns="0" bIns="0">
            <a:spAutoFit/>
          </a:bodyPr>
          <a:lstStyle/>
          <a:p>
            <a:pPr>
              <a:lnSpc>
                <a:spcPct val="110000"/>
              </a:lnSpc>
              <a:spcAft>
                <a:spcPts val="700"/>
              </a:spcAft>
              <a:defRPr sz="2500" b="1">
                <a:solidFill>
                  <a:srgbClr val="286B4C"/>
                </a:solidFill>
                <a:latin typeface="Arial"/>
              </a:defRPr>
            </a:pPr>
            <a:r>
              <a:t>03</a:t>
            </a:r>
          </a:p>
        </p:txBody>
      </p:sp>
      <p:sp>
        <p:nvSpPr>
          <p:cNvPr id="18" name="TextBox 17"/>
          <p:cNvSpPr txBox="1"/>
          <p:nvPr/>
        </p:nvSpPr>
        <p:spPr>
          <a:xfrm>
            <a:off x="8284464" y="3246120"/>
            <a:ext cx="3090672" cy="384048"/>
          </a:xfrm>
          <a:prstGeom prst="rect">
            <a:avLst/>
          </a:prstGeom>
          <a:noFill/>
        </p:spPr>
        <p:txBody>
          <a:bodyPr wrap="square" lIns="0" rIns="0" tIns="0" bIns="0">
            <a:spAutoFit/>
          </a:bodyPr>
          <a:lstStyle/>
          <a:p>
            <a:pPr>
              <a:lnSpc>
                <a:spcPct val="110000"/>
              </a:lnSpc>
              <a:spcAft>
                <a:spcPts val="700"/>
              </a:spcAft>
              <a:defRPr sz="2300" b="1">
                <a:solidFill>
                  <a:srgbClr val="19382D"/>
                </a:solidFill>
                <a:latin typeface="Arial"/>
              </a:defRPr>
            </a:pPr>
            <a:r>
              <a:t>Khó đối chiếu</a:t>
            </a:r>
          </a:p>
        </p:txBody>
      </p:sp>
      <p:sp>
        <p:nvSpPr>
          <p:cNvPr id="19" name="TextBox 18"/>
          <p:cNvSpPr txBox="1"/>
          <p:nvPr/>
        </p:nvSpPr>
        <p:spPr>
          <a:xfrm>
            <a:off x="8284464" y="3794760"/>
            <a:ext cx="3090672" cy="1051560"/>
          </a:xfrm>
          <a:prstGeom prst="rect">
            <a:avLst/>
          </a:prstGeom>
          <a:noFill/>
        </p:spPr>
        <p:txBody>
          <a:bodyPr wrap="square" lIns="0" rIns="0" tIns="0" bIns="0">
            <a:spAutoFit/>
          </a:bodyPr>
          <a:lstStyle/>
          <a:p>
            <a:pPr>
              <a:lnSpc>
                <a:spcPct val="110000"/>
              </a:lnSpc>
              <a:spcAft>
                <a:spcPts val="700"/>
              </a:spcAft>
              <a:defRPr sz="1800" b="0">
                <a:solidFill>
                  <a:srgbClr val="65766A"/>
                </a:solidFill>
                <a:latin typeface="Arial"/>
              </a:defRPr>
            </a:pPr>
            <a:r>
              <a:t>Thông tin cân, giá</a:t>
            </a:r>
          </a:p>
          <a:p>
            <a:pPr>
              <a:lnSpc>
                <a:spcPct val="110000"/>
              </a:lnSpc>
              <a:spcAft>
                <a:spcPts val="700"/>
              </a:spcAft>
              <a:defRPr sz="1800" b="0">
                <a:solidFill>
                  <a:srgbClr val="65766A"/>
                </a:solidFill>
                <a:latin typeface="Arial"/>
              </a:defRPr>
            </a:pPr>
            <a:r>
              <a:t>và khoản chi thủ công</a:t>
            </a:r>
          </a:p>
          <a:p>
            <a:pPr>
              <a:lnSpc>
                <a:spcPct val="110000"/>
              </a:lnSpc>
              <a:spcAft>
                <a:spcPts val="700"/>
              </a:spcAft>
              <a:defRPr sz="1800" b="0">
                <a:solidFill>
                  <a:srgbClr val="65766A"/>
                </a:solidFill>
                <a:latin typeface="Arial"/>
              </a:defRPr>
            </a:pPr>
            <a:r>
              <a:t>khó theo dõi lại.</a:t>
            </a:r>
          </a:p>
        </p:txBody>
      </p:sp>
      <p:sp>
        <p:nvSpPr>
          <p:cNvPr id="20" name="Rounded Rectangle 19"/>
          <p:cNvSpPr/>
          <p:nvPr/>
        </p:nvSpPr>
        <p:spPr>
          <a:xfrm>
            <a:off x="612648" y="5349240"/>
            <a:ext cx="10972800" cy="749808"/>
          </a:xfrm>
          <a:prstGeom prst="roundRect">
            <a:avLst>
              <a:gd name="adj" fmla="val 12000"/>
            </a:avLst>
          </a:prstGeom>
          <a:solidFill>
            <a:srgbClr val="143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59536" y="5550408"/>
            <a:ext cx="10515600" cy="347472"/>
          </a:xfrm>
          <a:prstGeom prst="rect">
            <a:avLst/>
          </a:prstGeom>
          <a:noFill/>
        </p:spPr>
        <p:txBody>
          <a:bodyPr wrap="square" lIns="0" rIns="0" tIns="0" bIns="0">
            <a:spAutoFit/>
          </a:bodyPr>
          <a:lstStyle/>
          <a:p>
            <a:pPr>
              <a:lnSpc>
                <a:spcPct val="110000"/>
              </a:lnSpc>
              <a:spcAft>
                <a:spcPts val="700"/>
              </a:spcAft>
              <a:defRPr sz="1900" b="1">
                <a:solidFill>
                  <a:srgbClr val="FFFFFF"/>
                </a:solidFill>
                <a:latin typeface="Arial"/>
              </a:defRPr>
            </a:pPr>
            <a:r>
              <a:t>CƠ HỘI  →  Đặt lịch thuận tiện • Thu gom có tổ chức • Thông tin minh bạch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43D30"/>
        </a:solidFill>
        <a:effectLst/>
      </p:bgPr>
    </p:bg>
    <p:spTree>
      <p:nvGrpSpPr>
        <p:cNvPr id="1" name=""/>
        <p:cNvGrpSpPr/>
        <p:nvPr/>
      </p:nvGrpSpPr>
      <p:grpSpPr/>
      <p:sp>
        <p:nvSpPr>
          <p:cNvPr id="2" name="TextBox 1"/>
          <p:cNvSpPr txBox="1"/>
          <p:nvPr/>
        </p:nvSpPr>
        <p:spPr>
          <a:xfrm>
            <a:off x="594360" y="384048"/>
            <a:ext cx="10058400" cy="274320"/>
          </a:xfrm>
          <a:prstGeom prst="rect">
            <a:avLst/>
          </a:prstGeom>
          <a:noFill/>
        </p:spPr>
        <p:txBody>
          <a:bodyPr wrap="square" lIns="0" rIns="0" tIns="0" bIns="0">
            <a:spAutoFit/>
          </a:bodyPr>
          <a:lstStyle/>
          <a:p>
            <a:pPr>
              <a:lnSpc>
                <a:spcPct val="110000"/>
              </a:lnSpc>
              <a:spcAft>
                <a:spcPts val="700"/>
              </a:spcAft>
              <a:defRPr sz="1100" b="1">
                <a:solidFill>
                  <a:srgbClr val="C9EB8B"/>
                </a:solidFill>
                <a:latin typeface="Arial"/>
              </a:defRPr>
            </a:pPr>
            <a:r>
              <a:t>02 / MỤC TIÊU</a:t>
            </a:r>
          </a:p>
        </p:txBody>
      </p:sp>
      <p:sp>
        <p:nvSpPr>
          <p:cNvPr id="3" name="TextBox 2"/>
          <p:cNvSpPr txBox="1"/>
          <p:nvPr/>
        </p:nvSpPr>
        <p:spPr>
          <a:xfrm>
            <a:off x="594360" y="868680"/>
            <a:ext cx="10972800" cy="914400"/>
          </a:xfrm>
          <a:prstGeom prst="rect">
            <a:avLst/>
          </a:prstGeom>
          <a:noFill/>
        </p:spPr>
        <p:txBody>
          <a:bodyPr wrap="square" lIns="0" rIns="0" tIns="0" bIns="0">
            <a:spAutoFit/>
          </a:bodyPr>
          <a:lstStyle/>
          <a:p>
            <a:pPr>
              <a:lnSpc>
                <a:spcPct val="110000"/>
              </a:lnSpc>
              <a:spcAft>
                <a:spcPts val="700"/>
              </a:spcAft>
              <a:defRPr sz="3200" b="1">
                <a:solidFill>
                  <a:srgbClr val="FFFFFF"/>
                </a:solidFill>
                <a:latin typeface="Arial"/>
              </a:defRPr>
            </a:pPr>
            <a:r>
              <a:t>Thí điểm nhỏ. Đo lường rõ.</a:t>
            </a:r>
          </a:p>
        </p:txBody>
      </p:sp>
      <p:sp>
        <p:nvSpPr>
          <p:cNvPr id="4" name="TextBox 3"/>
          <p:cNvSpPr txBox="1"/>
          <p:nvPr/>
        </p:nvSpPr>
        <p:spPr>
          <a:xfrm>
            <a:off x="612648" y="1600200"/>
            <a:ext cx="10881360" cy="566928"/>
          </a:xfrm>
          <a:prstGeom prst="rect">
            <a:avLst/>
          </a:prstGeom>
          <a:noFill/>
        </p:spPr>
        <p:txBody>
          <a:bodyPr wrap="square" lIns="0" rIns="0" tIns="0" bIns="0">
            <a:spAutoFit/>
          </a:bodyPr>
          <a:lstStyle/>
          <a:p>
            <a:pPr>
              <a:lnSpc>
                <a:spcPct val="110000"/>
              </a:lnSpc>
              <a:spcAft>
                <a:spcPts val="700"/>
              </a:spcAft>
              <a:defRPr sz="1700" b="0">
                <a:solidFill>
                  <a:srgbClr val="C4D6C8"/>
                </a:solidFill>
                <a:latin typeface="Arial"/>
              </a:defRPr>
            </a:pPr>
            <a:r>
              <a:t>Các chỉ tiêu dưới đây là mục tiêu đề xuất cho giai đoạn đầu.</a:t>
            </a:r>
          </a:p>
        </p:txBody>
      </p:sp>
      <p:sp>
        <p:nvSpPr>
          <p:cNvPr id="5" name="Rectangle 4"/>
          <p:cNvSpPr/>
          <p:nvPr/>
        </p:nvSpPr>
        <p:spPr>
          <a:xfrm>
            <a:off x="566928" y="6437376"/>
            <a:ext cx="11045952" cy="10972"/>
          </a:xfrm>
          <a:prstGeom prst="rect">
            <a:avLst/>
          </a:prstGeom>
          <a:solidFill>
            <a:srgbClr val="3C5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37960"/>
            <a:ext cx="6400800" cy="182880"/>
          </a:xfrm>
          <a:prstGeom prst="rect">
            <a:avLst/>
          </a:prstGeom>
          <a:noFill/>
        </p:spPr>
        <p:txBody>
          <a:bodyPr wrap="square" lIns="0" rIns="0" tIns="0" bIns="0">
            <a:spAutoFit/>
          </a:bodyPr>
          <a:lstStyle/>
          <a:p>
            <a:pPr>
              <a:lnSpc>
                <a:spcPct val="110000"/>
              </a:lnSpc>
              <a:spcAft>
                <a:spcPts val="700"/>
              </a:spcAft>
              <a:defRPr sz="900" b="0">
                <a:solidFill>
                  <a:srgbClr val="ABC1B4"/>
                </a:solidFill>
                <a:latin typeface="Arial"/>
              </a:defRPr>
            </a:pPr>
            <a:r>
              <a:t>VCoi  /  Thu gom hôm nay, xanh hơn ngày mai</a:t>
            </a:r>
          </a:p>
        </p:txBody>
      </p:sp>
      <p:sp>
        <p:nvSpPr>
          <p:cNvPr id="7" name="TextBox 6"/>
          <p:cNvSpPr txBox="1"/>
          <p:nvPr/>
        </p:nvSpPr>
        <p:spPr>
          <a:xfrm>
            <a:off x="10698480" y="6519672"/>
            <a:ext cx="914400" cy="228600"/>
          </a:xfrm>
          <a:prstGeom prst="rect">
            <a:avLst/>
          </a:prstGeom>
          <a:noFill/>
        </p:spPr>
        <p:txBody>
          <a:bodyPr wrap="square" lIns="0" rIns="0" tIns="0" bIns="0">
            <a:spAutoFit/>
          </a:bodyPr>
          <a:lstStyle/>
          <a:p>
            <a:pPr algn="r">
              <a:lnSpc>
                <a:spcPct val="110000"/>
              </a:lnSpc>
              <a:spcAft>
                <a:spcPts val="700"/>
              </a:spcAft>
              <a:defRPr sz="1000" b="1">
                <a:solidFill>
                  <a:srgbClr val="ABC1B4"/>
                </a:solidFill>
                <a:latin typeface="Arial"/>
              </a:defRPr>
            </a:pPr>
            <a:r>
              <a:t>03 / 08</a:t>
            </a:r>
          </a:p>
        </p:txBody>
      </p:sp>
      <p:sp>
        <p:nvSpPr>
          <p:cNvPr id="8" name="Rounded Rectangle 7"/>
          <p:cNvSpPr/>
          <p:nvPr/>
        </p:nvSpPr>
        <p:spPr>
          <a:xfrm>
            <a:off x="612648" y="2359152"/>
            <a:ext cx="3502152" cy="1554480"/>
          </a:xfrm>
          <a:prstGeom prst="roundRect">
            <a:avLst>
              <a:gd name="adj" fmla="val 12000"/>
            </a:avLst>
          </a:prstGeom>
          <a:solidFill>
            <a:srgbClr val="2450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2578608"/>
            <a:ext cx="3044952" cy="685800"/>
          </a:xfrm>
          <a:prstGeom prst="rect">
            <a:avLst/>
          </a:prstGeom>
          <a:noFill/>
        </p:spPr>
        <p:txBody>
          <a:bodyPr wrap="square" lIns="0" rIns="0" tIns="0" bIns="0">
            <a:spAutoFit/>
          </a:bodyPr>
          <a:lstStyle/>
          <a:p>
            <a:pPr>
              <a:lnSpc>
                <a:spcPct val="110000"/>
              </a:lnSpc>
              <a:spcAft>
                <a:spcPts val="700"/>
              </a:spcAft>
              <a:defRPr sz="4300" b="1">
                <a:solidFill>
                  <a:srgbClr val="C9EB8B"/>
                </a:solidFill>
                <a:latin typeface="Arial"/>
              </a:defRPr>
            </a:pPr>
            <a:r>
              <a:t>50</a:t>
            </a:r>
          </a:p>
        </p:txBody>
      </p:sp>
      <p:sp>
        <p:nvSpPr>
          <p:cNvPr id="10" name="TextBox 9"/>
          <p:cNvSpPr txBox="1"/>
          <p:nvPr/>
        </p:nvSpPr>
        <p:spPr>
          <a:xfrm>
            <a:off x="841248" y="3383280"/>
            <a:ext cx="3044952" cy="320040"/>
          </a:xfrm>
          <a:prstGeom prst="rect">
            <a:avLst/>
          </a:prstGeom>
          <a:noFill/>
        </p:spPr>
        <p:txBody>
          <a:bodyPr wrap="square" lIns="0" rIns="0" tIns="0" bIns="0">
            <a:spAutoFit/>
          </a:bodyPr>
          <a:lstStyle/>
          <a:p>
            <a:pPr>
              <a:lnSpc>
                <a:spcPct val="110000"/>
              </a:lnSpc>
              <a:spcAft>
                <a:spcPts val="700"/>
              </a:spcAft>
              <a:defRPr sz="1800" b="0">
                <a:solidFill>
                  <a:srgbClr val="FFFFFF"/>
                </a:solidFill>
                <a:latin typeface="Arial"/>
              </a:defRPr>
            </a:pPr>
            <a:r>
              <a:t>người tham gia</a:t>
            </a:r>
          </a:p>
        </p:txBody>
      </p:sp>
      <p:sp>
        <p:nvSpPr>
          <p:cNvPr id="11" name="Rounded Rectangle 10"/>
          <p:cNvSpPr/>
          <p:nvPr/>
        </p:nvSpPr>
        <p:spPr>
          <a:xfrm>
            <a:off x="4352544" y="2359152"/>
            <a:ext cx="3502152" cy="1554480"/>
          </a:xfrm>
          <a:prstGeom prst="roundRect">
            <a:avLst>
              <a:gd name="adj" fmla="val 12000"/>
            </a:avLst>
          </a:prstGeom>
          <a:solidFill>
            <a:srgbClr val="2450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81144" y="2578608"/>
            <a:ext cx="3044952" cy="685800"/>
          </a:xfrm>
          <a:prstGeom prst="rect">
            <a:avLst/>
          </a:prstGeom>
          <a:noFill/>
        </p:spPr>
        <p:txBody>
          <a:bodyPr wrap="square" lIns="0" rIns="0" tIns="0" bIns="0">
            <a:spAutoFit/>
          </a:bodyPr>
          <a:lstStyle/>
          <a:p>
            <a:pPr>
              <a:lnSpc>
                <a:spcPct val="110000"/>
              </a:lnSpc>
              <a:spcAft>
                <a:spcPts val="700"/>
              </a:spcAft>
              <a:defRPr sz="4300" b="1">
                <a:solidFill>
                  <a:srgbClr val="C9EB8B"/>
                </a:solidFill>
                <a:latin typeface="Arial"/>
              </a:defRPr>
            </a:pPr>
            <a:r>
              <a:t>100 kg</a:t>
            </a:r>
          </a:p>
        </p:txBody>
      </p:sp>
      <p:sp>
        <p:nvSpPr>
          <p:cNvPr id="13" name="TextBox 12"/>
          <p:cNvSpPr txBox="1"/>
          <p:nvPr/>
        </p:nvSpPr>
        <p:spPr>
          <a:xfrm>
            <a:off x="4581144" y="3383280"/>
            <a:ext cx="3044952" cy="320040"/>
          </a:xfrm>
          <a:prstGeom prst="rect">
            <a:avLst/>
          </a:prstGeom>
          <a:noFill/>
        </p:spPr>
        <p:txBody>
          <a:bodyPr wrap="square" lIns="0" rIns="0" tIns="0" bIns="0">
            <a:spAutoFit/>
          </a:bodyPr>
          <a:lstStyle/>
          <a:p>
            <a:pPr>
              <a:lnSpc>
                <a:spcPct val="110000"/>
              </a:lnSpc>
              <a:spcAft>
                <a:spcPts val="700"/>
              </a:spcAft>
              <a:defRPr sz="1800" b="0">
                <a:solidFill>
                  <a:srgbClr val="FFFFFF"/>
                </a:solidFill>
                <a:latin typeface="Arial"/>
              </a:defRPr>
            </a:pPr>
            <a:r>
              <a:t>vật liệu thu gom</a:t>
            </a:r>
          </a:p>
        </p:txBody>
      </p:sp>
      <p:sp>
        <p:nvSpPr>
          <p:cNvPr id="14" name="Rounded Rectangle 13"/>
          <p:cNvSpPr/>
          <p:nvPr/>
        </p:nvSpPr>
        <p:spPr>
          <a:xfrm>
            <a:off x="8092440" y="2359152"/>
            <a:ext cx="3502152" cy="1554480"/>
          </a:xfrm>
          <a:prstGeom prst="roundRect">
            <a:avLst>
              <a:gd name="adj" fmla="val 12000"/>
            </a:avLst>
          </a:prstGeom>
          <a:solidFill>
            <a:srgbClr val="2450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1040" y="2578608"/>
            <a:ext cx="3044952" cy="685800"/>
          </a:xfrm>
          <a:prstGeom prst="rect">
            <a:avLst/>
          </a:prstGeom>
          <a:noFill/>
        </p:spPr>
        <p:txBody>
          <a:bodyPr wrap="square" lIns="0" rIns="0" tIns="0" bIns="0">
            <a:spAutoFit/>
          </a:bodyPr>
          <a:lstStyle/>
          <a:p>
            <a:pPr>
              <a:lnSpc>
                <a:spcPct val="110000"/>
              </a:lnSpc>
              <a:spcAft>
                <a:spcPts val="700"/>
              </a:spcAft>
              <a:defRPr sz="4300" b="1">
                <a:solidFill>
                  <a:srgbClr val="C9EB8B"/>
                </a:solidFill>
                <a:latin typeface="Arial"/>
              </a:defRPr>
            </a:pPr>
            <a:r>
              <a:t>4 tuần</a:t>
            </a:r>
          </a:p>
        </p:txBody>
      </p:sp>
      <p:sp>
        <p:nvSpPr>
          <p:cNvPr id="16" name="TextBox 15"/>
          <p:cNvSpPr txBox="1"/>
          <p:nvPr/>
        </p:nvSpPr>
        <p:spPr>
          <a:xfrm>
            <a:off x="8321040" y="3383280"/>
            <a:ext cx="3044952" cy="320040"/>
          </a:xfrm>
          <a:prstGeom prst="rect">
            <a:avLst/>
          </a:prstGeom>
          <a:noFill/>
        </p:spPr>
        <p:txBody>
          <a:bodyPr wrap="square" lIns="0" rIns="0" tIns="0" bIns="0">
            <a:spAutoFit/>
          </a:bodyPr>
          <a:lstStyle/>
          <a:p>
            <a:pPr>
              <a:lnSpc>
                <a:spcPct val="110000"/>
              </a:lnSpc>
              <a:spcAft>
                <a:spcPts val="700"/>
              </a:spcAft>
              <a:defRPr sz="1800" b="0">
                <a:solidFill>
                  <a:srgbClr val="FFFFFF"/>
                </a:solidFill>
                <a:latin typeface="Arial"/>
              </a:defRPr>
            </a:pPr>
            <a:r>
              <a:t>thời gian thí điểm</a:t>
            </a:r>
          </a:p>
        </p:txBody>
      </p:sp>
      <p:sp>
        <p:nvSpPr>
          <p:cNvPr id="17" name="TextBox 16"/>
          <p:cNvSpPr txBox="1"/>
          <p:nvPr/>
        </p:nvSpPr>
        <p:spPr>
          <a:xfrm>
            <a:off x="640080" y="4370832"/>
            <a:ext cx="5120640" cy="365760"/>
          </a:xfrm>
          <a:prstGeom prst="rect">
            <a:avLst/>
          </a:prstGeom>
          <a:noFill/>
        </p:spPr>
        <p:txBody>
          <a:bodyPr wrap="square" lIns="0" rIns="0" tIns="0" bIns="0">
            <a:spAutoFit/>
          </a:bodyPr>
          <a:lstStyle/>
          <a:p>
            <a:pPr>
              <a:lnSpc>
                <a:spcPct val="110000"/>
              </a:lnSpc>
              <a:spcAft>
                <a:spcPts val="700"/>
              </a:spcAft>
              <a:defRPr sz="1300" b="1">
                <a:solidFill>
                  <a:srgbClr val="C9EB8B"/>
                </a:solidFill>
                <a:latin typeface="Arial"/>
              </a:defRPr>
            </a:pPr>
            <a:r>
              <a:t>NGẮN HẠN</a:t>
            </a:r>
          </a:p>
        </p:txBody>
      </p:sp>
      <p:sp>
        <p:nvSpPr>
          <p:cNvPr id="18" name="TextBox 17"/>
          <p:cNvSpPr txBox="1"/>
          <p:nvPr/>
        </p:nvSpPr>
        <p:spPr>
          <a:xfrm>
            <a:off x="640080" y="4873752"/>
            <a:ext cx="5212080" cy="1051560"/>
          </a:xfrm>
          <a:prstGeom prst="rect">
            <a:avLst/>
          </a:prstGeom>
          <a:noFill/>
        </p:spPr>
        <p:txBody>
          <a:bodyPr wrap="square" lIns="0" rIns="0" tIns="0" bIns="0">
            <a:spAutoFit/>
          </a:bodyPr>
          <a:lstStyle/>
          <a:p>
            <a:pPr>
              <a:lnSpc>
                <a:spcPct val="110000"/>
              </a:lnSpc>
              <a:spcAft>
                <a:spcPts val="700"/>
              </a:spcAft>
              <a:defRPr sz="2000" b="0">
                <a:solidFill>
                  <a:srgbClr val="FFFFFF"/>
                </a:solidFill>
                <a:latin typeface="Arial"/>
              </a:defRPr>
            </a:pPr>
            <a:r>
              <a:t>Hoàn thiện luồng đặt lịch, cân, duyệt giá.</a:t>
            </a:r>
          </a:p>
          <a:p>
            <a:pPr>
              <a:lnSpc>
                <a:spcPct val="110000"/>
              </a:lnSpc>
              <a:spcAft>
                <a:spcPts val="700"/>
              </a:spcAft>
              <a:defRPr sz="2000" b="0">
                <a:solidFill>
                  <a:srgbClr val="FFFFFF"/>
                </a:solidFill>
                <a:latin typeface="Arial"/>
              </a:defRPr>
            </a:pPr>
            <a:r>
              <a:t>Ghi nhận đầy đủ từng giao dịch.</a:t>
            </a:r>
          </a:p>
        </p:txBody>
      </p:sp>
      <p:sp>
        <p:nvSpPr>
          <p:cNvPr id="19" name="TextBox 18"/>
          <p:cNvSpPr txBox="1"/>
          <p:nvPr/>
        </p:nvSpPr>
        <p:spPr>
          <a:xfrm>
            <a:off x="6400800" y="4370832"/>
            <a:ext cx="5120640" cy="365760"/>
          </a:xfrm>
          <a:prstGeom prst="rect">
            <a:avLst/>
          </a:prstGeom>
          <a:noFill/>
        </p:spPr>
        <p:txBody>
          <a:bodyPr wrap="square" lIns="0" rIns="0" tIns="0" bIns="0">
            <a:spAutoFit/>
          </a:bodyPr>
          <a:lstStyle/>
          <a:p>
            <a:pPr>
              <a:lnSpc>
                <a:spcPct val="110000"/>
              </a:lnSpc>
              <a:spcAft>
                <a:spcPts val="700"/>
              </a:spcAft>
              <a:defRPr sz="1300" b="1">
                <a:solidFill>
                  <a:srgbClr val="C9EB8B"/>
                </a:solidFill>
                <a:latin typeface="Arial"/>
              </a:defRPr>
            </a:pPr>
            <a:r>
              <a:t>DÀI HẠN</a:t>
            </a:r>
          </a:p>
        </p:txBody>
      </p:sp>
      <p:sp>
        <p:nvSpPr>
          <p:cNvPr id="20" name="TextBox 19"/>
          <p:cNvSpPr txBox="1"/>
          <p:nvPr/>
        </p:nvSpPr>
        <p:spPr>
          <a:xfrm>
            <a:off x="6400800" y="4873752"/>
            <a:ext cx="5120640" cy="1051560"/>
          </a:xfrm>
          <a:prstGeom prst="rect">
            <a:avLst/>
          </a:prstGeom>
          <a:noFill/>
        </p:spPr>
        <p:txBody>
          <a:bodyPr wrap="square" lIns="0" rIns="0" tIns="0" bIns="0">
            <a:spAutoFit/>
          </a:bodyPr>
          <a:lstStyle/>
          <a:p>
            <a:pPr>
              <a:lnSpc>
                <a:spcPct val="110000"/>
              </a:lnSpc>
              <a:spcAft>
                <a:spcPts val="700"/>
              </a:spcAft>
              <a:defRPr sz="2000" b="0">
                <a:solidFill>
                  <a:srgbClr val="FFFFFF"/>
                </a:solidFill>
                <a:latin typeface="Arial"/>
              </a:defRPr>
            </a:pPr>
            <a:r>
              <a:t>Duy trì thu gom định kỳ.</a:t>
            </a:r>
          </a:p>
          <a:p>
            <a:pPr>
              <a:lnSpc>
                <a:spcPct val="110000"/>
              </a:lnSpc>
              <a:spcAft>
                <a:spcPts val="700"/>
              </a:spcAft>
              <a:defRPr sz="2000" b="0">
                <a:solidFill>
                  <a:srgbClr val="FFFFFF"/>
                </a:solidFill>
                <a:latin typeface="Arial"/>
              </a:defRPr>
            </a:pPr>
            <a:r>
              <a:t>Mở rộng phạm vi và thói quen phân loại.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EF"/>
        </a:solidFill>
        <a:effectLst/>
      </p:bgPr>
    </p:bg>
    <p:spTree>
      <p:nvGrpSpPr>
        <p:cNvPr id="1" name=""/>
        <p:cNvGrpSpPr/>
        <p:nvPr/>
      </p:nvGrpSpPr>
      <p:grpSpPr/>
      <p:sp>
        <p:nvSpPr>
          <p:cNvPr id="2" name="TextBox 1"/>
          <p:cNvSpPr txBox="1"/>
          <p:nvPr/>
        </p:nvSpPr>
        <p:spPr>
          <a:xfrm>
            <a:off x="594360" y="384048"/>
            <a:ext cx="10058400" cy="274320"/>
          </a:xfrm>
          <a:prstGeom prst="rect">
            <a:avLst/>
          </a:prstGeom>
          <a:noFill/>
        </p:spPr>
        <p:txBody>
          <a:bodyPr wrap="square" lIns="0" rIns="0" tIns="0" bIns="0">
            <a:spAutoFit/>
          </a:bodyPr>
          <a:lstStyle/>
          <a:p>
            <a:pPr>
              <a:lnSpc>
                <a:spcPct val="110000"/>
              </a:lnSpc>
              <a:spcAft>
                <a:spcPts val="700"/>
              </a:spcAft>
              <a:defRPr sz="1100" b="1">
                <a:solidFill>
                  <a:srgbClr val="286B4C"/>
                </a:solidFill>
                <a:latin typeface="Arial"/>
              </a:defRPr>
            </a:pPr>
            <a:r>
              <a:t>03 / MÔ HÌNH HOẠT ĐỘNG</a:t>
            </a:r>
          </a:p>
        </p:txBody>
      </p:sp>
      <p:sp>
        <p:nvSpPr>
          <p:cNvPr id="3" name="TextBox 2"/>
          <p:cNvSpPr txBox="1"/>
          <p:nvPr/>
        </p:nvSpPr>
        <p:spPr>
          <a:xfrm>
            <a:off x="594360" y="868680"/>
            <a:ext cx="10972800" cy="914400"/>
          </a:xfrm>
          <a:prstGeom prst="rect">
            <a:avLst/>
          </a:prstGeom>
          <a:noFill/>
        </p:spPr>
        <p:txBody>
          <a:bodyPr wrap="square" lIns="0" rIns="0" tIns="0" bIns="0">
            <a:spAutoFit/>
          </a:bodyPr>
          <a:lstStyle/>
          <a:p>
            <a:pPr>
              <a:lnSpc>
                <a:spcPct val="110000"/>
              </a:lnSpc>
              <a:spcAft>
                <a:spcPts val="700"/>
              </a:spcAft>
              <a:defRPr sz="3200" b="1">
                <a:solidFill>
                  <a:srgbClr val="19382D"/>
                </a:solidFill>
                <a:latin typeface="Arial"/>
              </a:defRPr>
            </a:pPr>
            <a:r>
              <a:t>Từ phân loại đến một giao dịch rõ ràng.</a:t>
            </a:r>
          </a:p>
        </p:txBody>
      </p:sp>
      <p:sp>
        <p:nvSpPr>
          <p:cNvPr id="4" name="Rectangle 3"/>
          <p:cNvSpPr/>
          <p:nvPr/>
        </p:nvSpPr>
        <p:spPr>
          <a:xfrm>
            <a:off x="566928" y="6437376"/>
            <a:ext cx="11045952" cy="10972"/>
          </a:xfrm>
          <a:prstGeom prst="rect">
            <a:avLst/>
          </a:prstGeom>
          <a:solidFill>
            <a:srgbClr val="D8E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37960"/>
            <a:ext cx="6400800" cy="182880"/>
          </a:xfrm>
          <a:prstGeom prst="rect">
            <a:avLst/>
          </a:prstGeom>
          <a:noFill/>
        </p:spPr>
        <p:txBody>
          <a:bodyPr wrap="square" lIns="0" rIns="0" tIns="0" bIns="0">
            <a:spAutoFit/>
          </a:bodyPr>
          <a:lstStyle/>
          <a:p>
            <a:pPr>
              <a:lnSpc>
                <a:spcPct val="110000"/>
              </a:lnSpc>
              <a:spcAft>
                <a:spcPts val="700"/>
              </a:spcAft>
              <a:defRPr sz="900" b="0">
                <a:solidFill>
                  <a:srgbClr val="65766A"/>
                </a:solidFill>
                <a:latin typeface="Arial"/>
              </a:defRPr>
            </a:pPr>
            <a:r>
              <a:t>VCoi  /  Thu gom hôm nay, xanh hơn ngày mai</a:t>
            </a:r>
          </a:p>
        </p:txBody>
      </p:sp>
      <p:sp>
        <p:nvSpPr>
          <p:cNvPr id="6" name="TextBox 5"/>
          <p:cNvSpPr txBox="1"/>
          <p:nvPr/>
        </p:nvSpPr>
        <p:spPr>
          <a:xfrm>
            <a:off x="10698480" y="6519672"/>
            <a:ext cx="914400" cy="228600"/>
          </a:xfrm>
          <a:prstGeom prst="rect">
            <a:avLst/>
          </a:prstGeom>
          <a:noFill/>
        </p:spPr>
        <p:txBody>
          <a:bodyPr wrap="square" lIns="0" rIns="0" tIns="0" bIns="0">
            <a:spAutoFit/>
          </a:bodyPr>
          <a:lstStyle/>
          <a:p>
            <a:pPr algn="r">
              <a:lnSpc>
                <a:spcPct val="110000"/>
              </a:lnSpc>
              <a:spcAft>
                <a:spcPts val="700"/>
              </a:spcAft>
              <a:defRPr sz="1000" b="1">
                <a:solidFill>
                  <a:srgbClr val="65766A"/>
                </a:solidFill>
                <a:latin typeface="Arial"/>
              </a:defRPr>
            </a:pPr>
            <a:r>
              <a:t>04 / 08</a:t>
            </a:r>
          </a:p>
        </p:txBody>
      </p:sp>
      <p:sp>
        <p:nvSpPr>
          <p:cNvPr id="7" name="Rounded Rectangle 6"/>
          <p:cNvSpPr/>
          <p:nvPr/>
        </p:nvSpPr>
        <p:spPr>
          <a:xfrm>
            <a:off x="621792" y="1700784"/>
            <a:ext cx="2834640" cy="310896"/>
          </a:xfrm>
          <a:prstGeom prst="roundRect">
            <a:avLst>
              <a:gd name="adj" fmla="val 12000"/>
            </a:avLst>
          </a:prstGeom>
          <a:solidFill>
            <a:srgbClr val="E7E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755648"/>
            <a:ext cx="2651760" cy="210312"/>
          </a:xfrm>
          <a:prstGeom prst="rect">
            <a:avLst/>
          </a:prstGeom>
          <a:noFill/>
        </p:spPr>
        <p:txBody>
          <a:bodyPr wrap="square" lIns="0" rIns="0" tIns="0" bIns="0">
            <a:spAutoFit/>
          </a:bodyPr>
          <a:lstStyle/>
          <a:p>
            <a:pPr>
              <a:lnSpc>
                <a:spcPct val="110000"/>
              </a:lnSpc>
              <a:spcAft>
                <a:spcPts val="700"/>
              </a:spcAft>
              <a:defRPr sz="1000" b="1">
                <a:solidFill>
                  <a:srgbClr val="286B4C"/>
                </a:solidFill>
                <a:latin typeface="Arial"/>
              </a:defRPr>
            </a:pPr>
            <a:r>
              <a:t>KHÁCH HÀNG</a:t>
            </a:r>
          </a:p>
        </p:txBody>
      </p:sp>
      <p:sp>
        <p:nvSpPr>
          <p:cNvPr id="9" name="Rounded Rectangle 8"/>
          <p:cNvSpPr/>
          <p:nvPr/>
        </p:nvSpPr>
        <p:spPr>
          <a:xfrm>
            <a:off x="3776472" y="1700784"/>
            <a:ext cx="2834640" cy="310896"/>
          </a:xfrm>
          <a:prstGeom prst="roundRect">
            <a:avLst>
              <a:gd name="adj" fmla="val 12000"/>
            </a:avLst>
          </a:prstGeom>
          <a:solidFill>
            <a:srgbClr val="E7E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867911" y="1755648"/>
            <a:ext cx="2651760" cy="210312"/>
          </a:xfrm>
          <a:prstGeom prst="rect">
            <a:avLst/>
          </a:prstGeom>
          <a:noFill/>
        </p:spPr>
        <p:txBody>
          <a:bodyPr wrap="square" lIns="0" rIns="0" tIns="0" bIns="0">
            <a:spAutoFit/>
          </a:bodyPr>
          <a:lstStyle/>
          <a:p>
            <a:pPr>
              <a:lnSpc>
                <a:spcPct val="110000"/>
              </a:lnSpc>
              <a:spcAft>
                <a:spcPts val="700"/>
              </a:spcAft>
              <a:defRPr sz="1000" b="1">
                <a:solidFill>
                  <a:srgbClr val="286B4C"/>
                </a:solidFill>
                <a:latin typeface="Arial"/>
              </a:defRPr>
            </a:pPr>
            <a:r>
              <a:t>QUẢN TRỊ VIÊN</a:t>
            </a:r>
          </a:p>
        </p:txBody>
      </p:sp>
      <p:sp>
        <p:nvSpPr>
          <p:cNvPr id="11" name="Rounded Rectangle 10"/>
          <p:cNvSpPr/>
          <p:nvPr/>
        </p:nvSpPr>
        <p:spPr>
          <a:xfrm>
            <a:off x="6931152" y="1700784"/>
            <a:ext cx="2834640" cy="310896"/>
          </a:xfrm>
          <a:prstGeom prst="roundRect">
            <a:avLst>
              <a:gd name="adj" fmla="val 12000"/>
            </a:avLst>
          </a:prstGeom>
          <a:solidFill>
            <a:srgbClr val="E7E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22592" y="1755648"/>
            <a:ext cx="2651760" cy="210312"/>
          </a:xfrm>
          <a:prstGeom prst="rect">
            <a:avLst/>
          </a:prstGeom>
          <a:noFill/>
        </p:spPr>
        <p:txBody>
          <a:bodyPr wrap="square" lIns="0" rIns="0" tIns="0" bIns="0">
            <a:spAutoFit/>
          </a:bodyPr>
          <a:lstStyle/>
          <a:p>
            <a:pPr>
              <a:lnSpc>
                <a:spcPct val="110000"/>
              </a:lnSpc>
              <a:spcAft>
                <a:spcPts val="700"/>
              </a:spcAft>
              <a:defRPr sz="1000" b="1">
                <a:solidFill>
                  <a:srgbClr val="286B4C"/>
                </a:solidFill>
                <a:latin typeface="Arial"/>
              </a:defRPr>
            </a:pPr>
            <a:r>
              <a:t>NHÂN VIÊN THU GOM</a:t>
            </a:r>
          </a:p>
        </p:txBody>
      </p:sp>
      <p:sp>
        <p:nvSpPr>
          <p:cNvPr id="13" name="Rounded Rectangle 12"/>
          <p:cNvSpPr/>
          <p:nvPr/>
        </p:nvSpPr>
        <p:spPr>
          <a:xfrm>
            <a:off x="621792" y="2331720"/>
            <a:ext cx="3502152" cy="138074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795528" y="2514600"/>
            <a:ext cx="438912" cy="438912"/>
          </a:xfrm>
          <a:prstGeom prst="ellipse">
            <a:avLst/>
          </a:prstGeom>
          <a:solidFill>
            <a:srgbClr val="286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528" y="2596896"/>
            <a:ext cx="438912" cy="246888"/>
          </a:xfrm>
          <a:prstGeom prst="rect">
            <a:avLst/>
          </a:prstGeom>
          <a:noFill/>
        </p:spPr>
        <p:txBody>
          <a:bodyPr wrap="square" lIns="0" rIns="0" tIns="0" bIns="0">
            <a:spAutoFit/>
          </a:bodyPr>
          <a:lstStyle/>
          <a:p>
            <a:pPr algn="ctr">
              <a:lnSpc>
                <a:spcPct val="110000"/>
              </a:lnSpc>
              <a:spcAft>
                <a:spcPts val="700"/>
              </a:spcAft>
              <a:defRPr sz="1500" b="1">
                <a:solidFill>
                  <a:srgbClr val="FFFFFF"/>
                </a:solidFill>
                <a:latin typeface="Arial"/>
              </a:defRPr>
            </a:pPr>
            <a:r>
              <a:t>1</a:t>
            </a:r>
          </a:p>
        </p:txBody>
      </p:sp>
      <p:sp>
        <p:nvSpPr>
          <p:cNvPr id="16" name="TextBox 15"/>
          <p:cNvSpPr txBox="1"/>
          <p:nvPr/>
        </p:nvSpPr>
        <p:spPr>
          <a:xfrm>
            <a:off x="1389888" y="2514600"/>
            <a:ext cx="2523744" cy="365760"/>
          </a:xfrm>
          <a:prstGeom prst="rect">
            <a:avLst/>
          </a:prstGeom>
          <a:noFill/>
        </p:spPr>
        <p:txBody>
          <a:bodyPr wrap="square" lIns="0" rIns="0" tIns="0" bIns="0">
            <a:spAutoFit/>
          </a:bodyPr>
          <a:lstStyle/>
          <a:p>
            <a:pPr>
              <a:lnSpc>
                <a:spcPct val="110000"/>
              </a:lnSpc>
              <a:spcAft>
                <a:spcPts val="700"/>
              </a:spcAft>
              <a:defRPr sz="2100" b="1">
                <a:solidFill>
                  <a:srgbClr val="19382D"/>
                </a:solidFill>
                <a:latin typeface="Arial"/>
              </a:defRPr>
            </a:pPr>
            <a:r>
              <a:t>Phân loại</a:t>
            </a:r>
          </a:p>
        </p:txBody>
      </p:sp>
      <p:sp>
        <p:nvSpPr>
          <p:cNvPr id="17" name="TextBox 16"/>
          <p:cNvSpPr txBox="1"/>
          <p:nvPr/>
        </p:nvSpPr>
        <p:spPr>
          <a:xfrm>
            <a:off x="1389888" y="3008376"/>
            <a:ext cx="2532888" cy="566928"/>
          </a:xfrm>
          <a:prstGeom prst="rect">
            <a:avLst/>
          </a:prstGeom>
          <a:noFill/>
        </p:spPr>
        <p:txBody>
          <a:bodyPr wrap="square" lIns="0" rIns="0" tIns="0" bIns="0">
            <a:spAutoFit/>
          </a:bodyPr>
          <a:lstStyle/>
          <a:p>
            <a:pPr>
              <a:lnSpc>
                <a:spcPct val="110000"/>
              </a:lnSpc>
              <a:spcAft>
                <a:spcPts val="700"/>
              </a:spcAft>
              <a:defRPr sz="1500" b="0">
                <a:solidFill>
                  <a:srgbClr val="65766A"/>
                </a:solidFill>
                <a:latin typeface="Arial"/>
              </a:defRPr>
            </a:pPr>
            <a:r>
              <a:t>Tách giấy, nhựa, kim loại;</a:t>
            </a:r>
          </a:p>
          <a:p>
            <a:pPr>
              <a:lnSpc>
                <a:spcPct val="110000"/>
              </a:lnSpc>
              <a:spcAft>
                <a:spcPts val="700"/>
              </a:spcAft>
              <a:defRPr sz="1500" b="0">
                <a:solidFill>
                  <a:srgbClr val="65766A"/>
                </a:solidFill>
                <a:latin typeface="Arial"/>
              </a:defRPr>
            </a:pPr>
            <a:r>
              <a:t>giữ sạch và khô.</a:t>
            </a:r>
          </a:p>
        </p:txBody>
      </p:sp>
      <p:sp>
        <p:nvSpPr>
          <p:cNvPr id="18" name="Rounded Rectangle 17"/>
          <p:cNvSpPr/>
          <p:nvPr/>
        </p:nvSpPr>
        <p:spPr>
          <a:xfrm>
            <a:off x="4352544" y="2331720"/>
            <a:ext cx="3502152" cy="138074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526280" y="2514600"/>
            <a:ext cx="438912" cy="438912"/>
          </a:xfrm>
          <a:prstGeom prst="ellipse">
            <a:avLst/>
          </a:prstGeom>
          <a:solidFill>
            <a:srgbClr val="286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26280" y="2596896"/>
            <a:ext cx="438912" cy="246888"/>
          </a:xfrm>
          <a:prstGeom prst="rect">
            <a:avLst/>
          </a:prstGeom>
          <a:noFill/>
        </p:spPr>
        <p:txBody>
          <a:bodyPr wrap="square" lIns="0" rIns="0" tIns="0" bIns="0">
            <a:spAutoFit/>
          </a:bodyPr>
          <a:lstStyle/>
          <a:p>
            <a:pPr algn="ctr">
              <a:lnSpc>
                <a:spcPct val="110000"/>
              </a:lnSpc>
              <a:spcAft>
                <a:spcPts val="700"/>
              </a:spcAft>
              <a:defRPr sz="1500" b="1">
                <a:solidFill>
                  <a:srgbClr val="FFFFFF"/>
                </a:solidFill>
                <a:latin typeface="Arial"/>
              </a:defRPr>
            </a:pPr>
            <a:r>
              <a:t>2</a:t>
            </a:r>
          </a:p>
        </p:txBody>
      </p:sp>
      <p:sp>
        <p:nvSpPr>
          <p:cNvPr id="21" name="TextBox 20"/>
          <p:cNvSpPr txBox="1"/>
          <p:nvPr/>
        </p:nvSpPr>
        <p:spPr>
          <a:xfrm>
            <a:off x="5120640" y="2514600"/>
            <a:ext cx="2523744" cy="365760"/>
          </a:xfrm>
          <a:prstGeom prst="rect">
            <a:avLst/>
          </a:prstGeom>
          <a:noFill/>
        </p:spPr>
        <p:txBody>
          <a:bodyPr wrap="square" lIns="0" rIns="0" tIns="0" bIns="0">
            <a:spAutoFit/>
          </a:bodyPr>
          <a:lstStyle/>
          <a:p>
            <a:pPr>
              <a:lnSpc>
                <a:spcPct val="110000"/>
              </a:lnSpc>
              <a:spcAft>
                <a:spcPts val="700"/>
              </a:spcAft>
              <a:defRPr sz="2100" b="1">
                <a:solidFill>
                  <a:srgbClr val="19382D"/>
                </a:solidFill>
                <a:latin typeface="Arial"/>
              </a:defRPr>
            </a:pPr>
            <a:r>
              <a:t>Đặt lịch</a:t>
            </a:r>
          </a:p>
        </p:txBody>
      </p:sp>
      <p:sp>
        <p:nvSpPr>
          <p:cNvPr id="22" name="TextBox 21"/>
          <p:cNvSpPr txBox="1"/>
          <p:nvPr/>
        </p:nvSpPr>
        <p:spPr>
          <a:xfrm>
            <a:off x="5120640" y="3008376"/>
            <a:ext cx="2532888" cy="566928"/>
          </a:xfrm>
          <a:prstGeom prst="rect">
            <a:avLst/>
          </a:prstGeom>
          <a:noFill/>
        </p:spPr>
        <p:txBody>
          <a:bodyPr wrap="square" lIns="0" rIns="0" tIns="0" bIns="0">
            <a:spAutoFit/>
          </a:bodyPr>
          <a:lstStyle/>
          <a:p>
            <a:pPr>
              <a:lnSpc>
                <a:spcPct val="110000"/>
              </a:lnSpc>
              <a:spcAft>
                <a:spcPts val="700"/>
              </a:spcAft>
              <a:defRPr sz="1500" b="0">
                <a:solidFill>
                  <a:srgbClr val="65766A"/>
                </a:solidFill>
                <a:latin typeface="Arial"/>
              </a:defRPr>
            </a:pPr>
            <a:r>
              <a:t>Chọn vật liệu, địa chỉ</a:t>
            </a:r>
          </a:p>
          <a:p>
            <a:pPr>
              <a:lnSpc>
                <a:spcPct val="110000"/>
              </a:lnSpc>
              <a:spcAft>
                <a:spcPts val="700"/>
              </a:spcAft>
              <a:defRPr sz="1500" b="0">
                <a:solidFill>
                  <a:srgbClr val="65766A"/>
                </a:solidFill>
                <a:latin typeface="Arial"/>
              </a:defRPr>
            </a:pPr>
            <a:r>
              <a:t>và khung giờ trên VCoi.</a:t>
            </a:r>
          </a:p>
        </p:txBody>
      </p:sp>
      <p:sp>
        <p:nvSpPr>
          <p:cNvPr id="23" name="Rounded Rectangle 22"/>
          <p:cNvSpPr/>
          <p:nvPr/>
        </p:nvSpPr>
        <p:spPr>
          <a:xfrm>
            <a:off x="8083296" y="2331720"/>
            <a:ext cx="3502152" cy="138074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8257031" y="2514600"/>
            <a:ext cx="438912" cy="438912"/>
          </a:xfrm>
          <a:prstGeom prst="ellipse">
            <a:avLst/>
          </a:prstGeom>
          <a:solidFill>
            <a:srgbClr val="286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57031" y="2596896"/>
            <a:ext cx="438912" cy="246888"/>
          </a:xfrm>
          <a:prstGeom prst="rect">
            <a:avLst/>
          </a:prstGeom>
          <a:noFill/>
        </p:spPr>
        <p:txBody>
          <a:bodyPr wrap="square" lIns="0" rIns="0" tIns="0" bIns="0">
            <a:spAutoFit/>
          </a:bodyPr>
          <a:lstStyle/>
          <a:p>
            <a:pPr algn="ctr">
              <a:lnSpc>
                <a:spcPct val="110000"/>
              </a:lnSpc>
              <a:spcAft>
                <a:spcPts val="700"/>
              </a:spcAft>
              <a:defRPr sz="1500" b="1">
                <a:solidFill>
                  <a:srgbClr val="FFFFFF"/>
                </a:solidFill>
                <a:latin typeface="Arial"/>
              </a:defRPr>
            </a:pPr>
            <a:r>
              <a:t>3</a:t>
            </a:r>
          </a:p>
        </p:txBody>
      </p:sp>
      <p:sp>
        <p:nvSpPr>
          <p:cNvPr id="26" name="TextBox 25"/>
          <p:cNvSpPr txBox="1"/>
          <p:nvPr/>
        </p:nvSpPr>
        <p:spPr>
          <a:xfrm>
            <a:off x="8851392" y="2514600"/>
            <a:ext cx="2523744" cy="365760"/>
          </a:xfrm>
          <a:prstGeom prst="rect">
            <a:avLst/>
          </a:prstGeom>
          <a:noFill/>
        </p:spPr>
        <p:txBody>
          <a:bodyPr wrap="square" lIns="0" rIns="0" tIns="0" bIns="0">
            <a:spAutoFit/>
          </a:bodyPr>
          <a:lstStyle/>
          <a:p>
            <a:pPr>
              <a:lnSpc>
                <a:spcPct val="110000"/>
              </a:lnSpc>
              <a:spcAft>
                <a:spcPts val="700"/>
              </a:spcAft>
              <a:defRPr sz="2100" b="1">
                <a:solidFill>
                  <a:srgbClr val="19382D"/>
                </a:solidFill>
                <a:latin typeface="Arial"/>
              </a:defRPr>
            </a:pPr>
            <a:r>
              <a:t>Điều phối</a:t>
            </a:r>
          </a:p>
        </p:txBody>
      </p:sp>
      <p:sp>
        <p:nvSpPr>
          <p:cNvPr id="27" name="TextBox 26"/>
          <p:cNvSpPr txBox="1"/>
          <p:nvPr/>
        </p:nvSpPr>
        <p:spPr>
          <a:xfrm>
            <a:off x="8851392" y="3008376"/>
            <a:ext cx="2532888" cy="566928"/>
          </a:xfrm>
          <a:prstGeom prst="rect">
            <a:avLst/>
          </a:prstGeom>
          <a:noFill/>
        </p:spPr>
        <p:txBody>
          <a:bodyPr wrap="square" lIns="0" rIns="0" tIns="0" bIns="0">
            <a:spAutoFit/>
          </a:bodyPr>
          <a:lstStyle/>
          <a:p>
            <a:pPr>
              <a:lnSpc>
                <a:spcPct val="110000"/>
              </a:lnSpc>
              <a:spcAft>
                <a:spcPts val="700"/>
              </a:spcAft>
              <a:defRPr sz="1500" b="0">
                <a:solidFill>
                  <a:srgbClr val="65766A"/>
                </a:solidFill>
                <a:latin typeface="Arial"/>
              </a:defRPr>
            </a:pPr>
            <a:r>
              <a:t>Admin xác nhận và</a:t>
            </a:r>
          </a:p>
          <a:p>
            <a:pPr>
              <a:lnSpc>
                <a:spcPct val="110000"/>
              </a:lnSpc>
              <a:spcAft>
                <a:spcPts val="700"/>
              </a:spcAft>
              <a:defRPr sz="1500" b="0">
                <a:solidFill>
                  <a:srgbClr val="65766A"/>
                </a:solidFill>
                <a:latin typeface="Arial"/>
              </a:defRPr>
            </a:pPr>
            <a:r>
              <a:t>phân công nhân viên.</a:t>
            </a:r>
          </a:p>
        </p:txBody>
      </p:sp>
      <p:sp>
        <p:nvSpPr>
          <p:cNvPr id="28" name="Rounded Rectangle 27"/>
          <p:cNvSpPr/>
          <p:nvPr/>
        </p:nvSpPr>
        <p:spPr>
          <a:xfrm>
            <a:off x="621792" y="3904487"/>
            <a:ext cx="3502152" cy="138074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95528" y="4087368"/>
            <a:ext cx="438912" cy="438912"/>
          </a:xfrm>
          <a:prstGeom prst="ellipse">
            <a:avLst/>
          </a:prstGeom>
          <a:solidFill>
            <a:srgbClr val="286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95528" y="4169663"/>
            <a:ext cx="438912" cy="246888"/>
          </a:xfrm>
          <a:prstGeom prst="rect">
            <a:avLst/>
          </a:prstGeom>
          <a:noFill/>
        </p:spPr>
        <p:txBody>
          <a:bodyPr wrap="square" lIns="0" rIns="0" tIns="0" bIns="0">
            <a:spAutoFit/>
          </a:bodyPr>
          <a:lstStyle/>
          <a:p>
            <a:pPr algn="ctr">
              <a:lnSpc>
                <a:spcPct val="110000"/>
              </a:lnSpc>
              <a:spcAft>
                <a:spcPts val="700"/>
              </a:spcAft>
              <a:defRPr sz="1500" b="1">
                <a:solidFill>
                  <a:srgbClr val="FFFFFF"/>
                </a:solidFill>
                <a:latin typeface="Arial"/>
              </a:defRPr>
            </a:pPr>
            <a:r>
              <a:t>4</a:t>
            </a:r>
          </a:p>
        </p:txBody>
      </p:sp>
      <p:sp>
        <p:nvSpPr>
          <p:cNvPr id="31" name="TextBox 30"/>
          <p:cNvSpPr txBox="1"/>
          <p:nvPr/>
        </p:nvSpPr>
        <p:spPr>
          <a:xfrm>
            <a:off x="1389888" y="4087368"/>
            <a:ext cx="2523744" cy="365760"/>
          </a:xfrm>
          <a:prstGeom prst="rect">
            <a:avLst/>
          </a:prstGeom>
          <a:noFill/>
        </p:spPr>
        <p:txBody>
          <a:bodyPr wrap="square" lIns="0" rIns="0" tIns="0" bIns="0">
            <a:spAutoFit/>
          </a:bodyPr>
          <a:lstStyle/>
          <a:p>
            <a:pPr>
              <a:lnSpc>
                <a:spcPct val="110000"/>
              </a:lnSpc>
              <a:spcAft>
                <a:spcPts val="700"/>
              </a:spcAft>
              <a:defRPr sz="2100" b="1">
                <a:solidFill>
                  <a:srgbClr val="19382D"/>
                </a:solidFill>
                <a:latin typeface="Arial"/>
              </a:defRPr>
            </a:pPr>
            <a:r>
              <a:t>Cân &amp; báo giá</a:t>
            </a:r>
          </a:p>
        </p:txBody>
      </p:sp>
      <p:sp>
        <p:nvSpPr>
          <p:cNvPr id="32" name="TextBox 31"/>
          <p:cNvSpPr txBox="1"/>
          <p:nvPr/>
        </p:nvSpPr>
        <p:spPr>
          <a:xfrm>
            <a:off x="1389888" y="4581144"/>
            <a:ext cx="2532888" cy="566928"/>
          </a:xfrm>
          <a:prstGeom prst="rect">
            <a:avLst/>
          </a:prstGeom>
          <a:noFill/>
        </p:spPr>
        <p:txBody>
          <a:bodyPr wrap="square" lIns="0" rIns="0" tIns="0" bIns="0">
            <a:spAutoFit/>
          </a:bodyPr>
          <a:lstStyle/>
          <a:p>
            <a:pPr>
              <a:lnSpc>
                <a:spcPct val="110000"/>
              </a:lnSpc>
              <a:spcAft>
                <a:spcPts val="700"/>
              </a:spcAft>
              <a:defRPr sz="1500" b="0">
                <a:solidFill>
                  <a:srgbClr val="65766A"/>
                </a:solidFill>
                <a:latin typeface="Arial"/>
              </a:defRPr>
            </a:pPr>
            <a:r>
              <a:t>Nhân viên cân thực tế;</a:t>
            </a:r>
          </a:p>
          <a:p>
            <a:pPr>
              <a:lnSpc>
                <a:spcPct val="110000"/>
              </a:lnSpc>
              <a:spcAft>
                <a:spcPts val="700"/>
              </a:spcAft>
              <a:defRPr sz="1500" b="0">
                <a:solidFill>
                  <a:srgbClr val="65766A"/>
                </a:solidFill>
                <a:latin typeface="Arial"/>
              </a:defRPr>
            </a:pPr>
            <a:r>
              <a:t>khách xem và duyệt giá.</a:t>
            </a:r>
          </a:p>
        </p:txBody>
      </p:sp>
      <p:sp>
        <p:nvSpPr>
          <p:cNvPr id="33" name="Rounded Rectangle 32"/>
          <p:cNvSpPr/>
          <p:nvPr/>
        </p:nvSpPr>
        <p:spPr>
          <a:xfrm>
            <a:off x="4352544" y="3904487"/>
            <a:ext cx="3502152" cy="138074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526280" y="4087368"/>
            <a:ext cx="438912" cy="438912"/>
          </a:xfrm>
          <a:prstGeom prst="ellipse">
            <a:avLst/>
          </a:prstGeom>
          <a:solidFill>
            <a:srgbClr val="286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26280" y="4169663"/>
            <a:ext cx="438912" cy="246888"/>
          </a:xfrm>
          <a:prstGeom prst="rect">
            <a:avLst/>
          </a:prstGeom>
          <a:noFill/>
        </p:spPr>
        <p:txBody>
          <a:bodyPr wrap="square" lIns="0" rIns="0" tIns="0" bIns="0">
            <a:spAutoFit/>
          </a:bodyPr>
          <a:lstStyle/>
          <a:p>
            <a:pPr algn="ctr">
              <a:lnSpc>
                <a:spcPct val="110000"/>
              </a:lnSpc>
              <a:spcAft>
                <a:spcPts val="700"/>
              </a:spcAft>
              <a:defRPr sz="1500" b="1">
                <a:solidFill>
                  <a:srgbClr val="FFFFFF"/>
                </a:solidFill>
                <a:latin typeface="Arial"/>
              </a:defRPr>
            </a:pPr>
            <a:r>
              <a:t>5</a:t>
            </a:r>
          </a:p>
        </p:txBody>
      </p:sp>
      <p:sp>
        <p:nvSpPr>
          <p:cNvPr id="36" name="TextBox 35"/>
          <p:cNvSpPr txBox="1"/>
          <p:nvPr/>
        </p:nvSpPr>
        <p:spPr>
          <a:xfrm>
            <a:off x="5120640" y="4087368"/>
            <a:ext cx="2523744" cy="365760"/>
          </a:xfrm>
          <a:prstGeom prst="rect">
            <a:avLst/>
          </a:prstGeom>
          <a:noFill/>
        </p:spPr>
        <p:txBody>
          <a:bodyPr wrap="square" lIns="0" rIns="0" tIns="0" bIns="0">
            <a:spAutoFit/>
          </a:bodyPr>
          <a:lstStyle/>
          <a:p>
            <a:pPr>
              <a:lnSpc>
                <a:spcPct val="110000"/>
              </a:lnSpc>
              <a:spcAft>
                <a:spcPts val="700"/>
              </a:spcAft>
              <a:defRPr sz="2100" b="1">
                <a:solidFill>
                  <a:srgbClr val="19382D"/>
                </a:solidFill>
                <a:latin typeface="Arial"/>
              </a:defRPr>
            </a:pPr>
            <a:r>
              <a:t>Ghi nhận chi trả</a:t>
            </a:r>
          </a:p>
        </p:txBody>
      </p:sp>
      <p:sp>
        <p:nvSpPr>
          <p:cNvPr id="37" name="TextBox 36"/>
          <p:cNvSpPr txBox="1"/>
          <p:nvPr/>
        </p:nvSpPr>
        <p:spPr>
          <a:xfrm>
            <a:off x="5120640" y="4581144"/>
            <a:ext cx="2532888" cy="566928"/>
          </a:xfrm>
          <a:prstGeom prst="rect">
            <a:avLst/>
          </a:prstGeom>
          <a:noFill/>
        </p:spPr>
        <p:txBody>
          <a:bodyPr wrap="square" lIns="0" rIns="0" tIns="0" bIns="0">
            <a:spAutoFit/>
          </a:bodyPr>
          <a:lstStyle/>
          <a:p>
            <a:pPr>
              <a:lnSpc>
                <a:spcPct val="110000"/>
              </a:lnSpc>
              <a:spcAft>
                <a:spcPts val="700"/>
              </a:spcAft>
              <a:defRPr sz="1500" b="0">
                <a:solidFill>
                  <a:srgbClr val="65766A"/>
                </a:solidFill>
                <a:latin typeface="Arial"/>
              </a:defRPr>
            </a:pPr>
            <a:r>
              <a:t>Lưu thanh toán và</a:t>
            </a:r>
          </a:p>
          <a:p>
            <a:pPr>
              <a:lnSpc>
                <a:spcPct val="110000"/>
              </a:lnSpc>
              <a:spcAft>
                <a:spcPts val="700"/>
              </a:spcAft>
              <a:defRPr sz="1500" b="0">
                <a:solidFill>
                  <a:srgbClr val="65766A"/>
                </a:solidFill>
                <a:latin typeface="Arial"/>
              </a:defRPr>
            </a:pPr>
            <a:r>
              <a:t>biên nhận giao dịch.</a:t>
            </a:r>
          </a:p>
        </p:txBody>
      </p:sp>
      <p:sp>
        <p:nvSpPr>
          <p:cNvPr id="38" name="Rounded Rectangle 37"/>
          <p:cNvSpPr/>
          <p:nvPr/>
        </p:nvSpPr>
        <p:spPr>
          <a:xfrm>
            <a:off x="8083296" y="3904487"/>
            <a:ext cx="3502152" cy="1380744"/>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8257031" y="4087368"/>
            <a:ext cx="438912" cy="438912"/>
          </a:xfrm>
          <a:prstGeom prst="ellipse">
            <a:avLst/>
          </a:prstGeom>
          <a:solidFill>
            <a:srgbClr val="286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57031" y="4169663"/>
            <a:ext cx="438912" cy="246888"/>
          </a:xfrm>
          <a:prstGeom prst="rect">
            <a:avLst/>
          </a:prstGeom>
          <a:noFill/>
        </p:spPr>
        <p:txBody>
          <a:bodyPr wrap="square" lIns="0" rIns="0" tIns="0" bIns="0">
            <a:spAutoFit/>
          </a:bodyPr>
          <a:lstStyle/>
          <a:p>
            <a:pPr algn="ctr">
              <a:lnSpc>
                <a:spcPct val="110000"/>
              </a:lnSpc>
              <a:spcAft>
                <a:spcPts val="700"/>
              </a:spcAft>
              <a:defRPr sz="1500" b="1">
                <a:solidFill>
                  <a:srgbClr val="FFFFFF"/>
                </a:solidFill>
                <a:latin typeface="Arial"/>
              </a:defRPr>
            </a:pPr>
            <a:r>
              <a:t>6</a:t>
            </a:r>
          </a:p>
        </p:txBody>
      </p:sp>
      <p:sp>
        <p:nvSpPr>
          <p:cNvPr id="41" name="TextBox 40"/>
          <p:cNvSpPr txBox="1"/>
          <p:nvPr/>
        </p:nvSpPr>
        <p:spPr>
          <a:xfrm>
            <a:off x="8851392" y="4087368"/>
            <a:ext cx="2523744" cy="365760"/>
          </a:xfrm>
          <a:prstGeom prst="rect">
            <a:avLst/>
          </a:prstGeom>
          <a:noFill/>
        </p:spPr>
        <p:txBody>
          <a:bodyPr wrap="square" lIns="0" rIns="0" tIns="0" bIns="0">
            <a:spAutoFit/>
          </a:bodyPr>
          <a:lstStyle/>
          <a:p>
            <a:pPr>
              <a:lnSpc>
                <a:spcPct val="110000"/>
              </a:lnSpc>
              <a:spcAft>
                <a:spcPts val="700"/>
              </a:spcAft>
              <a:defRPr sz="2100" b="1">
                <a:solidFill>
                  <a:srgbClr val="19382D"/>
                </a:solidFill>
                <a:latin typeface="Arial"/>
              </a:defRPr>
            </a:pPr>
            <a:r>
              <a:t>Chuyển tái chế</a:t>
            </a:r>
          </a:p>
        </p:txBody>
      </p:sp>
      <p:sp>
        <p:nvSpPr>
          <p:cNvPr id="42" name="TextBox 41"/>
          <p:cNvSpPr txBox="1"/>
          <p:nvPr/>
        </p:nvSpPr>
        <p:spPr>
          <a:xfrm>
            <a:off x="8851392" y="4581144"/>
            <a:ext cx="2532888" cy="566928"/>
          </a:xfrm>
          <a:prstGeom prst="rect">
            <a:avLst/>
          </a:prstGeom>
          <a:noFill/>
        </p:spPr>
        <p:txBody>
          <a:bodyPr wrap="square" lIns="0" rIns="0" tIns="0" bIns="0">
            <a:spAutoFit/>
          </a:bodyPr>
          <a:lstStyle/>
          <a:p>
            <a:pPr>
              <a:lnSpc>
                <a:spcPct val="110000"/>
              </a:lnSpc>
              <a:spcAft>
                <a:spcPts val="700"/>
              </a:spcAft>
              <a:defRPr sz="1500" b="0">
                <a:solidFill>
                  <a:srgbClr val="65766A"/>
                </a:solidFill>
                <a:latin typeface="Arial"/>
              </a:defRPr>
            </a:pPr>
            <a:r>
              <a:t>Đại lý tập kết và chuyển</a:t>
            </a:r>
          </a:p>
          <a:p>
            <a:pPr>
              <a:lnSpc>
                <a:spcPct val="110000"/>
              </a:lnSpc>
              <a:spcAft>
                <a:spcPts val="700"/>
              </a:spcAft>
              <a:defRPr sz="1500" b="0">
                <a:solidFill>
                  <a:srgbClr val="65766A"/>
                </a:solidFill>
                <a:latin typeface="Arial"/>
              </a:defRPr>
            </a:pPr>
            <a:r>
              <a:t>tới đơn vị phù hợp.</a:t>
            </a:r>
          </a:p>
        </p:txBody>
      </p:sp>
      <p:sp>
        <p:nvSpPr>
          <p:cNvPr id="43" name="TextBox 42"/>
          <p:cNvSpPr txBox="1"/>
          <p:nvPr/>
        </p:nvSpPr>
        <p:spPr>
          <a:xfrm>
            <a:off x="658368" y="5760720"/>
            <a:ext cx="10881360" cy="411480"/>
          </a:xfrm>
          <a:prstGeom prst="rect">
            <a:avLst/>
          </a:prstGeom>
          <a:noFill/>
        </p:spPr>
        <p:txBody>
          <a:bodyPr wrap="square" lIns="0" rIns="0" tIns="0" bIns="0">
            <a:spAutoFit/>
          </a:bodyPr>
          <a:lstStyle/>
          <a:p>
            <a:pPr>
              <a:lnSpc>
                <a:spcPct val="110000"/>
              </a:lnSpc>
              <a:spcAft>
                <a:spcPts val="700"/>
              </a:spcAft>
              <a:defRPr sz="1300" b="0">
                <a:solidFill>
                  <a:srgbClr val="286B4C"/>
                </a:solidFill>
                <a:latin typeface="Arial"/>
              </a:defRPr>
            </a:pPr>
            <a:r>
              <a:t>Bản đồ án mô phỏng thanh toán. Tập kết và tái chế thuộc quy trình vận hành ngoài phần mềm.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6EF"/>
        </a:solidFill>
        <a:effectLst/>
      </p:bgPr>
    </p:bg>
    <p:spTree>
      <p:nvGrpSpPr>
        <p:cNvPr id="1" name=""/>
        <p:cNvGrpSpPr/>
        <p:nvPr/>
      </p:nvGrpSpPr>
      <p:grpSpPr/>
      <p:sp>
        <p:nvSpPr>
          <p:cNvPr id="2" name="TextBox 1"/>
          <p:cNvSpPr txBox="1"/>
          <p:nvPr/>
        </p:nvSpPr>
        <p:spPr>
          <a:xfrm>
            <a:off x="594360" y="384048"/>
            <a:ext cx="10058400" cy="274320"/>
          </a:xfrm>
          <a:prstGeom prst="rect">
            <a:avLst/>
          </a:prstGeom>
          <a:noFill/>
        </p:spPr>
        <p:txBody>
          <a:bodyPr wrap="square" lIns="0" rIns="0" tIns="0" bIns="0">
            <a:spAutoFit/>
          </a:bodyPr>
          <a:lstStyle/>
          <a:p>
            <a:pPr>
              <a:lnSpc>
                <a:spcPct val="110000"/>
              </a:lnSpc>
              <a:spcAft>
                <a:spcPts val="700"/>
              </a:spcAft>
              <a:defRPr sz="1100" b="1">
                <a:solidFill>
                  <a:srgbClr val="286B4C"/>
                </a:solidFill>
                <a:latin typeface="Arial"/>
              </a:defRPr>
            </a:pPr>
            <a:r>
              <a:t>04 / KẾ HOẠCH TRIỂN KHAI</a:t>
            </a:r>
          </a:p>
        </p:txBody>
      </p:sp>
      <p:sp>
        <p:nvSpPr>
          <p:cNvPr id="3" name="TextBox 2"/>
          <p:cNvSpPr txBox="1"/>
          <p:nvPr/>
        </p:nvSpPr>
        <p:spPr>
          <a:xfrm>
            <a:off x="594360" y="868680"/>
            <a:ext cx="10972800" cy="914400"/>
          </a:xfrm>
          <a:prstGeom prst="rect">
            <a:avLst/>
          </a:prstGeom>
          <a:noFill/>
        </p:spPr>
        <p:txBody>
          <a:bodyPr wrap="square" lIns="0" rIns="0" tIns="0" bIns="0">
            <a:spAutoFit/>
          </a:bodyPr>
          <a:lstStyle/>
          <a:p>
            <a:pPr>
              <a:lnSpc>
                <a:spcPct val="110000"/>
              </a:lnSpc>
              <a:spcAft>
                <a:spcPts val="700"/>
              </a:spcAft>
              <a:defRPr sz="3200" b="1">
                <a:solidFill>
                  <a:srgbClr val="19382D"/>
                </a:solidFill>
                <a:latin typeface="Arial"/>
              </a:defRPr>
            </a:pPr>
            <a:r>
              <a:t>Bốn tuần để kiểm chứng mô hình.</a:t>
            </a:r>
          </a:p>
        </p:txBody>
      </p:sp>
      <p:sp>
        <p:nvSpPr>
          <p:cNvPr id="4" name="TextBox 3"/>
          <p:cNvSpPr txBox="1"/>
          <p:nvPr/>
        </p:nvSpPr>
        <p:spPr>
          <a:xfrm>
            <a:off x="612648" y="1600200"/>
            <a:ext cx="10881360" cy="566928"/>
          </a:xfrm>
          <a:prstGeom prst="rect">
            <a:avLst/>
          </a:prstGeom>
          <a:noFill/>
        </p:spPr>
        <p:txBody>
          <a:bodyPr wrap="square" lIns="0" rIns="0" tIns="0" bIns="0">
            <a:spAutoFit/>
          </a:bodyPr>
          <a:lstStyle/>
          <a:p>
            <a:pPr>
              <a:lnSpc>
                <a:spcPct val="110000"/>
              </a:lnSpc>
              <a:spcAft>
                <a:spcPts val="700"/>
              </a:spcAft>
              <a:defRPr sz="1700" b="0">
                <a:solidFill>
                  <a:srgbClr val="65766A"/>
                </a:solidFill>
                <a:latin typeface="Arial"/>
              </a:defRPr>
            </a:pPr>
            <a:r>
              <a:t>Bắt đầu từ một khu vực nhỏ, có người phụ trách và đầu ra đo được.</a:t>
            </a:r>
          </a:p>
        </p:txBody>
      </p:sp>
      <p:sp>
        <p:nvSpPr>
          <p:cNvPr id="5" name="Rectangle 4"/>
          <p:cNvSpPr/>
          <p:nvPr/>
        </p:nvSpPr>
        <p:spPr>
          <a:xfrm>
            <a:off x="566928" y="6437376"/>
            <a:ext cx="11045952" cy="10972"/>
          </a:xfrm>
          <a:prstGeom prst="rect">
            <a:avLst/>
          </a:prstGeom>
          <a:solidFill>
            <a:srgbClr val="D8E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37960"/>
            <a:ext cx="6400800" cy="182880"/>
          </a:xfrm>
          <a:prstGeom prst="rect">
            <a:avLst/>
          </a:prstGeom>
          <a:noFill/>
        </p:spPr>
        <p:txBody>
          <a:bodyPr wrap="square" lIns="0" rIns="0" tIns="0" bIns="0">
            <a:spAutoFit/>
          </a:bodyPr>
          <a:lstStyle/>
          <a:p>
            <a:pPr>
              <a:lnSpc>
                <a:spcPct val="110000"/>
              </a:lnSpc>
              <a:spcAft>
                <a:spcPts val="700"/>
              </a:spcAft>
              <a:defRPr sz="900" b="0">
                <a:solidFill>
                  <a:srgbClr val="65766A"/>
                </a:solidFill>
                <a:latin typeface="Arial"/>
              </a:defRPr>
            </a:pPr>
            <a:r>
              <a:t>VCoi  /  Thu gom hôm nay, xanh hơn ngày mai</a:t>
            </a:r>
          </a:p>
        </p:txBody>
      </p:sp>
      <p:sp>
        <p:nvSpPr>
          <p:cNvPr id="7" name="TextBox 6"/>
          <p:cNvSpPr txBox="1"/>
          <p:nvPr/>
        </p:nvSpPr>
        <p:spPr>
          <a:xfrm>
            <a:off x="10698480" y="6519672"/>
            <a:ext cx="914400" cy="228600"/>
          </a:xfrm>
          <a:prstGeom prst="rect">
            <a:avLst/>
          </a:prstGeom>
          <a:noFill/>
        </p:spPr>
        <p:txBody>
          <a:bodyPr wrap="square" lIns="0" rIns="0" tIns="0" bIns="0">
            <a:spAutoFit/>
          </a:bodyPr>
          <a:lstStyle/>
          <a:p>
            <a:pPr algn="r">
              <a:lnSpc>
                <a:spcPct val="110000"/>
              </a:lnSpc>
              <a:spcAft>
                <a:spcPts val="700"/>
              </a:spcAft>
              <a:defRPr sz="1000" b="1">
                <a:solidFill>
                  <a:srgbClr val="65766A"/>
                </a:solidFill>
                <a:latin typeface="Arial"/>
              </a:defRPr>
            </a:pPr>
            <a:r>
              <a:t>05 / 08</a:t>
            </a:r>
          </a:p>
        </p:txBody>
      </p:sp>
      <p:sp>
        <p:nvSpPr>
          <p:cNvPr id="8" name="Rounded Rectangle 7"/>
          <p:cNvSpPr/>
          <p:nvPr/>
        </p:nvSpPr>
        <p:spPr>
          <a:xfrm>
            <a:off x="621792" y="2423160"/>
            <a:ext cx="2596896" cy="351129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 y="2423160"/>
            <a:ext cx="2596896" cy="82296"/>
          </a:xfrm>
          <a:prstGeom prst="rect">
            <a:avLst/>
          </a:prstGeom>
          <a:solidFill>
            <a:srgbClr val="286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2697480"/>
            <a:ext cx="2194560" cy="292608"/>
          </a:xfrm>
          <a:prstGeom prst="rect">
            <a:avLst/>
          </a:prstGeom>
          <a:noFill/>
        </p:spPr>
        <p:txBody>
          <a:bodyPr wrap="square" lIns="0" rIns="0" tIns="0" bIns="0">
            <a:spAutoFit/>
          </a:bodyPr>
          <a:lstStyle/>
          <a:p>
            <a:pPr>
              <a:lnSpc>
                <a:spcPct val="110000"/>
              </a:lnSpc>
              <a:spcAft>
                <a:spcPts val="700"/>
              </a:spcAft>
              <a:defRPr sz="1200" b="1">
                <a:solidFill>
                  <a:srgbClr val="286B4C"/>
                </a:solidFill>
                <a:latin typeface="Arial"/>
              </a:defRPr>
            </a:pPr>
            <a:r>
              <a:t>TUẦN 01</a:t>
            </a:r>
          </a:p>
        </p:txBody>
      </p:sp>
      <p:sp>
        <p:nvSpPr>
          <p:cNvPr id="11" name="TextBox 10"/>
          <p:cNvSpPr txBox="1"/>
          <p:nvPr/>
        </p:nvSpPr>
        <p:spPr>
          <a:xfrm>
            <a:off x="832104" y="3182112"/>
            <a:ext cx="2212848" cy="502920"/>
          </a:xfrm>
          <a:prstGeom prst="rect">
            <a:avLst/>
          </a:prstGeom>
          <a:noFill/>
        </p:spPr>
        <p:txBody>
          <a:bodyPr wrap="square" lIns="0" rIns="0" tIns="0" bIns="0">
            <a:spAutoFit/>
          </a:bodyPr>
          <a:lstStyle/>
          <a:p>
            <a:pPr>
              <a:lnSpc>
                <a:spcPct val="110000"/>
              </a:lnSpc>
              <a:spcAft>
                <a:spcPts val="700"/>
              </a:spcAft>
              <a:defRPr sz="2300" b="1">
                <a:solidFill>
                  <a:srgbClr val="19382D"/>
                </a:solidFill>
                <a:latin typeface="Arial"/>
              </a:defRPr>
            </a:pPr>
            <a:r>
              <a:t>Khảo sát</a:t>
            </a:r>
          </a:p>
        </p:txBody>
      </p:sp>
      <p:sp>
        <p:nvSpPr>
          <p:cNvPr id="12" name="TextBox 11"/>
          <p:cNvSpPr txBox="1"/>
          <p:nvPr/>
        </p:nvSpPr>
        <p:spPr>
          <a:xfrm>
            <a:off x="832104" y="3858768"/>
            <a:ext cx="2212848" cy="1371600"/>
          </a:xfrm>
          <a:prstGeom prst="rect">
            <a:avLst/>
          </a:prstGeom>
          <a:noFill/>
        </p:spPr>
        <p:txBody>
          <a:bodyPr wrap="square" lIns="0" rIns="0" tIns="0" bIns="0">
            <a:spAutoFit/>
          </a:bodyPr>
          <a:lstStyle/>
          <a:p>
            <a:pPr>
              <a:lnSpc>
                <a:spcPct val="110000"/>
              </a:lnSpc>
              <a:spcAft>
                <a:spcPts val="700"/>
              </a:spcAft>
              <a:defRPr sz="1700" b="0">
                <a:solidFill>
                  <a:srgbClr val="65766A"/>
                </a:solidFill>
                <a:latin typeface="Arial"/>
              </a:defRPr>
            </a:pPr>
            <a:r>
              <a:t>Chọn khu vực</a:t>
            </a:r>
          </a:p>
          <a:p>
            <a:pPr>
              <a:lnSpc>
                <a:spcPct val="110000"/>
              </a:lnSpc>
              <a:spcAft>
                <a:spcPts val="700"/>
              </a:spcAft>
              <a:defRPr sz="1700" b="0">
                <a:solidFill>
                  <a:srgbClr val="65766A"/>
                </a:solidFill>
                <a:latin typeface="Arial"/>
              </a:defRPr>
            </a:pPr>
            <a:r>
              <a:t>và điểm tập kết.</a:t>
            </a:r>
          </a:p>
          <a:p>
            <a:pPr>
              <a:lnSpc>
                <a:spcPct val="110000"/>
              </a:lnSpc>
              <a:spcAft>
                <a:spcPts val="700"/>
              </a:spcAft>
              <a:defRPr sz="1700" b="0">
                <a:solidFill>
                  <a:srgbClr val="65766A"/>
                </a:solidFill>
                <a:latin typeface="Arial"/>
              </a:defRPr>
            </a:pPr>
            <a:r>
              <a:t>Phân công trách nhiệm.</a:t>
            </a:r>
          </a:p>
        </p:txBody>
      </p:sp>
      <p:sp>
        <p:nvSpPr>
          <p:cNvPr id="13" name="Rounded Rectangle 12"/>
          <p:cNvSpPr/>
          <p:nvPr/>
        </p:nvSpPr>
        <p:spPr>
          <a:xfrm>
            <a:off x="804672" y="5376672"/>
            <a:ext cx="2231136" cy="310896"/>
          </a:xfrm>
          <a:prstGeom prst="roundRect">
            <a:avLst>
              <a:gd name="adj" fmla="val 12000"/>
            </a:avLst>
          </a:prstGeom>
          <a:solidFill>
            <a:srgbClr val="E7E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6112" y="5431536"/>
            <a:ext cx="2048255" cy="210312"/>
          </a:xfrm>
          <a:prstGeom prst="rect">
            <a:avLst/>
          </a:prstGeom>
          <a:noFill/>
        </p:spPr>
        <p:txBody>
          <a:bodyPr wrap="square" lIns="0" rIns="0" tIns="0" bIns="0">
            <a:spAutoFit/>
          </a:bodyPr>
          <a:lstStyle/>
          <a:p>
            <a:pPr>
              <a:lnSpc>
                <a:spcPct val="110000"/>
              </a:lnSpc>
              <a:spcAft>
                <a:spcPts val="700"/>
              </a:spcAft>
              <a:defRPr sz="1000" b="1">
                <a:solidFill>
                  <a:srgbClr val="286B4C"/>
                </a:solidFill>
                <a:latin typeface="Arial"/>
              </a:defRPr>
            </a:pPr>
            <a:r>
              <a:t>Phạm vi rõ</a:t>
            </a:r>
          </a:p>
        </p:txBody>
      </p:sp>
      <p:sp>
        <p:nvSpPr>
          <p:cNvPr id="15" name="Rounded Rectangle 14"/>
          <p:cNvSpPr/>
          <p:nvPr/>
        </p:nvSpPr>
        <p:spPr>
          <a:xfrm>
            <a:off x="3429000" y="2423160"/>
            <a:ext cx="2596896" cy="351129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429000" y="2423160"/>
            <a:ext cx="2596896" cy="82296"/>
          </a:xfrm>
          <a:prstGeom prst="rect">
            <a:avLst/>
          </a:prstGeom>
          <a:solidFill>
            <a:srgbClr val="286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39312" y="2697480"/>
            <a:ext cx="2194560" cy="292608"/>
          </a:xfrm>
          <a:prstGeom prst="rect">
            <a:avLst/>
          </a:prstGeom>
          <a:noFill/>
        </p:spPr>
        <p:txBody>
          <a:bodyPr wrap="square" lIns="0" rIns="0" tIns="0" bIns="0">
            <a:spAutoFit/>
          </a:bodyPr>
          <a:lstStyle/>
          <a:p>
            <a:pPr>
              <a:lnSpc>
                <a:spcPct val="110000"/>
              </a:lnSpc>
              <a:spcAft>
                <a:spcPts val="700"/>
              </a:spcAft>
              <a:defRPr sz="1200" b="1">
                <a:solidFill>
                  <a:srgbClr val="286B4C"/>
                </a:solidFill>
                <a:latin typeface="Arial"/>
              </a:defRPr>
            </a:pPr>
            <a:r>
              <a:t>TUẦN 02</a:t>
            </a:r>
          </a:p>
        </p:txBody>
      </p:sp>
      <p:sp>
        <p:nvSpPr>
          <p:cNvPr id="18" name="TextBox 17"/>
          <p:cNvSpPr txBox="1"/>
          <p:nvPr/>
        </p:nvSpPr>
        <p:spPr>
          <a:xfrm>
            <a:off x="3639312" y="3182112"/>
            <a:ext cx="2212848" cy="502920"/>
          </a:xfrm>
          <a:prstGeom prst="rect">
            <a:avLst/>
          </a:prstGeom>
          <a:noFill/>
        </p:spPr>
        <p:txBody>
          <a:bodyPr wrap="square" lIns="0" rIns="0" tIns="0" bIns="0">
            <a:spAutoFit/>
          </a:bodyPr>
          <a:lstStyle/>
          <a:p>
            <a:pPr>
              <a:lnSpc>
                <a:spcPct val="110000"/>
              </a:lnSpc>
              <a:spcAft>
                <a:spcPts val="700"/>
              </a:spcAft>
              <a:defRPr sz="2300" b="1">
                <a:solidFill>
                  <a:srgbClr val="19382D"/>
                </a:solidFill>
                <a:latin typeface="Arial"/>
              </a:defRPr>
            </a:pPr>
            <a:r>
              <a:t>Chuẩn bị</a:t>
            </a:r>
          </a:p>
        </p:txBody>
      </p:sp>
      <p:sp>
        <p:nvSpPr>
          <p:cNvPr id="19" name="TextBox 18"/>
          <p:cNvSpPr txBox="1"/>
          <p:nvPr/>
        </p:nvSpPr>
        <p:spPr>
          <a:xfrm>
            <a:off x="3639312" y="3858768"/>
            <a:ext cx="2212848" cy="1371600"/>
          </a:xfrm>
          <a:prstGeom prst="rect">
            <a:avLst/>
          </a:prstGeom>
          <a:noFill/>
        </p:spPr>
        <p:txBody>
          <a:bodyPr wrap="square" lIns="0" rIns="0" tIns="0" bIns="0">
            <a:spAutoFit/>
          </a:bodyPr>
          <a:lstStyle/>
          <a:p>
            <a:pPr>
              <a:lnSpc>
                <a:spcPct val="110000"/>
              </a:lnSpc>
              <a:spcAft>
                <a:spcPts val="700"/>
              </a:spcAft>
              <a:defRPr sz="1700" b="0">
                <a:solidFill>
                  <a:srgbClr val="65766A"/>
                </a:solidFill>
                <a:latin typeface="Arial"/>
              </a:defRPr>
            </a:pPr>
            <a:r>
              <a:t>Sửa lỗi ưu tiên.</a:t>
            </a:r>
          </a:p>
          <a:p>
            <a:pPr>
              <a:lnSpc>
                <a:spcPct val="110000"/>
              </a:lnSpc>
              <a:spcAft>
                <a:spcPts val="700"/>
              </a:spcAft>
              <a:defRPr sz="1700" b="0">
                <a:solidFill>
                  <a:srgbClr val="65766A"/>
                </a:solidFill>
                <a:latin typeface="Arial"/>
              </a:defRPr>
            </a:pPr>
            <a:r>
              <a:t>Kiểm thử hệ thống.</a:t>
            </a:r>
          </a:p>
          <a:p>
            <a:pPr>
              <a:lnSpc>
                <a:spcPct val="110000"/>
              </a:lnSpc>
              <a:spcAft>
                <a:spcPts val="700"/>
              </a:spcAft>
              <a:defRPr sz="1700" b="0">
                <a:solidFill>
                  <a:srgbClr val="65766A"/>
                </a:solidFill>
                <a:latin typeface="Arial"/>
              </a:defRPr>
            </a:pPr>
            <a:r>
              <a:t>Hướng dẫn sử dụng.</a:t>
            </a:r>
          </a:p>
        </p:txBody>
      </p:sp>
      <p:sp>
        <p:nvSpPr>
          <p:cNvPr id="20" name="Rounded Rectangle 19"/>
          <p:cNvSpPr/>
          <p:nvPr/>
        </p:nvSpPr>
        <p:spPr>
          <a:xfrm>
            <a:off x="3611880" y="5376672"/>
            <a:ext cx="2231136" cy="310896"/>
          </a:xfrm>
          <a:prstGeom prst="roundRect">
            <a:avLst>
              <a:gd name="adj" fmla="val 12000"/>
            </a:avLst>
          </a:prstGeom>
          <a:solidFill>
            <a:srgbClr val="E7E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03320" y="5431536"/>
            <a:ext cx="2048255" cy="210312"/>
          </a:xfrm>
          <a:prstGeom prst="rect">
            <a:avLst/>
          </a:prstGeom>
          <a:noFill/>
        </p:spPr>
        <p:txBody>
          <a:bodyPr wrap="square" lIns="0" rIns="0" tIns="0" bIns="0">
            <a:spAutoFit/>
          </a:bodyPr>
          <a:lstStyle/>
          <a:p>
            <a:pPr>
              <a:lnSpc>
                <a:spcPct val="110000"/>
              </a:lnSpc>
              <a:spcAft>
                <a:spcPts val="700"/>
              </a:spcAft>
              <a:defRPr sz="1000" b="1">
                <a:solidFill>
                  <a:srgbClr val="286B4C"/>
                </a:solidFill>
                <a:latin typeface="Arial"/>
              </a:defRPr>
            </a:pPr>
            <a:r>
              <a:t>Sẵn sàng thử</a:t>
            </a:r>
          </a:p>
        </p:txBody>
      </p:sp>
      <p:sp>
        <p:nvSpPr>
          <p:cNvPr id="22" name="Rounded Rectangle 21"/>
          <p:cNvSpPr/>
          <p:nvPr/>
        </p:nvSpPr>
        <p:spPr>
          <a:xfrm>
            <a:off x="6236207" y="2423160"/>
            <a:ext cx="2596896" cy="351129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7" y="2423160"/>
            <a:ext cx="2596896" cy="82296"/>
          </a:xfrm>
          <a:prstGeom prst="rect">
            <a:avLst/>
          </a:prstGeom>
          <a:solidFill>
            <a:srgbClr val="286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2697480"/>
            <a:ext cx="2194560" cy="292608"/>
          </a:xfrm>
          <a:prstGeom prst="rect">
            <a:avLst/>
          </a:prstGeom>
          <a:noFill/>
        </p:spPr>
        <p:txBody>
          <a:bodyPr wrap="square" lIns="0" rIns="0" tIns="0" bIns="0">
            <a:spAutoFit/>
          </a:bodyPr>
          <a:lstStyle/>
          <a:p>
            <a:pPr>
              <a:lnSpc>
                <a:spcPct val="110000"/>
              </a:lnSpc>
              <a:spcAft>
                <a:spcPts val="700"/>
              </a:spcAft>
              <a:defRPr sz="1200" b="1">
                <a:solidFill>
                  <a:srgbClr val="286B4C"/>
                </a:solidFill>
                <a:latin typeface="Arial"/>
              </a:defRPr>
            </a:pPr>
            <a:r>
              <a:t>TUẦN 03</a:t>
            </a:r>
          </a:p>
        </p:txBody>
      </p:sp>
      <p:sp>
        <p:nvSpPr>
          <p:cNvPr id="25" name="TextBox 24"/>
          <p:cNvSpPr txBox="1"/>
          <p:nvPr/>
        </p:nvSpPr>
        <p:spPr>
          <a:xfrm>
            <a:off x="6446520" y="3182112"/>
            <a:ext cx="2212848" cy="502920"/>
          </a:xfrm>
          <a:prstGeom prst="rect">
            <a:avLst/>
          </a:prstGeom>
          <a:noFill/>
        </p:spPr>
        <p:txBody>
          <a:bodyPr wrap="square" lIns="0" rIns="0" tIns="0" bIns="0">
            <a:spAutoFit/>
          </a:bodyPr>
          <a:lstStyle/>
          <a:p>
            <a:pPr>
              <a:lnSpc>
                <a:spcPct val="110000"/>
              </a:lnSpc>
              <a:spcAft>
                <a:spcPts val="700"/>
              </a:spcAft>
              <a:defRPr sz="2300" b="1">
                <a:solidFill>
                  <a:srgbClr val="19382D"/>
                </a:solidFill>
                <a:latin typeface="Arial"/>
              </a:defRPr>
            </a:pPr>
            <a:r>
              <a:t>Thí điểm</a:t>
            </a:r>
          </a:p>
        </p:txBody>
      </p:sp>
      <p:sp>
        <p:nvSpPr>
          <p:cNvPr id="26" name="TextBox 25"/>
          <p:cNvSpPr txBox="1"/>
          <p:nvPr/>
        </p:nvSpPr>
        <p:spPr>
          <a:xfrm>
            <a:off x="6446520" y="3858768"/>
            <a:ext cx="2212848" cy="1371600"/>
          </a:xfrm>
          <a:prstGeom prst="rect">
            <a:avLst/>
          </a:prstGeom>
          <a:noFill/>
        </p:spPr>
        <p:txBody>
          <a:bodyPr wrap="square" lIns="0" rIns="0" tIns="0" bIns="0">
            <a:spAutoFit/>
          </a:bodyPr>
          <a:lstStyle/>
          <a:p>
            <a:pPr>
              <a:lnSpc>
                <a:spcPct val="110000"/>
              </a:lnSpc>
              <a:spcAft>
                <a:spcPts val="700"/>
              </a:spcAft>
              <a:defRPr sz="1700" b="0">
                <a:solidFill>
                  <a:srgbClr val="65766A"/>
                </a:solidFill>
                <a:latin typeface="Arial"/>
              </a:defRPr>
            </a:pPr>
            <a:r>
              <a:t>Truyền thông.</a:t>
            </a:r>
          </a:p>
          <a:p>
            <a:pPr>
              <a:lnSpc>
                <a:spcPct val="110000"/>
              </a:lnSpc>
              <a:spcAft>
                <a:spcPts val="700"/>
              </a:spcAft>
              <a:defRPr sz="1700" b="0">
                <a:solidFill>
                  <a:srgbClr val="65766A"/>
                </a:solidFill>
                <a:latin typeface="Arial"/>
              </a:defRPr>
            </a:pPr>
            <a:r>
              <a:t>Tiếp nhận lịch hẹn.</a:t>
            </a:r>
          </a:p>
          <a:p>
            <a:pPr>
              <a:lnSpc>
                <a:spcPct val="110000"/>
              </a:lnSpc>
              <a:spcAft>
                <a:spcPts val="700"/>
              </a:spcAft>
              <a:defRPr sz="1700" b="0">
                <a:solidFill>
                  <a:srgbClr val="65766A"/>
                </a:solidFill>
                <a:latin typeface="Arial"/>
              </a:defRPr>
            </a:pPr>
            <a:r>
              <a:t>Tổ chức thu gom.</a:t>
            </a:r>
          </a:p>
        </p:txBody>
      </p:sp>
      <p:sp>
        <p:nvSpPr>
          <p:cNvPr id="27" name="Rounded Rectangle 26"/>
          <p:cNvSpPr/>
          <p:nvPr/>
        </p:nvSpPr>
        <p:spPr>
          <a:xfrm>
            <a:off x="6419088" y="5376672"/>
            <a:ext cx="2231136" cy="310896"/>
          </a:xfrm>
          <a:prstGeom prst="roundRect">
            <a:avLst>
              <a:gd name="adj" fmla="val 12000"/>
            </a:avLst>
          </a:prstGeom>
          <a:solidFill>
            <a:srgbClr val="E7E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10527" y="5431536"/>
            <a:ext cx="2048255" cy="210312"/>
          </a:xfrm>
          <a:prstGeom prst="rect">
            <a:avLst/>
          </a:prstGeom>
          <a:noFill/>
        </p:spPr>
        <p:txBody>
          <a:bodyPr wrap="square" lIns="0" rIns="0" tIns="0" bIns="0">
            <a:spAutoFit/>
          </a:bodyPr>
          <a:lstStyle/>
          <a:p>
            <a:pPr>
              <a:lnSpc>
                <a:spcPct val="110000"/>
              </a:lnSpc>
              <a:spcAft>
                <a:spcPts val="700"/>
              </a:spcAft>
              <a:defRPr sz="1000" b="1">
                <a:solidFill>
                  <a:srgbClr val="286B4C"/>
                </a:solidFill>
                <a:latin typeface="Arial"/>
              </a:defRPr>
            </a:pPr>
            <a:r>
              <a:t>Có dữ liệu</a:t>
            </a:r>
          </a:p>
        </p:txBody>
      </p:sp>
      <p:sp>
        <p:nvSpPr>
          <p:cNvPr id="29" name="Rounded Rectangle 28"/>
          <p:cNvSpPr/>
          <p:nvPr/>
        </p:nvSpPr>
        <p:spPr>
          <a:xfrm>
            <a:off x="9043415" y="2423160"/>
            <a:ext cx="2596896" cy="3511296"/>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043415" y="2423160"/>
            <a:ext cx="2596896" cy="82296"/>
          </a:xfrm>
          <a:prstGeom prst="rect">
            <a:avLst/>
          </a:prstGeom>
          <a:solidFill>
            <a:srgbClr val="C9E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253728" y="2697480"/>
            <a:ext cx="2194560" cy="292608"/>
          </a:xfrm>
          <a:prstGeom prst="rect">
            <a:avLst/>
          </a:prstGeom>
          <a:noFill/>
        </p:spPr>
        <p:txBody>
          <a:bodyPr wrap="square" lIns="0" rIns="0" tIns="0" bIns="0">
            <a:spAutoFit/>
          </a:bodyPr>
          <a:lstStyle/>
          <a:p>
            <a:pPr>
              <a:lnSpc>
                <a:spcPct val="110000"/>
              </a:lnSpc>
              <a:spcAft>
                <a:spcPts val="700"/>
              </a:spcAft>
              <a:defRPr sz="1200" b="1">
                <a:solidFill>
                  <a:srgbClr val="286B4C"/>
                </a:solidFill>
                <a:latin typeface="Arial"/>
              </a:defRPr>
            </a:pPr>
            <a:r>
              <a:t>TUẦN 04</a:t>
            </a:r>
          </a:p>
        </p:txBody>
      </p:sp>
      <p:sp>
        <p:nvSpPr>
          <p:cNvPr id="32" name="TextBox 31"/>
          <p:cNvSpPr txBox="1"/>
          <p:nvPr/>
        </p:nvSpPr>
        <p:spPr>
          <a:xfrm>
            <a:off x="9253728" y="3182112"/>
            <a:ext cx="2212848" cy="502920"/>
          </a:xfrm>
          <a:prstGeom prst="rect">
            <a:avLst/>
          </a:prstGeom>
          <a:noFill/>
        </p:spPr>
        <p:txBody>
          <a:bodyPr wrap="square" lIns="0" rIns="0" tIns="0" bIns="0">
            <a:spAutoFit/>
          </a:bodyPr>
          <a:lstStyle/>
          <a:p>
            <a:pPr>
              <a:lnSpc>
                <a:spcPct val="110000"/>
              </a:lnSpc>
              <a:spcAft>
                <a:spcPts val="700"/>
              </a:spcAft>
              <a:defRPr sz="2300" b="1">
                <a:solidFill>
                  <a:srgbClr val="19382D"/>
                </a:solidFill>
                <a:latin typeface="Arial"/>
              </a:defRPr>
            </a:pPr>
            <a:r>
              <a:t>Đánh giá</a:t>
            </a:r>
          </a:p>
        </p:txBody>
      </p:sp>
      <p:sp>
        <p:nvSpPr>
          <p:cNvPr id="33" name="TextBox 32"/>
          <p:cNvSpPr txBox="1"/>
          <p:nvPr/>
        </p:nvSpPr>
        <p:spPr>
          <a:xfrm>
            <a:off x="9253728" y="3858768"/>
            <a:ext cx="2212848" cy="1371600"/>
          </a:xfrm>
          <a:prstGeom prst="rect">
            <a:avLst/>
          </a:prstGeom>
          <a:noFill/>
        </p:spPr>
        <p:txBody>
          <a:bodyPr wrap="square" lIns="0" rIns="0" tIns="0" bIns="0">
            <a:spAutoFit/>
          </a:bodyPr>
          <a:lstStyle/>
          <a:p>
            <a:pPr>
              <a:lnSpc>
                <a:spcPct val="110000"/>
              </a:lnSpc>
              <a:spcAft>
                <a:spcPts val="700"/>
              </a:spcAft>
              <a:defRPr sz="1700" b="0">
                <a:solidFill>
                  <a:srgbClr val="65766A"/>
                </a:solidFill>
                <a:latin typeface="Arial"/>
              </a:defRPr>
            </a:pPr>
            <a:r>
              <a:t>Tổng hợp khối lượng.</a:t>
            </a:r>
          </a:p>
          <a:p>
            <a:pPr>
              <a:lnSpc>
                <a:spcPct val="110000"/>
              </a:lnSpc>
              <a:spcAft>
                <a:spcPts val="700"/>
              </a:spcAft>
              <a:defRPr sz="1700" b="0">
                <a:solidFill>
                  <a:srgbClr val="65766A"/>
                </a:solidFill>
                <a:latin typeface="Arial"/>
              </a:defRPr>
            </a:pPr>
            <a:r>
              <a:t>Đối chiếu chi phí.</a:t>
            </a:r>
          </a:p>
          <a:p>
            <a:pPr>
              <a:lnSpc>
                <a:spcPct val="110000"/>
              </a:lnSpc>
              <a:spcAft>
                <a:spcPts val="700"/>
              </a:spcAft>
              <a:defRPr sz="1700" b="0">
                <a:solidFill>
                  <a:srgbClr val="65766A"/>
                </a:solidFill>
                <a:latin typeface="Arial"/>
              </a:defRPr>
            </a:pPr>
            <a:r>
              <a:t>Thu nhận phản hồi.</a:t>
            </a:r>
          </a:p>
        </p:txBody>
      </p:sp>
      <p:sp>
        <p:nvSpPr>
          <p:cNvPr id="34" name="Rounded Rectangle 33"/>
          <p:cNvSpPr/>
          <p:nvPr/>
        </p:nvSpPr>
        <p:spPr>
          <a:xfrm>
            <a:off x="9226295" y="5376672"/>
            <a:ext cx="2231136" cy="310896"/>
          </a:xfrm>
          <a:prstGeom prst="roundRect">
            <a:avLst>
              <a:gd name="adj" fmla="val 12000"/>
            </a:avLst>
          </a:prstGeom>
          <a:solidFill>
            <a:srgbClr val="E7E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317735" y="5431536"/>
            <a:ext cx="2048255" cy="210312"/>
          </a:xfrm>
          <a:prstGeom prst="rect">
            <a:avLst/>
          </a:prstGeom>
          <a:noFill/>
        </p:spPr>
        <p:txBody>
          <a:bodyPr wrap="square" lIns="0" rIns="0" tIns="0" bIns="0">
            <a:spAutoFit/>
          </a:bodyPr>
          <a:lstStyle/>
          <a:p>
            <a:pPr>
              <a:lnSpc>
                <a:spcPct val="110000"/>
              </a:lnSpc>
              <a:spcAft>
                <a:spcPts val="700"/>
              </a:spcAft>
              <a:defRPr sz="1000" b="1">
                <a:solidFill>
                  <a:srgbClr val="286B4C"/>
                </a:solidFill>
                <a:latin typeface="Arial"/>
              </a:defRPr>
            </a:pPr>
            <a:r>
              <a:t>Quyết định mở rộng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EF"/>
        </a:solidFill>
        <a:effectLst/>
      </p:bgPr>
    </p:bg>
    <p:spTree>
      <p:nvGrpSpPr>
        <p:cNvPr id="1" name=""/>
        <p:cNvGrpSpPr/>
        <p:nvPr/>
      </p:nvGrpSpPr>
      <p:grpSpPr/>
      <p:sp>
        <p:nvSpPr>
          <p:cNvPr id="2" name="TextBox 1"/>
          <p:cNvSpPr txBox="1"/>
          <p:nvPr/>
        </p:nvSpPr>
        <p:spPr>
          <a:xfrm>
            <a:off x="594360" y="384048"/>
            <a:ext cx="10058400" cy="274320"/>
          </a:xfrm>
          <a:prstGeom prst="rect">
            <a:avLst/>
          </a:prstGeom>
          <a:noFill/>
        </p:spPr>
        <p:txBody>
          <a:bodyPr wrap="square" lIns="0" rIns="0" tIns="0" bIns="0">
            <a:spAutoFit/>
          </a:bodyPr>
          <a:lstStyle/>
          <a:p>
            <a:pPr>
              <a:lnSpc>
                <a:spcPct val="110000"/>
              </a:lnSpc>
              <a:spcAft>
                <a:spcPts val="700"/>
              </a:spcAft>
              <a:defRPr sz="1100" b="1">
                <a:solidFill>
                  <a:srgbClr val="286B4C"/>
                </a:solidFill>
                <a:latin typeface="Arial"/>
              </a:defRPr>
            </a:pPr>
            <a:r>
              <a:t>05 / NGUỒN LỰC &amp; NGÂN SÁCH</a:t>
            </a:r>
          </a:p>
        </p:txBody>
      </p:sp>
      <p:sp>
        <p:nvSpPr>
          <p:cNvPr id="3" name="TextBox 2"/>
          <p:cNvSpPr txBox="1"/>
          <p:nvPr/>
        </p:nvSpPr>
        <p:spPr>
          <a:xfrm>
            <a:off x="594360" y="868680"/>
            <a:ext cx="10972800" cy="914400"/>
          </a:xfrm>
          <a:prstGeom prst="rect">
            <a:avLst/>
          </a:prstGeom>
          <a:noFill/>
        </p:spPr>
        <p:txBody>
          <a:bodyPr wrap="square" lIns="0" rIns="0" tIns="0" bIns="0">
            <a:spAutoFit/>
          </a:bodyPr>
          <a:lstStyle/>
          <a:p>
            <a:pPr>
              <a:lnSpc>
                <a:spcPct val="110000"/>
              </a:lnSpc>
              <a:spcAft>
                <a:spcPts val="700"/>
              </a:spcAft>
              <a:defRPr sz="3200" b="1">
                <a:solidFill>
                  <a:srgbClr val="19382D"/>
                </a:solidFill>
                <a:latin typeface="Arial"/>
              </a:defRPr>
            </a:pPr>
            <a:r>
              <a:t>Gọn nguồn lực, rõ từng khoản chi.</a:t>
            </a:r>
          </a:p>
        </p:txBody>
      </p:sp>
      <p:sp>
        <p:nvSpPr>
          <p:cNvPr id="4" name="Rectangle 3"/>
          <p:cNvSpPr/>
          <p:nvPr/>
        </p:nvSpPr>
        <p:spPr>
          <a:xfrm>
            <a:off x="566928" y="6437376"/>
            <a:ext cx="11045952" cy="10972"/>
          </a:xfrm>
          <a:prstGeom prst="rect">
            <a:avLst/>
          </a:prstGeom>
          <a:solidFill>
            <a:srgbClr val="D8E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37960"/>
            <a:ext cx="6400800" cy="182880"/>
          </a:xfrm>
          <a:prstGeom prst="rect">
            <a:avLst/>
          </a:prstGeom>
          <a:noFill/>
        </p:spPr>
        <p:txBody>
          <a:bodyPr wrap="square" lIns="0" rIns="0" tIns="0" bIns="0">
            <a:spAutoFit/>
          </a:bodyPr>
          <a:lstStyle/>
          <a:p>
            <a:pPr>
              <a:lnSpc>
                <a:spcPct val="110000"/>
              </a:lnSpc>
              <a:spcAft>
                <a:spcPts val="700"/>
              </a:spcAft>
              <a:defRPr sz="900" b="0">
                <a:solidFill>
                  <a:srgbClr val="65766A"/>
                </a:solidFill>
                <a:latin typeface="Arial"/>
              </a:defRPr>
            </a:pPr>
            <a:r>
              <a:t>VCoi  /  Thu gom hôm nay, xanh hơn ngày mai</a:t>
            </a:r>
          </a:p>
        </p:txBody>
      </p:sp>
      <p:sp>
        <p:nvSpPr>
          <p:cNvPr id="6" name="TextBox 5"/>
          <p:cNvSpPr txBox="1"/>
          <p:nvPr/>
        </p:nvSpPr>
        <p:spPr>
          <a:xfrm>
            <a:off x="10698480" y="6519672"/>
            <a:ext cx="914400" cy="228600"/>
          </a:xfrm>
          <a:prstGeom prst="rect">
            <a:avLst/>
          </a:prstGeom>
          <a:noFill/>
        </p:spPr>
        <p:txBody>
          <a:bodyPr wrap="square" lIns="0" rIns="0" tIns="0" bIns="0">
            <a:spAutoFit/>
          </a:bodyPr>
          <a:lstStyle/>
          <a:p>
            <a:pPr algn="r">
              <a:lnSpc>
                <a:spcPct val="110000"/>
              </a:lnSpc>
              <a:spcAft>
                <a:spcPts val="700"/>
              </a:spcAft>
              <a:defRPr sz="1000" b="1">
                <a:solidFill>
                  <a:srgbClr val="65766A"/>
                </a:solidFill>
                <a:latin typeface="Arial"/>
              </a:defRPr>
            </a:pPr>
            <a:r>
              <a:t>06 / 08</a:t>
            </a:r>
          </a:p>
        </p:txBody>
      </p:sp>
      <p:sp>
        <p:nvSpPr>
          <p:cNvPr id="7" name="Rounded Rectangle 6"/>
          <p:cNvSpPr/>
          <p:nvPr/>
        </p:nvSpPr>
        <p:spPr>
          <a:xfrm>
            <a:off x="640080" y="1783080"/>
            <a:ext cx="2743200" cy="310896"/>
          </a:xfrm>
          <a:prstGeom prst="roundRect">
            <a:avLst>
              <a:gd name="adj" fmla="val 12000"/>
            </a:avLst>
          </a:prstGeom>
          <a:solidFill>
            <a:srgbClr val="E7E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19" y="1837943"/>
            <a:ext cx="2560320" cy="210312"/>
          </a:xfrm>
          <a:prstGeom prst="rect">
            <a:avLst/>
          </a:prstGeom>
          <a:noFill/>
        </p:spPr>
        <p:txBody>
          <a:bodyPr wrap="square" lIns="0" rIns="0" tIns="0" bIns="0">
            <a:spAutoFit/>
          </a:bodyPr>
          <a:lstStyle/>
          <a:p>
            <a:pPr>
              <a:lnSpc>
                <a:spcPct val="110000"/>
              </a:lnSpc>
              <a:spcAft>
                <a:spcPts val="700"/>
              </a:spcAft>
              <a:defRPr sz="1000" b="1">
                <a:solidFill>
                  <a:srgbClr val="286B4C"/>
                </a:solidFill>
                <a:latin typeface="Arial"/>
              </a:defRPr>
            </a:pPr>
            <a:r>
              <a:t>NGÂN SÁCH MINH HỌA</a:t>
            </a:r>
          </a:p>
        </p:txBody>
      </p:sp>
      <p:sp>
        <p:nvSpPr>
          <p:cNvPr id="9" name="TextBox 8"/>
          <p:cNvSpPr txBox="1"/>
          <p:nvPr/>
        </p:nvSpPr>
        <p:spPr>
          <a:xfrm>
            <a:off x="713232" y="2331720"/>
            <a:ext cx="3657600" cy="329184"/>
          </a:xfrm>
          <a:prstGeom prst="rect">
            <a:avLst/>
          </a:prstGeom>
          <a:noFill/>
        </p:spPr>
        <p:txBody>
          <a:bodyPr wrap="square" lIns="0" rIns="0" tIns="0" bIns="0">
            <a:spAutoFit/>
          </a:bodyPr>
          <a:lstStyle/>
          <a:p>
            <a:pPr>
              <a:lnSpc>
                <a:spcPct val="110000"/>
              </a:lnSpc>
              <a:spcAft>
                <a:spcPts val="700"/>
              </a:spcAft>
              <a:defRPr sz="1800" b="0">
                <a:solidFill>
                  <a:srgbClr val="19382D"/>
                </a:solidFill>
                <a:latin typeface="Arial"/>
              </a:defRPr>
            </a:pPr>
            <a:r>
              <a:t>Cân, bao chứa, dụng cụ</a:t>
            </a:r>
          </a:p>
        </p:txBody>
      </p:sp>
      <p:sp>
        <p:nvSpPr>
          <p:cNvPr id="10" name="TextBox 9"/>
          <p:cNvSpPr txBox="1"/>
          <p:nvPr/>
        </p:nvSpPr>
        <p:spPr>
          <a:xfrm>
            <a:off x="4453128" y="2331720"/>
            <a:ext cx="1554480" cy="329184"/>
          </a:xfrm>
          <a:prstGeom prst="rect">
            <a:avLst/>
          </a:prstGeom>
          <a:noFill/>
        </p:spPr>
        <p:txBody>
          <a:bodyPr wrap="square" lIns="0" rIns="0" tIns="0" bIns="0">
            <a:spAutoFit/>
          </a:bodyPr>
          <a:lstStyle/>
          <a:p>
            <a:pPr algn="r">
              <a:lnSpc>
                <a:spcPct val="110000"/>
              </a:lnSpc>
              <a:spcAft>
                <a:spcPts val="700"/>
              </a:spcAft>
              <a:defRPr sz="1800" b="1">
                <a:solidFill>
                  <a:srgbClr val="19382D"/>
                </a:solidFill>
                <a:latin typeface="Arial"/>
              </a:defRPr>
            </a:pPr>
            <a:r>
              <a:t>800.000 đ</a:t>
            </a:r>
          </a:p>
        </p:txBody>
      </p:sp>
      <p:sp>
        <p:nvSpPr>
          <p:cNvPr id="11" name="Rectangle 10"/>
          <p:cNvSpPr/>
          <p:nvPr/>
        </p:nvSpPr>
        <p:spPr>
          <a:xfrm>
            <a:off x="694944" y="2724912"/>
            <a:ext cx="5340096" cy="16459"/>
          </a:xfrm>
          <a:prstGeom prst="rect">
            <a:avLst/>
          </a:prstGeom>
          <a:solidFill>
            <a:srgbClr val="D8E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2807208"/>
            <a:ext cx="3657600" cy="329184"/>
          </a:xfrm>
          <a:prstGeom prst="rect">
            <a:avLst/>
          </a:prstGeom>
          <a:noFill/>
        </p:spPr>
        <p:txBody>
          <a:bodyPr wrap="square" lIns="0" rIns="0" tIns="0" bIns="0">
            <a:spAutoFit/>
          </a:bodyPr>
          <a:lstStyle/>
          <a:p>
            <a:pPr>
              <a:lnSpc>
                <a:spcPct val="110000"/>
              </a:lnSpc>
              <a:spcAft>
                <a:spcPts val="700"/>
              </a:spcAft>
              <a:defRPr sz="1800" b="0">
                <a:solidFill>
                  <a:srgbClr val="19382D"/>
                </a:solidFill>
                <a:latin typeface="Arial"/>
              </a:defRPr>
            </a:pPr>
            <a:r>
              <a:t>Đồ bảo hộ</a:t>
            </a:r>
          </a:p>
        </p:txBody>
      </p:sp>
      <p:sp>
        <p:nvSpPr>
          <p:cNvPr id="13" name="TextBox 12"/>
          <p:cNvSpPr txBox="1"/>
          <p:nvPr/>
        </p:nvSpPr>
        <p:spPr>
          <a:xfrm>
            <a:off x="4453128" y="2807208"/>
            <a:ext cx="1554480" cy="329184"/>
          </a:xfrm>
          <a:prstGeom prst="rect">
            <a:avLst/>
          </a:prstGeom>
          <a:noFill/>
        </p:spPr>
        <p:txBody>
          <a:bodyPr wrap="square" lIns="0" rIns="0" tIns="0" bIns="0">
            <a:spAutoFit/>
          </a:bodyPr>
          <a:lstStyle/>
          <a:p>
            <a:pPr algn="r">
              <a:lnSpc>
                <a:spcPct val="110000"/>
              </a:lnSpc>
              <a:spcAft>
                <a:spcPts val="700"/>
              </a:spcAft>
              <a:defRPr sz="1800" b="1">
                <a:solidFill>
                  <a:srgbClr val="19382D"/>
                </a:solidFill>
                <a:latin typeface="Arial"/>
              </a:defRPr>
            </a:pPr>
            <a:r>
              <a:t>300.000 đ</a:t>
            </a:r>
          </a:p>
        </p:txBody>
      </p:sp>
      <p:sp>
        <p:nvSpPr>
          <p:cNvPr id="14" name="Rectangle 13"/>
          <p:cNvSpPr/>
          <p:nvPr/>
        </p:nvSpPr>
        <p:spPr>
          <a:xfrm>
            <a:off x="694944" y="3200400"/>
            <a:ext cx="5340096" cy="16459"/>
          </a:xfrm>
          <a:prstGeom prst="rect">
            <a:avLst/>
          </a:prstGeom>
          <a:solidFill>
            <a:srgbClr val="D8E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3282696"/>
            <a:ext cx="3657600" cy="329184"/>
          </a:xfrm>
          <a:prstGeom prst="rect">
            <a:avLst/>
          </a:prstGeom>
          <a:noFill/>
        </p:spPr>
        <p:txBody>
          <a:bodyPr wrap="square" lIns="0" rIns="0" tIns="0" bIns="0">
            <a:spAutoFit/>
          </a:bodyPr>
          <a:lstStyle/>
          <a:p>
            <a:pPr>
              <a:lnSpc>
                <a:spcPct val="110000"/>
              </a:lnSpc>
              <a:spcAft>
                <a:spcPts val="700"/>
              </a:spcAft>
              <a:defRPr sz="1800" b="0">
                <a:solidFill>
                  <a:srgbClr val="19382D"/>
                </a:solidFill>
                <a:latin typeface="Arial"/>
              </a:defRPr>
            </a:pPr>
            <a:r>
              <a:t>Vận chuyển</a:t>
            </a:r>
          </a:p>
        </p:txBody>
      </p:sp>
      <p:sp>
        <p:nvSpPr>
          <p:cNvPr id="16" name="TextBox 15"/>
          <p:cNvSpPr txBox="1"/>
          <p:nvPr/>
        </p:nvSpPr>
        <p:spPr>
          <a:xfrm>
            <a:off x="4453128" y="3282696"/>
            <a:ext cx="1554480" cy="329184"/>
          </a:xfrm>
          <a:prstGeom prst="rect">
            <a:avLst/>
          </a:prstGeom>
          <a:noFill/>
        </p:spPr>
        <p:txBody>
          <a:bodyPr wrap="square" lIns="0" rIns="0" tIns="0" bIns="0">
            <a:spAutoFit/>
          </a:bodyPr>
          <a:lstStyle/>
          <a:p>
            <a:pPr algn="r">
              <a:lnSpc>
                <a:spcPct val="110000"/>
              </a:lnSpc>
              <a:spcAft>
                <a:spcPts val="700"/>
              </a:spcAft>
              <a:defRPr sz="1800" b="1">
                <a:solidFill>
                  <a:srgbClr val="19382D"/>
                </a:solidFill>
                <a:latin typeface="Arial"/>
              </a:defRPr>
            </a:pPr>
            <a:r>
              <a:t>500.000 đ</a:t>
            </a:r>
          </a:p>
        </p:txBody>
      </p:sp>
      <p:sp>
        <p:nvSpPr>
          <p:cNvPr id="17" name="Rectangle 16"/>
          <p:cNvSpPr/>
          <p:nvPr/>
        </p:nvSpPr>
        <p:spPr>
          <a:xfrm>
            <a:off x="694944" y="3675887"/>
            <a:ext cx="5340096" cy="16459"/>
          </a:xfrm>
          <a:prstGeom prst="rect">
            <a:avLst/>
          </a:prstGeom>
          <a:solidFill>
            <a:srgbClr val="D8E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3758183"/>
            <a:ext cx="3657600" cy="329184"/>
          </a:xfrm>
          <a:prstGeom prst="rect">
            <a:avLst/>
          </a:prstGeom>
          <a:noFill/>
        </p:spPr>
        <p:txBody>
          <a:bodyPr wrap="square" lIns="0" rIns="0" tIns="0" bIns="0">
            <a:spAutoFit/>
          </a:bodyPr>
          <a:lstStyle/>
          <a:p>
            <a:pPr>
              <a:lnSpc>
                <a:spcPct val="110000"/>
              </a:lnSpc>
              <a:spcAft>
                <a:spcPts val="700"/>
              </a:spcAft>
              <a:defRPr sz="1800" b="0">
                <a:solidFill>
                  <a:srgbClr val="19382D"/>
                </a:solidFill>
                <a:latin typeface="Arial"/>
              </a:defRPr>
            </a:pPr>
            <a:r>
              <a:t>Truyền thông</a:t>
            </a:r>
          </a:p>
        </p:txBody>
      </p:sp>
      <p:sp>
        <p:nvSpPr>
          <p:cNvPr id="19" name="TextBox 18"/>
          <p:cNvSpPr txBox="1"/>
          <p:nvPr/>
        </p:nvSpPr>
        <p:spPr>
          <a:xfrm>
            <a:off x="4453128" y="3758183"/>
            <a:ext cx="1554480" cy="329184"/>
          </a:xfrm>
          <a:prstGeom prst="rect">
            <a:avLst/>
          </a:prstGeom>
          <a:noFill/>
        </p:spPr>
        <p:txBody>
          <a:bodyPr wrap="square" lIns="0" rIns="0" tIns="0" bIns="0">
            <a:spAutoFit/>
          </a:bodyPr>
          <a:lstStyle/>
          <a:p>
            <a:pPr algn="r">
              <a:lnSpc>
                <a:spcPct val="110000"/>
              </a:lnSpc>
              <a:spcAft>
                <a:spcPts val="700"/>
              </a:spcAft>
              <a:defRPr sz="1800" b="1">
                <a:solidFill>
                  <a:srgbClr val="19382D"/>
                </a:solidFill>
                <a:latin typeface="Arial"/>
              </a:defRPr>
            </a:pPr>
            <a:r>
              <a:t>200.000 đ</a:t>
            </a:r>
          </a:p>
        </p:txBody>
      </p:sp>
      <p:sp>
        <p:nvSpPr>
          <p:cNvPr id="20" name="Rectangle 19"/>
          <p:cNvSpPr/>
          <p:nvPr/>
        </p:nvSpPr>
        <p:spPr>
          <a:xfrm>
            <a:off x="694944" y="4151375"/>
            <a:ext cx="5340096" cy="16459"/>
          </a:xfrm>
          <a:prstGeom prst="rect">
            <a:avLst/>
          </a:prstGeom>
          <a:solidFill>
            <a:srgbClr val="D8E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4233672"/>
            <a:ext cx="3657600" cy="329184"/>
          </a:xfrm>
          <a:prstGeom prst="rect">
            <a:avLst/>
          </a:prstGeom>
          <a:noFill/>
        </p:spPr>
        <p:txBody>
          <a:bodyPr wrap="square" lIns="0" rIns="0" tIns="0" bIns="0">
            <a:spAutoFit/>
          </a:bodyPr>
          <a:lstStyle/>
          <a:p>
            <a:pPr>
              <a:lnSpc>
                <a:spcPct val="110000"/>
              </a:lnSpc>
              <a:spcAft>
                <a:spcPts val="700"/>
              </a:spcAft>
              <a:defRPr sz="1800" b="0">
                <a:solidFill>
                  <a:srgbClr val="19382D"/>
                </a:solidFill>
                <a:latin typeface="Arial"/>
              </a:defRPr>
            </a:pPr>
            <a:r>
              <a:t>Dự phòng</a:t>
            </a:r>
          </a:p>
        </p:txBody>
      </p:sp>
      <p:sp>
        <p:nvSpPr>
          <p:cNvPr id="22" name="TextBox 21"/>
          <p:cNvSpPr txBox="1"/>
          <p:nvPr/>
        </p:nvSpPr>
        <p:spPr>
          <a:xfrm>
            <a:off x="4453128" y="4233672"/>
            <a:ext cx="1554480" cy="329184"/>
          </a:xfrm>
          <a:prstGeom prst="rect">
            <a:avLst/>
          </a:prstGeom>
          <a:noFill/>
        </p:spPr>
        <p:txBody>
          <a:bodyPr wrap="square" lIns="0" rIns="0" tIns="0" bIns="0">
            <a:spAutoFit/>
          </a:bodyPr>
          <a:lstStyle/>
          <a:p>
            <a:pPr algn="r">
              <a:lnSpc>
                <a:spcPct val="110000"/>
              </a:lnSpc>
              <a:spcAft>
                <a:spcPts val="700"/>
              </a:spcAft>
              <a:defRPr sz="1800" b="1">
                <a:solidFill>
                  <a:srgbClr val="19382D"/>
                </a:solidFill>
                <a:latin typeface="Arial"/>
              </a:defRPr>
            </a:pPr>
            <a:r>
              <a:t>200.000 đ</a:t>
            </a:r>
          </a:p>
        </p:txBody>
      </p:sp>
      <p:sp>
        <p:nvSpPr>
          <p:cNvPr id="23" name="Rectangle 22"/>
          <p:cNvSpPr/>
          <p:nvPr/>
        </p:nvSpPr>
        <p:spPr>
          <a:xfrm>
            <a:off x="694944" y="4626864"/>
            <a:ext cx="5340096" cy="16459"/>
          </a:xfrm>
          <a:prstGeom prst="rect">
            <a:avLst/>
          </a:prstGeom>
          <a:solidFill>
            <a:srgbClr val="D8E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58368" y="4919472"/>
            <a:ext cx="5449824" cy="704088"/>
          </a:xfrm>
          <a:prstGeom prst="roundRect">
            <a:avLst>
              <a:gd name="adj" fmla="val 12000"/>
            </a:avLst>
          </a:prstGeom>
          <a:solidFill>
            <a:srgbClr val="143D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9536" y="5111496"/>
            <a:ext cx="1737360" cy="320040"/>
          </a:xfrm>
          <a:prstGeom prst="rect">
            <a:avLst/>
          </a:prstGeom>
          <a:noFill/>
        </p:spPr>
        <p:txBody>
          <a:bodyPr wrap="square" lIns="0" rIns="0" tIns="0" bIns="0">
            <a:spAutoFit/>
          </a:bodyPr>
          <a:lstStyle/>
          <a:p>
            <a:pPr>
              <a:lnSpc>
                <a:spcPct val="110000"/>
              </a:lnSpc>
              <a:spcAft>
                <a:spcPts val="700"/>
              </a:spcAft>
              <a:defRPr sz="1400" b="1">
                <a:solidFill>
                  <a:srgbClr val="FFFFFF"/>
                </a:solidFill>
                <a:latin typeface="Arial"/>
              </a:defRPr>
            </a:pPr>
            <a:r>
              <a:t>TỔNG DỰ KIẾN</a:t>
            </a:r>
          </a:p>
        </p:txBody>
      </p:sp>
      <p:sp>
        <p:nvSpPr>
          <p:cNvPr id="26" name="TextBox 25"/>
          <p:cNvSpPr txBox="1"/>
          <p:nvPr/>
        </p:nvSpPr>
        <p:spPr>
          <a:xfrm>
            <a:off x="2834640" y="5038344"/>
            <a:ext cx="3063240" cy="457200"/>
          </a:xfrm>
          <a:prstGeom prst="rect">
            <a:avLst/>
          </a:prstGeom>
          <a:noFill/>
        </p:spPr>
        <p:txBody>
          <a:bodyPr wrap="square" lIns="0" rIns="0" tIns="0" bIns="0">
            <a:spAutoFit/>
          </a:bodyPr>
          <a:lstStyle/>
          <a:p>
            <a:pPr algn="r">
              <a:lnSpc>
                <a:spcPct val="110000"/>
              </a:lnSpc>
              <a:spcAft>
                <a:spcPts val="700"/>
              </a:spcAft>
              <a:defRPr sz="2800" b="1">
                <a:solidFill>
                  <a:srgbClr val="C9EB8B"/>
                </a:solidFill>
                <a:latin typeface="Arial"/>
              </a:defRPr>
            </a:pPr>
            <a:r>
              <a:t>2.000.000 đ</a:t>
            </a:r>
          </a:p>
        </p:txBody>
      </p:sp>
      <p:sp>
        <p:nvSpPr>
          <p:cNvPr id="27" name="Rounded Rectangle 26"/>
          <p:cNvSpPr/>
          <p:nvPr/>
        </p:nvSpPr>
        <p:spPr>
          <a:xfrm>
            <a:off x="6556248" y="1783080"/>
            <a:ext cx="4983480" cy="384048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39712" y="2057400"/>
            <a:ext cx="4407408" cy="246888"/>
          </a:xfrm>
          <a:prstGeom prst="rect">
            <a:avLst/>
          </a:prstGeom>
          <a:noFill/>
        </p:spPr>
        <p:txBody>
          <a:bodyPr wrap="square" lIns="0" rIns="0" tIns="0" bIns="0">
            <a:spAutoFit/>
          </a:bodyPr>
          <a:lstStyle/>
          <a:p>
            <a:pPr>
              <a:lnSpc>
                <a:spcPct val="110000"/>
              </a:lnSpc>
              <a:spcAft>
                <a:spcPts val="700"/>
              </a:spcAft>
              <a:defRPr sz="1200" b="1">
                <a:solidFill>
                  <a:srgbClr val="286B4C"/>
                </a:solidFill>
                <a:latin typeface="Arial"/>
              </a:defRPr>
            </a:pPr>
            <a:r>
              <a:t>4 NGƯỜI</a:t>
            </a:r>
          </a:p>
        </p:txBody>
      </p:sp>
      <p:sp>
        <p:nvSpPr>
          <p:cNvPr id="29" name="TextBox 28"/>
          <p:cNvSpPr txBox="1"/>
          <p:nvPr/>
        </p:nvSpPr>
        <p:spPr>
          <a:xfrm>
            <a:off x="6839712" y="2404872"/>
            <a:ext cx="4407408" cy="640080"/>
          </a:xfrm>
          <a:prstGeom prst="rect">
            <a:avLst/>
          </a:prstGeom>
          <a:noFill/>
        </p:spPr>
        <p:txBody>
          <a:bodyPr wrap="square" lIns="0" rIns="0" tIns="0" bIns="0">
            <a:spAutoFit/>
          </a:bodyPr>
          <a:lstStyle/>
          <a:p>
            <a:pPr>
              <a:lnSpc>
                <a:spcPct val="110000"/>
              </a:lnSpc>
              <a:spcAft>
                <a:spcPts val="700"/>
              </a:spcAft>
              <a:defRPr sz="1800" b="0">
                <a:solidFill>
                  <a:srgbClr val="19382D"/>
                </a:solidFill>
                <a:latin typeface="Arial"/>
              </a:defRPr>
            </a:pPr>
            <a:r>
              <a:t>1 điều phối • 2 thu gom</a:t>
            </a:r>
          </a:p>
          <a:p>
            <a:pPr>
              <a:lnSpc>
                <a:spcPct val="110000"/>
              </a:lnSpc>
              <a:spcAft>
                <a:spcPts val="700"/>
              </a:spcAft>
              <a:defRPr sz="1800" b="0">
                <a:solidFill>
                  <a:srgbClr val="19382D"/>
                </a:solidFill>
                <a:latin typeface="Arial"/>
              </a:defRPr>
            </a:pPr>
            <a:r>
              <a:t>1 kỹ thuật &amp; báo cáo</a:t>
            </a:r>
          </a:p>
        </p:txBody>
      </p:sp>
      <p:sp>
        <p:nvSpPr>
          <p:cNvPr id="30" name="TextBox 29"/>
          <p:cNvSpPr txBox="1"/>
          <p:nvPr/>
        </p:nvSpPr>
        <p:spPr>
          <a:xfrm>
            <a:off x="6839712" y="3218688"/>
            <a:ext cx="4407408" cy="246888"/>
          </a:xfrm>
          <a:prstGeom prst="rect">
            <a:avLst/>
          </a:prstGeom>
          <a:noFill/>
        </p:spPr>
        <p:txBody>
          <a:bodyPr wrap="square" lIns="0" rIns="0" tIns="0" bIns="0">
            <a:spAutoFit/>
          </a:bodyPr>
          <a:lstStyle/>
          <a:p>
            <a:pPr>
              <a:lnSpc>
                <a:spcPct val="110000"/>
              </a:lnSpc>
              <a:spcAft>
                <a:spcPts val="700"/>
              </a:spcAft>
              <a:defRPr sz="1200" b="1">
                <a:solidFill>
                  <a:srgbClr val="286B4C"/>
                </a:solidFill>
                <a:latin typeface="Arial"/>
              </a:defRPr>
            </a:pPr>
            <a:r>
              <a:t>ĐIỂM TẬP KẾT</a:t>
            </a:r>
          </a:p>
        </p:txBody>
      </p:sp>
      <p:sp>
        <p:nvSpPr>
          <p:cNvPr id="31" name="TextBox 30"/>
          <p:cNvSpPr txBox="1"/>
          <p:nvPr/>
        </p:nvSpPr>
        <p:spPr>
          <a:xfrm>
            <a:off x="6839712" y="3566160"/>
            <a:ext cx="4407408" cy="640080"/>
          </a:xfrm>
          <a:prstGeom prst="rect">
            <a:avLst/>
          </a:prstGeom>
          <a:noFill/>
        </p:spPr>
        <p:txBody>
          <a:bodyPr wrap="square" lIns="0" rIns="0" tIns="0" bIns="0">
            <a:spAutoFit/>
          </a:bodyPr>
          <a:lstStyle/>
          <a:p>
            <a:pPr>
              <a:lnSpc>
                <a:spcPct val="110000"/>
              </a:lnSpc>
              <a:spcAft>
                <a:spcPts val="700"/>
              </a:spcAft>
              <a:defRPr sz="1800" b="0">
                <a:solidFill>
                  <a:srgbClr val="19382D"/>
                </a:solidFill>
                <a:latin typeface="Arial"/>
              </a:defRPr>
            </a:pPr>
            <a:r>
              <a:t>Được cho phép sử dụng;</a:t>
            </a:r>
          </a:p>
          <a:p>
            <a:pPr>
              <a:lnSpc>
                <a:spcPct val="110000"/>
              </a:lnSpc>
              <a:spcAft>
                <a:spcPts val="700"/>
              </a:spcAft>
              <a:defRPr sz="1800" b="0">
                <a:solidFill>
                  <a:srgbClr val="19382D"/>
                </a:solidFill>
                <a:latin typeface="Arial"/>
              </a:defRPr>
            </a:pPr>
            <a:r>
              <a:t>có mái che và phân khu.</a:t>
            </a:r>
          </a:p>
        </p:txBody>
      </p:sp>
      <p:sp>
        <p:nvSpPr>
          <p:cNvPr id="32" name="TextBox 31"/>
          <p:cNvSpPr txBox="1"/>
          <p:nvPr/>
        </p:nvSpPr>
        <p:spPr>
          <a:xfrm>
            <a:off x="6839712" y="4407408"/>
            <a:ext cx="4407408" cy="246888"/>
          </a:xfrm>
          <a:prstGeom prst="rect">
            <a:avLst/>
          </a:prstGeom>
          <a:noFill/>
        </p:spPr>
        <p:txBody>
          <a:bodyPr wrap="square" lIns="0" rIns="0" tIns="0" bIns="0">
            <a:spAutoFit/>
          </a:bodyPr>
          <a:lstStyle/>
          <a:p>
            <a:pPr>
              <a:lnSpc>
                <a:spcPct val="110000"/>
              </a:lnSpc>
              <a:spcAft>
                <a:spcPts val="700"/>
              </a:spcAft>
              <a:defRPr sz="1200" b="1">
                <a:solidFill>
                  <a:srgbClr val="286B4C"/>
                </a:solidFill>
                <a:latin typeface="Arial"/>
              </a:defRPr>
            </a:pPr>
            <a:r>
              <a:t>PHƯƠNG TIỆN</a:t>
            </a:r>
          </a:p>
        </p:txBody>
      </p:sp>
      <p:sp>
        <p:nvSpPr>
          <p:cNvPr id="33" name="TextBox 32"/>
          <p:cNvSpPr txBox="1"/>
          <p:nvPr/>
        </p:nvSpPr>
        <p:spPr>
          <a:xfrm>
            <a:off x="6839712" y="4754880"/>
            <a:ext cx="4407408" cy="640080"/>
          </a:xfrm>
          <a:prstGeom prst="rect">
            <a:avLst/>
          </a:prstGeom>
          <a:noFill/>
        </p:spPr>
        <p:txBody>
          <a:bodyPr wrap="square" lIns="0" rIns="0" tIns="0" bIns="0">
            <a:spAutoFit/>
          </a:bodyPr>
          <a:lstStyle/>
          <a:p>
            <a:pPr>
              <a:lnSpc>
                <a:spcPct val="110000"/>
              </a:lnSpc>
              <a:spcAft>
                <a:spcPts val="700"/>
              </a:spcAft>
              <a:defRPr sz="1800" b="0">
                <a:solidFill>
                  <a:srgbClr val="19382D"/>
                </a:solidFill>
                <a:latin typeface="Arial"/>
              </a:defRPr>
            </a:pPr>
            <a:r>
              <a:t>Cân, bao chứa, găng tay,</a:t>
            </a:r>
          </a:p>
          <a:p>
            <a:pPr>
              <a:lnSpc>
                <a:spcPct val="110000"/>
              </a:lnSpc>
              <a:spcAft>
                <a:spcPts val="700"/>
              </a:spcAft>
              <a:defRPr sz="1800" b="0">
                <a:solidFill>
                  <a:srgbClr val="19382D"/>
                </a:solidFill>
                <a:latin typeface="Arial"/>
              </a:defRPr>
            </a:pPr>
            <a:r>
              <a:t>xe vận chuyển và điện thoại.</a:t>
            </a:r>
          </a:p>
        </p:txBody>
      </p:sp>
      <p:sp>
        <p:nvSpPr>
          <p:cNvPr id="34" name="TextBox 33"/>
          <p:cNvSpPr txBox="1"/>
          <p:nvPr/>
        </p:nvSpPr>
        <p:spPr>
          <a:xfrm>
            <a:off x="685800" y="5879592"/>
            <a:ext cx="10835640" cy="320040"/>
          </a:xfrm>
          <a:prstGeom prst="rect">
            <a:avLst/>
          </a:prstGeom>
          <a:noFill/>
        </p:spPr>
        <p:txBody>
          <a:bodyPr wrap="square" lIns="0" rIns="0" tIns="0" bIns="0">
            <a:spAutoFit/>
          </a:bodyPr>
          <a:lstStyle/>
          <a:p>
            <a:pPr>
              <a:lnSpc>
                <a:spcPct val="110000"/>
              </a:lnSpc>
              <a:spcAft>
                <a:spcPts val="700"/>
              </a:spcAft>
              <a:defRPr sz="1200" b="0">
                <a:solidFill>
                  <a:srgbClr val="65766A"/>
                </a:solidFill>
                <a:latin typeface="Arial"/>
              </a:defRPr>
            </a:pPr>
            <a:r>
              <a:t>Chưa gồm vốn thu mua, thuê địa điểm và hạ tầng phần mềm. Cần khảo giá trước khi triển khai.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6EF"/>
        </a:solidFill>
        <a:effectLst/>
      </p:bgPr>
    </p:bg>
    <p:spTree>
      <p:nvGrpSpPr>
        <p:cNvPr id="1" name=""/>
        <p:cNvGrpSpPr/>
        <p:nvPr/>
      </p:nvGrpSpPr>
      <p:grpSpPr/>
      <p:sp>
        <p:nvSpPr>
          <p:cNvPr id="2" name="TextBox 1"/>
          <p:cNvSpPr txBox="1"/>
          <p:nvPr/>
        </p:nvSpPr>
        <p:spPr>
          <a:xfrm>
            <a:off x="594360" y="384048"/>
            <a:ext cx="10058400" cy="274320"/>
          </a:xfrm>
          <a:prstGeom prst="rect">
            <a:avLst/>
          </a:prstGeom>
          <a:noFill/>
        </p:spPr>
        <p:txBody>
          <a:bodyPr wrap="square" lIns="0" rIns="0" tIns="0" bIns="0">
            <a:spAutoFit/>
          </a:bodyPr>
          <a:lstStyle/>
          <a:p>
            <a:pPr>
              <a:lnSpc>
                <a:spcPct val="110000"/>
              </a:lnSpc>
              <a:spcAft>
                <a:spcPts val="700"/>
              </a:spcAft>
              <a:defRPr sz="1100" b="1">
                <a:solidFill>
                  <a:srgbClr val="286B4C"/>
                </a:solidFill>
                <a:latin typeface="Arial"/>
              </a:defRPr>
            </a:pPr>
            <a:r>
              <a:t>06 / TÁC ĐỘNG &amp; LỢI ÍCH</a:t>
            </a:r>
          </a:p>
        </p:txBody>
      </p:sp>
      <p:sp>
        <p:nvSpPr>
          <p:cNvPr id="3" name="TextBox 2"/>
          <p:cNvSpPr txBox="1"/>
          <p:nvPr/>
        </p:nvSpPr>
        <p:spPr>
          <a:xfrm>
            <a:off x="594360" y="868680"/>
            <a:ext cx="10972800" cy="914400"/>
          </a:xfrm>
          <a:prstGeom prst="rect">
            <a:avLst/>
          </a:prstGeom>
          <a:noFill/>
        </p:spPr>
        <p:txBody>
          <a:bodyPr wrap="square" lIns="0" rIns="0" tIns="0" bIns="0">
            <a:spAutoFit/>
          </a:bodyPr>
          <a:lstStyle/>
          <a:p>
            <a:pPr>
              <a:lnSpc>
                <a:spcPct val="110000"/>
              </a:lnSpc>
              <a:spcAft>
                <a:spcPts val="700"/>
              </a:spcAft>
              <a:defRPr sz="3200" b="1">
                <a:solidFill>
                  <a:srgbClr val="19382D"/>
                </a:solidFill>
                <a:latin typeface="Arial"/>
              </a:defRPr>
            </a:pPr>
            <a:r>
              <a:t>Giá trị cho môi trường và cộng đồng.</a:t>
            </a:r>
          </a:p>
        </p:txBody>
      </p:sp>
      <p:sp>
        <p:nvSpPr>
          <p:cNvPr id="4" name="TextBox 3"/>
          <p:cNvSpPr txBox="1"/>
          <p:nvPr/>
        </p:nvSpPr>
        <p:spPr>
          <a:xfrm>
            <a:off x="612648" y="1600200"/>
            <a:ext cx="10881360" cy="566928"/>
          </a:xfrm>
          <a:prstGeom prst="rect">
            <a:avLst/>
          </a:prstGeom>
          <a:noFill/>
        </p:spPr>
        <p:txBody>
          <a:bodyPr wrap="square" lIns="0" rIns="0" tIns="0" bIns="0">
            <a:spAutoFit/>
          </a:bodyPr>
          <a:lstStyle/>
          <a:p>
            <a:pPr>
              <a:lnSpc>
                <a:spcPct val="110000"/>
              </a:lnSpc>
              <a:spcAft>
                <a:spcPts val="700"/>
              </a:spcAft>
              <a:defRPr sz="1700" b="0">
                <a:solidFill>
                  <a:srgbClr val="65766A"/>
                </a:solidFill>
                <a:latin typeface="Arial"/>
              </a:defRPr>
            </a:pPr>
            <a:r>
              <a:t>Hiệu quả được đánh giá bằng dữ liệu thu gom và phản hồi của người tham gia.</a:t>
            </a:r>
          </a:p>
        </p:txBody>
      </p:sp>
      <p:sp>
        <p:nvSpPr>
          <p:cNvPr id="5" name="Rectangle 4"/>
          <p:cNvSpPr/>
          <p:nvPr/>
        </p:nvSpPr>
        <p:spPr>
          <a:xfrm>
            <a:off x="566928" y="6437376"/>
            <a:ext cx="11045952" cy="10972"/>
          </a:xfrm>
          <a:prstGeom prst="rect">
            <a:avLst/>
          </a:prstGeom>
          <a:solidFill>
            <a:srgbClr val="D8E0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537960"/>
            <a:ext cx="6400800" cy="182880"/>
          </a:xfrm>
          <a:prstGeom prst="rect">
            <a:avLst/>
          </a:prstGeom>
          <a:noFill/>
        </p:spPr>
        <p:txBody>
          <a:bodyPr wrap="square" lIns="0" rIns="0" tIns="0" bIns="0">
            <a:spAutoFit/>
          </a:bodyPr>
          <a:lstStyle/>
          <a:p>
            <a:pPr>
              <a:lnSpc>
                <a:spcPct val="110000"/>
              </a:lnSpc>
              <a:spcAft>
                <a:spcPts val="700"/>
              </a:spcAft>
              <a:defRPr sz="900" b="0">
                <a:solidFill>
                  <a:srgbClr val="65766A"/>
                </a:solidFill>
                <a:latin typeface="Arial"/>
              </a:defRPr>
            </a:pPr>
            <a:r>
              <a:t>VCoi  /  Thu gom hôm nay, xanh hơn ngày mai</a:t>
            </a:r>
          </a:p>
        </p:txBody>
      </p:sp>
      <p:sp>
        <p:nvSpPr>
          <p:cNvPr id="7" name="TextBox 6"/>
          <p:cNvSpPr txBox="1"/>
          <p:nvPr/>
        </p:nvSpPr>
        <p:spPr>
          <a:xfrm>
            <a:off x="10698480" y="6519672"/>
            <a:ext cx="914400" cy="228600"/>
          </a:xfrm>
          <a:prstGeom prst="rect">
            <a:avLst/>
          </a:prstGeom>
          <a:noFill/>
        </p:spPr>
        <p:txBody>
          <a:bodyPr wrap="square" lIns="0" rIns="0" tIns="0" bIns="0">
            <a:spAutoFit/>
          </a:bodyPr>
          <a:lstStyle/>
          <a:p>
            <a:pPr algn="r">
              <a:lnSpc>
                <a:spcPct val="110000"/>
              </a:lnSpc>
              <a:spcAft>
                <a:spcPts val="700"/>
              </a:spcAft>
              <a:defRPr sz="1000" b="1">
                <a:solidFill>
                  <a:srgbClr val="65766A"/>
                </a:solidFill>
                <a:latin typeface="Arial"/>
              </a:defRPr>
            </a:pPr>
            <a:r>
              <a:t>07 / 08</a:t>
            </a:r>
          </a:p>
        </p:txBody>
      </p:sp>
      <p:sp>
        <p:nvSpPr>
          <p:cNvPr id="8" name="Rounded Rectangle 7"/>
          <p:cNvSpPr/>
          <p:nvPr/>
        </p:nvSpPr>
        <p:spPr>
          <a:xfrm>
            <a:off x="630936" y="2423160"/>
            <a:ext cx="3502152" cy="194767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41247" y="2679192"/>
            <a:ext cx="109728" cy="411480"/>
          </a:xfrm>
          <a:prstGeom prst="rect">
            <a:avLst/>
          </a:prstGeom>
          <a:solidFill>
            <a:srgbClr val="286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06424" y="2670048"/>
            <a:ext cx="2816352" cy="521207"/>
          </a:xfrm>
          <a:prstGeom prst="rect">
            <a:avLst/>
          </a:prstGeom>
          <a:noFill/>
        </p:spPr>
        <p:txBody>
          <a:bodyPr wrap="square" lIns="0" rIns="0" tIns="0" bIns="0">
            <a:spAutoFit/>
          </a:bodyPr>
          <a:lstStyle/>
          <a:p>
            <a:pPr>
              <a:lnSpc>
                <a:spcPct val="110000"/>
              </a:lnSpc>
              <a:spcAft>
                <a:spcPts val="700"/>
              </a:spcAft>
              <a:defRPr sz="2100" b="1">
                <a:solidFill>
                  <a:srgbClr val="19382D"/>
                </a:solidFill>
                <a:latin typeface="Arial"/>
              </a:defRPr>
            </a:pPr>
            <a:r>
              <a:t>Môi trường</a:t>
            </a:r>
          </a:p>
        </p:txBody>
      </p:sp>
      <p:sp>
        <p:nvSpPr>
          <p:cNvPr id="11" name="TextBox 10"/>
          <p:cNvSpPr txBox="1"/>
          <p:nvPr/>
        </p:nvSpPr>
        <p:spPr>
          <a:xfrm>
            <a:off x="850392" y="3429000"/>
            <a:ext cx="3063240" cy="731520"/>
          </a:xfrm>
          <a:prstGeom prst="rect">
            <a:avLst/>
          </a:prstGeom>
          <a:noFill/>
        </p:spPr>
        <p:txBody>
          <a:bodyPr wrap="square" lIns="0" rIns="0" tIns="0" bIns="0">
            <a:spAutoFit/>
          </a:bodyPr>
          <a:lstStyle/>
          <a:p>
            <a:pPr>
              <a:lnSpc>
                <a:spcPct val="110000"/>
              </a:lnSpc>
              <a:spcAft>
                <a:spcPts val="700"/>
              </a:spcAft>
              <a:defRPr sz="1700" b="0">
                <a:solidFill>
                  <a:srgbClr val="65766A"/>
                </a:solidFill>
                <a:latin typeface="Arial"/>
              </a:defRPr>
            </a:pPr>
            <a:r>
              <a:t>Tăng vật liệu được phân loại</a:t>
            </a:r>
          </a:p>
          <a:p>
            <a:pPr>
              <a:lnSpc>
                <a:spcPct val="110000"/>
              </a:lnSpc>
              <a:spcAft>
                <a:spcPts val="700"/>
              </a:spcAft>
              <a:defRPr sz="1700" b="0">
                <a:solidFill>
                  <a:srgbClr val="65766A"/>
                </a:solidFill>
                <a:latin typeface="Arial"/>
              </a:defRPr>
            </a:pPr>
            <a:r>
              <a:t>và chuyển tới tái chế.</a:t>
            </a:r>
          </a:p>
        </p:txBody>
      </p:sp>
      <p:sp>
        <p:nvSpPr>
          <p:cNvPr id="12" name="Rounded Rectangle 11"/>
          <p:cNvSpPr/>
          <p:nvPr/>
        </p:nvSpPr>
        <p:spPr>
          <a:xfrm>
            <a:off x="4361688" y="2423160"/>
            <a:ext cx="3502152" cy="194767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0" y="2679192"/>
            <a:ext cx="109728" cy="411480"/>
          </a:xfrm>
          <a:prstGeom prst="rect">
            <a:avLst/>
          </a:prstGeom>
          <a:solidFill>
            <a:srgbClr val="286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837175" y="2670048"/>
            <a:ext cx="2816352" cy="521207"/>
          </a:xfrm>
          <a:prstGeom prst="rect">
            <a:avLst/>
          </a:prstGeom>
          <a:noFill/>
        </p:spPr>
        <p:txBody>
          <a:bodyPr wrap="square" lIns="0" rIns="0" tIns="0" bIns="0">
            <a:spAutoFit/>
          </a:bodyPr>
          <a:lstStyle/>
          <a:p>
            <a:pPr>
              <a:lnSpc>
                <a:spcPct val="110000"/>
              </a:lnSpc>
              <a:spcAft>
                <a:spcPts val="700"/>
              </a:spcAft>
              <a:defRPr sz="2100" b="1">
                <a:solidFill>
                  <a:srgbClr val="19382D"/>
                </a:solidFill>
                <a:latin typeface="Arial"/>
              </a:defRPr>
            </a:pPr>
            <a:r>
              <a:t>Người tham gia</a:t>
            </a:r>
          </a:p>
        </p:txBody>
      </p:sp>
      <p:sp>
        <p:nvSpPr>
          <p:cNvPr id="15" name="TextBox 14"/>
          <p:cNvSpPr txBox="1"/>
          <p:nvPr/>
        </p:nvSpPr>
        <p:spPr>
          <a:xfrm>
            <a:off x="4581144" y="3429000"/>
            <a:ext cx="3063240" cy="731520"/>
          </a:xfrm>
          <a:prstGeom prst="rect">
            <a:avLst/>
          </a:prstGeom>
          <a:noFill/>
        </p:spPr>
        <p:txBody>
          <a:bodyPr wrap="square" lIns="0" rIns="0" tIns="0" bIns="0">
            <a:spAutoFit/>
          </a:bodyPr>
          <a:lstStyle/>
          <a:p>
            <a:pPr>
              <a:lnSpc>
                <a:spcPct val="110000"/>
              </a:lnSpc>
              <a:spcAft>
                <a:spcPts val="700"/>
              </a:spcAft>
              <a:defRPr sz="1700" b="0">
                <a:solidFill>
                  <a:srgbClr val="65766A"/>
                </a:solidFill>
                <a:latin typeface="Arial"/>
              </a:defRPr>
            </a:pPr>
            <a:r>
              <a:t>Chủ động lịch hẹn, đối chiếu</a:t>
            </a:r>
          </a:p>
          <a:p>
            <a:pPr>
              <a:lnSpc>
                <a:spcPct val="110000"/>
              </a:lnSpc>
              <a:spcAft>
                <a:spcPts val="700"/>
              </a:spcAft>
              <a:defRPr sz="1700" b="0">
                <a:solidFill>
                  <a:srgbClr val="65766A"/>
                </a:solidFill>
                <a:latin typeface="Arial"/>
              </a:defRPr>
            </a:pPr>
            <a:r>
              <a:t>khối lượng và giá bán.</a:t>
            </a:r>
          </a:p>
        </p:txBody>
      </p:sp>
      <p:sp>
        <p:nvSpPr>
          <p:cNvPr id="16" name="Rounded Rectangle 15"/>
          <p:cNvSpPr/>
          <p:nvPr/>
        </p:nvSpPr>
        <p:spPr>
          <a:xfrm>
            <a:off x="8092440" y="2423160"/>
            <a:ext cx="3502152" cy="1947672"/>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02752" y="2679192"/>
            <a:ext cx="109728" cy="411480"/>
          </a:xfrm>
          <a:prstGeom prst="rect">
            <a:avLst/>
          </a:prstGeom>
          <a:solidFill>
            <a:srgbClr val="286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67928" y="2670048"/>
            <a:ext cx="2816352" cy="521207"/>
          </a:xfrm>
          <a:prstGeom prst="rect">
            <a:avLst/>
          </a:prstGeom>
          <a:noFill/>
        </p:spPr>
        <p:txBody>
          <a:bodyPr wrap="square" lIns="0" rIns="0" tIns="0" bIns="0">
            <a:spAutoFit/>
          </a:bodyPr>
          <a:lstStyle/>
          <a:p>
            <a:pPr>
              <a:lnSpc>
                <a:spcPct val="110000"/>
              </a:lnSpc>
              <a:spcAft>
                <a:spcPts val="700"/>
              </a:spcAft>
              <a:defRPr sz="2100" b="1">
                <a:solidFill>
                  <a:srgbClr val="19382D"/>
                </a:solidFill>
                <a:latin typeface="Arial"/>
              </a:defRPr>
            </a:pPr>
            <a:r>
              <a:t>Đại lý &amp; cộng đồng</a:t>
            </a:r>
          </a:p>
        </p:txBody>
      </p:sp>
      <p:sp>
        <p:nvSpPr>
          <p:cNvPr id="19" name="TextBox 18"/>
          <p:cNvSpPr txBox="1"/>
          <p:nvPr/>
        </p:nvSpPr>
        <p:spPr>
          <a:xfrm>
            <a:off x="8311896" y="3429000"/>
            <a:ext cx="3063240" cy="731520"/>
          </a:xfrm>
          <a:prstGeom prst="rect">
            <a:avLst/>
          </a:prstGeom>
          <a:noFill/>
        </p:spPr>
        <p:txBody>
          <a:bodyPr wrap="square" lIns="0" rIns="0" tIns="0" bIns="0">
            <a:spAutoFit/>
          </a:bodyPr>
          <a:lstStyle/>
          <a:p>
            <a:pPr>
              <a:lnSpc>
                <a:spcPct val="110000"/>
              </a:lnSpc>
              <a:spcAft>
                <a:spcPts val="700"/>
              </a:spcAft>
              <a:defRPr sz="1700" b="0">
                <a:solidFill>
                  <a:srgbClr val="65766A"/>
                </a:solidFill>
                <a:latin typeface="Arial"/>
              </a:defRPr>
            </a:pPr>
            <a:r>
              <a:t>Điều phối tập trung; tạo cơ hội</a:t>
            </a:r>
          </a:p>
          <a:p>
            <a:pPr>
              <a:lnSpc>
                <a:spcPct val="110000"/>
              </a:lnSpc>
              <a:spcAft>
                <a:spcPts val="700"/>
              </a:spcAft>
              <a:defRPr sz="1700" b="0">
                <a:solidFill>
                  <a:srgbClr val="65766A"/>
                </a:solidFill>
                <a:latin typeface="Arial"/>
              </a:defRPr>
            </a:pPr>
            <a:r>
              <a:t>duy trì thu gom định kỳ.</a:t>
            </a:r>
          </a:p>
        </p:txBody>
      </p:sp>
      <p:sp>
        <p:nvSpPr>
          <p:cNvPr id="20" name="TextBox 19"/>
          <p:cNvSpPr txBox="1"/>
          <p:nvPr/>
        </p:nvSpPr>
        <p:spPr>
          <a:xfrm>
            <a:off x="658368" y="4718304"/>
            <a:ext cx="10789920" cy="320040"/>
          </a:xfrm>
          <a:prstGeom prst="rect">
            <a:avLst/>
          </a:prstGeom>
          <a:noFill/>
        </p:spPr>
        <p:txBody>
          <a:bodyPr wrap="square" lIns="0" rIns="0" tIns="0" bIns="0">
            <a:spAutoFit/>
          </a:bodyPr>
          <a:lstStyle/>
          <a:p>
            <a:pPr>
              <a:lnSpc>
                <a:spcPct val="110000"/>
              </a:lnSpc>
              <a:spcAft>
                <a:spcPts val="700"/>
              </a:spcAft>
              <a:defRPr sz="1200" b="1">
                <a:solidFill>
                  <a:srgbClr val="286B4C"/>
                </a:solidFill>
                <a:latin typeface="Arial"/>
              </a:defRPr>
            </a:pPr>
            <a:r>
              <a:t>ĐO BẰNG DỮ LIỆU</a:t>
            </a:r>
          </a:p>
        </p:txBody>
      </p:sp>
      <p:sp>
        <p:nvSpPr>
          <p:cNvPr id="21" name="Rounded Rectangle 20"/>
          <p:cNvSpPr/>
          <p:nvPr/>
        </p:nvSpPr>
        <p:spPr>
          <a:xfrm>
            <a:off x="658368" y="5212080"/>
            <a:ext cx="2377440" cy="310896"/>
          </a:xfrm>
          <a:prstGeom prst="roundRect">
            <a:avLst>
              <a:gd name="adj" fmla="val 12000"/>
            </a:avLst>
          </a:prstGeom>
          <a:solidFill>
            <a:srgbClr val="E7E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5266944"/>
            <a:ext cx="2194560" cy="210312"/>
          </a:xfrm>
          <a:prstGeom prst="rect">
            <a:avLst/>
          </a:prstGeom>
          <a:noFill/>
        </p:spPr>
        <p:txBody>
          <a:bodyPr wrap="square" lIns="0" rIns="0" tIns="0" bIns="0">
            <a:spAutoFit/>
          </a:bodyPr>
          <a:lstStyle/>
          <a:p>
            <a:pPr>
              <a:lnSpc>
                <a:spcPct val="110000"/>
              </a:lnSpc>
              <a:spcAft>
                <a:spcPts val="700"/>
              </a:spcAft>
              <a:defRPr sz="1000" b="1">
                <a:solidFill>
                  <a:srgbClr val="286B4C"/>
                </a:solidFill>
                <a:latin typeface="Arial"/>
              </a:defRPr>
            </a:pPr>
            <a:r>
              <a:t>Khối lượng theo loại</a:t>
            </a:r>
          </a:p>
        </p:txBody>
      </p:sp>
      <p:sp>
        <p:nvSpPr>
          <p:cNvPr id="23" name="Rounded Rectangle 22"/>
          <p:cNvSpPr/>
          <p:nvPr/>
        </p:nvSpPr>
        <p:spPr>
          <a:xfrm>
            <a:off x="3264408" y="5212080"/>
            <a:ext cx="2377440" cy="310896"/>
          </a:xfrm>
          <a:prstGeom prst="roundRect">
            <a:avLst>
              <a:gd name="adj" fmla="val 12000"/>
            </a:avLst>
          </a:prstGeom>
          <a:solidFill>
            <a:srgbClr val="E7E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55848" y="5266944"/>
            <a:ext cx="2194560" cy="210312"/>
          </a:xfrm>
          <a:prstGeom prst="rect">
            <a:avLst/>
          </a:prstGeom>
          <a:noFill/>
        </p:spPr>
        <p:txBody>
          <a:bodyPr wrap="square" lIns="0" rIns="0" tIns="0" bIns="0">
            <a:spAutoFit/>
          </a:bodyPr>
          <a:lstStyle/>
          <a:p>
            <a:pPr>
              <a:lnSpc>
                <a:spcPct val="110000"/>
              </a:lnSpc>
              <a:spcAft>
                <a:spcPts val="700"/>
              </a:spcAft>
              <a:defRPr sz="1000" b="1">
                <a:solidFill>
                  <a:srgbClr val="286B4C"/>
                </a:solidFill>
                <a:latin typeface="Arial"/>
              </a:defRPr>
            </a:pPr>
            <a:r>
              <a:t>Số người tham gia</a:t>
            </a:r>
          </a:p>
        </p:txBody>
      </p:sp>
      <p:sp>
        <p:nvSpPr>
          <p:cNvPr id="25" name="Rounded Rectangle 24"/>
          <p:cNvSpPr/>
          <p:nvPr/>
        </p:nvSpPr>
        <p:spPr>
          <a:xfrm>
            <a:off x="5870448" y="5212080"/>
            <a:ext cx="2377440" cy="310896"/>
          </a:xfrm>
          <a:prstGeom prst="roundRect">
            <a:avLst>
              <a:gd name="adj" fmla="val 12000"/>
            </a:avLst>
          </a:prstGeom>
          <a:solidFill>
            <a:srgbClr val="E7E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61888" y="5266944"/>
            <a:ext cx="2194560" cy="210312"/>
          </a:xfrm>
          <a:prstGeom prst="rect">
            <a:avLst/>
          </a:prstGeom>
          <a:noFill/>
        </p:spPr>
        <p:txBody>
          <a:bodyPr wrap="square" lIns="0" rIns="0" tIns="0" bIns="0">
            <a:spAutoFit/>
          </a:bodyPr>
          <a:lstStyle/>
          <a:p>
            <a:pPr>
              <a:lnSpc>
                <a:spcPct val="110000"/>
              </a:lnSpc>
              <a:spcAft>
                <a:spcPts val="700"/>
              </a:spcAft>
              <a:defRPr sz="1000" b="1">
                <a:solidFill>
                  <a:srgbClr val="286B4C"/>
                </a:solidFill>
                <a:latin typeface="Arial"/>
              </a:defRPr>
            </a:pPr>
            <a:r>
              <a:t>Tỷ lệ hoàn tất đơn</a:t>
            </a:r>
          </a:p>
        </p:txBody>
      </p:sp>
      <p:sp>
        <p:nvSpPr>
          <p:cNvPr id="27" name="Rounded Rectangle 26"/>
          <p:cNvSpPr/>
          <p:nvPr/>
        </p:nvSpPr>
        <p:spPr>
          <a:xfrm>
            <a:off x="8476488" y="5212080"/>
            <a:ext cx="3044952" cy="310896"/>
          </a:xfrm>
          <a:prstGeom prst="roundRect">
            <a:avLst>
              <a:gd name="adj" fmla="val 12000"/>
            </a:avLst>
          </a:prstGeom>
          <a:solidFill>
            <a:srgbClr val="E7EE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567928" y="5266944"/>
            <a:ext cx="2862072" cy="210312"/>
          </a:xfrm>
          <a:prstGeom prst="rect">
            <a:avLst/>
          </a:prstGeom>
          <a:noFill/>
        </p:spPr>
        <p:txBody>
          <a:bodyPr wrap="square" lIns="0" rIns="0" tIns="0" bIns="0">
            <a:spAutoFit/>
          </a:bodyPr>
          <a:lstStyle/>
          <a:p>
            <a:pPr>
              <a:lnSpc>
                <a:spcPct val="110000"/>
              </a:lnSpc>
              <a:spcAft>
                <a:spcPts val="700"/>
              </a:spcAft>
              <a:defRPr sz="1000" b="1">
                <a:solidFill>
                  <a:srgbClr val="286B4C"/>
                </a:solidFill>
                <a:latin typeface="Arial"/>
              </a:defRPr>
            </a:pPr>
            <a:r>
              <a:t>Mức độ hài lòng</a:t>
            </a:r>
          </a:p>
        </p:txBody>
      </p:sp>
      <p:sp>
        <p:nvSpPr>
          <p:cNvPr id="29" name="TextBox 28"/>
          <p:cNvSpPr txBox="1"/>
          <p:nvPr/>
        </p:nvSpPr>
        <p:spPr>
          <a:xfrm>
            <a:off x="667512" y="5806440"/>
            <a:ext cx="10789920" cy="329184"/>
          </a:xfrm>
          <a:prstGeom prst="rect">
            <a:avLst/>
          </a:prstGeom>
          <a:noFill/>
        </p:spPr>
        <p:txBody>
          <a:bodyPr wrap="square" lIns="0" rIns="0" tIns="0" bIns="0">
            <a:spAutoFit/>
          </a:bodyPr>
          <a:lstStyle/>
          <a:p>
            <a:pPr>
              <a:lnSpc>
                <a:spcPct val="110000"/>
              </a:lnSpc>
              <a:spcAft>
                <a:spcPts val="700"/>
              </a:spcAft>
              <a:defRPr sz="1300" b="0">
                <a:solidFill>
                  <a:srgbClr val="65766A"/>
                </a:solidFill>
                <a:latin typeface="Arial"/>
              </a:defRPr>
            </a:pPr>
            <a:r>
              <a:t>Hướng mở rộng: tự nguyện trích tiền bán ve chai cho quỹ xanh hoặc hoạt động thiện nguyện.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43D30"/>
        </a:solidFill>
        <a:effectLst/>
      </p:bgPr>
    </p:bg>
    <p:spTree>
      <p:nvGrpSpPr>
        <p:cNvPr id="1" name=""/>
        <p:cNvGrpSpPr/>
        <p:nvPr/>
      </p:nvGrpSpPr>
      <p:grpSpPr/>
      <p:sp>
        <p:nvSpPr>
          <p:cNvPr id="2" name="TextBox 1"/>
          <p:cNvSpPr txBox="1"/>
          <p:nvPr/>
        </p:nvSpPr>
        <p:spPr>
          <a:xfrm>
            <a:off x="594360" y="384048"/>
            <a:ext cx="10058400" cy="274320"/>
          </a:xfrm>
          <a:prstGeom prst="rect">
            <a:avLst/>
          </a:prstGeom>
          <a:noFill/>
        </p:spPr>
        <p:txBody>
          <a:bodyPr wrap="square" lIns="0" rIns="0" tIns="0" bIns="0">
            <a:spAutoFit/>
          </a:bodyPr>
          <a:lstStyle/>
          <a:p>
            <a:pPr>
              <a:lnSpc>
                <a:spcPct val="110000"/>
              </a:lnSpc>
              <a:spcAft>
                <a:spcPts val="700"/>
              </a:spcAft>
              <a:defRPr sz="1100" b="1">
                <a:solidFill>
                  <a:srgbClr val="C9EB8B"/>
                </a:solidFill>
                <a:latin typeface="Arial"/>
              </a:defRPr>
            </a:pPr>
            <a:r>
              <a:t>07 / CÙNG HÀNH ĐỘNG</a:t>
            </a:r>
          </a:p>
        </p:txBody>
      </p:sp>
      <p:sp>
        <p:nvSpPr>
          <p:cNvPr id="3" name="TextBox 2"/>
          <p:cNvSpPr txBox="1"/>
          <p:nvPr/>
        </p:nvSpPr>
        <p:spPr>
          <a:xfrm>
            <a:off x="594360" y="868680"/>
            <a:ext cx="10972800" cy="914400"/>
          </a:xfrm>
          <a:prstGeom prst="rect">
            <a:avLst/>
          </a:prstGeom>
          <a:noFill/>
        </p:spPr>
        <p:txBody>
          <a:bodyPr wrap="square" lIns="0" rIns="0" tIns="0" bIns="0">
            <a:spAutoFit/>
          </a:bodyPr>
          <a:lstStyle/>
          <a:p>
            <a:pPr>
              <a:lnSpc>
                <a:spcPct val="110000"/>
              </a:lnSpc>
              <a:spcAft>
                <a:spcPts val="700"/>
              </a:spcAft>
              <a:defRPr sz="3200" b="1">
                <a:solidFill>
                  <a:srgbClr val="FFFFFF"/>
                </a:solidFill>
                <a:latin typeface="Arial"/>
              </a:defRPr>
            </a:pPr>
            <a:r>
              <a:t>Bắt đầu từ một lịch hẹn.</a:t>
            </a:r>
          </a:p>
        </p:txBody>
      </p:sp>
      <p:sp>
        <p:nvSpPr>
          <p:cNvPr id="4" name="Rectangle 3"/>
          <p:cNvSpPr/>
          <p:nvPr/>
        </p:nvSpPr>
        <p:spPr>
          <a:xfrm>
            <a:off x="566928" y="6437376"/>
            <a:ext cx="11045952" cy="10972"/>
          </a:xfrm>
          <a:prstGeom prst="rect">
            <a:avLst/>
          </a:prstGeom>
          <a:solidFill>
            <a:srgbClr val="3C5A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6537960"/>
            <a:ext cx="6400800" cy="182880"/>
          </a:xfrm>
          <a:prstGeom prst="rect">
            <a:avLst/>
          </a:prstGeom>
          <a:noFill/>
        </p:spPr>
        <p:txBody>
          <a:bodyPr wrap="square" lIns="0" rIns="0" tIns="0" bIns="0">
            <a:spAutoFit/>
          </a:bodyPr>
          <a:lstStyle/>
          <a:p>
            <a:pPr>
              <a:lnSpc>
                <a:spcPct val="110000"/>
              </a:lnSpc>
              <a:spcAft>
                <a:spcPts val="700"/>
              </a:spcAft>
              <a:defRPr sz="900" b="0">
                <a:solidFill>
                  <a:srgbClr val="ABC1B4"/>
                </a:solidFill>
                <a:latin typeface="Arial"/>
              </a:defRPr>
            </a:pPr>
            <a:r>
              <a:t>VCoi  /  Thu gom hôm nay, xanh hơn ngày mai</a:t>
            </a:r>
          </a:p>
        </p:txBody>
      </p:sp>
      <p:sp>
        <p:nvSpPr>
          <p:cNvPr id="6" name="TextBox 5"/>
          <p:cNvSpPr txBox="1"/>
          <p:nvPr/>
        </p:nvSpPr>
        <p:spPr>
          <a:xfrm>
            <a:off x="10698480" y="6519672"/>
            <a:ext cx="914400" cy="228600"/>
          </a:xfrm>
          <a:prstGeom prst="rect">
            <a:avLst/>
          </a:prstGeom>
          <a:noFill/>
        </p:spPr>
        <p:txBody>
          <a:bodyPr wrap="square" lIns="0" rIns="0" tIns="0" bIns="0">
            <a:spAutoFit/>
          </a:bodyPr>
          <a:lstStyle/>
          <a:p>
            <a:pPr algn="r">
              <a:lnSpc>
                <a:spcPct val="110000"/>
              </a:lnSpc>
              <a:spcAft>
                <a:spcPts val="700"/>
              </a:spcAft>
              <a:defRPr sz="1000" b="1">
                <a:solidFill>
                  <a:srgbClr val="ABC1B4"/>
                </a:solidFill>
                <a:latin typeface="Arial"/>
              </a:defRPr>
            </a:pPr>
            <a:r>
              <a:t>08 / 08</a:t>
            </a:r>
          </a:p>
        </p:txBody>
      </p:sp>
      <p:sp>
        <p:nvSpPr>
          <p:cNvPr id="7" name="TextBox 6"/>
          <p:cNvSpPr txBox="1"/>
          <p:nvPr/>
        </p:nvSpPr>
        <p:spPr>
          <a:xfrm>
            <a:off x="658368" y="1874519"/>
            <a:ext cx="10698480" cy="978408"/>
          </a:xfrm>
          <a:prstGeom prst="rect">
            <a:avLst/>
          </a:prstGeom>
          <a:noFill/>
        </p:spPr>
        <p:txBody>
          <a:bodyPr wrap="square" lIns="0" rIns="0" tIns="0" bIns="0">
            <a:spAutoFit/>
          </a:bodyPr>
          <a:lstStyle/>
          <a:p>
            <a:pPr>
              <a:lnSpc>
                <a:spcPct val="110000"/>
              </a:lnSpc>
              <a:spcAft>
                <a:spcPts val="700"/>
              </a:spcAft>
              <a:defRPr sz="2900" b="1">
                <a:solidFill>
                  <a:srgbClr val="FFFFFF"/>
                </a:solidFill>
                <a:latin typeface="Arial"/>
              </a:defRPr>
            </a:pPr>
            <a:r>
              <a:t>Một chai nhựa. Một chồng giấy.</a:t>
            </a:r>
          </a:p>
          <a:p>
            <a:pPr>
              <a:lnSpc>
                <a:spcPct val="110000"/>
              </a:lnSpc>
              <a:spcAft>
                <a:spcPts val="700"/>
              </a:spcAft>
              <a:defRPr sz="2900" b="1">
                <a:solidFill>
                  <a:srgbClr val="FFFFFF"/>
                </a:solidFill>
                <a:latin typeface="Arial"/>
              </a:defRPr>
            </a:pPr>
            <a:r>
              <a:t>Thêm một vòng đời cho vật liệu.</a:t>
            </a:r>
          </a:p>
        </p:txBody>
      </p:sp>
      <p:sp>
        <p:nvSpPr>
          <p:cNvPr id="8" name="Rectangle 7"/>
          <p:cNvSpPr/>
          <p:nvPr/>
        </p:nvSpPr>
        <p:spPr>
          <a:xfrm>
            <a:off x="658368" y="3401568"/>
            <a:ext cx="3364992" cy="16459"/>
          </a:xfrm>
          <a:prstGeom prst="rect">
            <a:avLst/>
          </a:prstGeom>
          <a:solidFill>
            <a:srgbClr val="6880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3675887"/>
            <a:ext cx="3401568" cy="320040"/>
          </a:xfrm>
          <a:prstGeom prst="rect">
            <a:avLst/>
          </a:prstGeom>
          <a:noFill/>
        </p:spPr>
        <p:txBody>
          <a:bodyPr wrap="square" lIns="0" rIns="0" tIns="0" bIns="0">
            <a:spAutoFit/>
          </a:bodyPr>
          <a:lstStyle/>
          <a:p>
            <a:pPr>
              <a:lnSpc>
                <a:spcPct val="110000"/>
              </a:lnSpc>
              <a:spcAft>
                <a:spcPts val="700"/>
              </a:spcAft>
              <a:defRPr sz="1200" b="1">
                <a:solidFill>
                  <a:srgbClr val="C9EB8B"/>
                </a:solidFill>
                <a:latin typeface="Arial"/>
              </a:defRPr>
            </a:pPr>
            <a:r>
              <a:t>NGƯỜI THAM GIA</a:t>
            </a:r>
          </a:p>
        </p:txBody>
      </p:sp>
      <p:sp>
        <p:nvSpPr>
          <p:cNvPr id="10" name="TextBox 9"/>
          <p:cNvSpPr txBox="1"/>
          <p:nvPr/>
        </p:nvSpPr>
        <p:spPr>
          <a:xfrm>
            <a:off x="658368" y="4261104"/>
            <a:ext cx="3383280" cy="841248"/>
          </a:xfrm>
          <a:prstGeom prst="rect">
            <a:avLst/>
          </a:prstGeom>
          <a:noFill/>
        </p:spPr>
        <p:txBody>
          <a:bodyPr wrap="square" lIns="0" rIns="0" tIns="0" bIns="0">
            <a:spAutoFit/>
          </a:bodyPr>
          <a:lstStyle/>
          <a:p>
            <a:pPr>
              <a:lnSpc>
                <a:spcPct val="110000"/>
              </a:lnSpc>
              <a:spcAft>
                <a:spcPts val="700"/>
              </a:spcAft>
              <a:defRPr sz="2000" b="0">
                <a:solidFill>
                  <a:srgbClr val="FFFFFF"/>
                </a:solidFill>
                <a:latin typeface="Arial"/>
              </a:defRPr>
            </a:pPr>
            <a:r>
              <a:t>Phân loại ve chai</a:t>
            </a:r>
          </a:p>
          <a:p>
            <a:pPr>
              <a:lnSpc>
                <a:spcPct val="110000"/>
              </a:lnSpc>
              <a:spcAft>
                <a:spcPts val="700"/>
              </a:spcAft>
              <a:defRPr sz="2000" b="0">
                <a:solidFill>
                  <a:srgbClr val="FFFFFF"/>
                </a:solidFill>
                <a:latin typeface="Arial"/>
              </a:defRPr>
            </a:pPr>
            <a:r>
              <a:t>và đăng ký thu gom.</a:t>
            </a:r>
          </a:p>
        </p:txBody>
      </p:sp>
      <p:sp>
        <p:nvSpPr>
          <p:cNvPr id="11" name="Rectangle 10"/>
          <p:cNvSpPr/>
          <p:nvPr/>
        </p:nvSpPr>
        <p:spPr>
          <a:xfrm>
            <a:off x="4389120" y="3401568"/>
            <a:ext cx="3364992" cy="16459"/>
          </a:xfrm>
          <a:prstGeom prst="rect">
            <a:avLst/>
          </a:prstGeom>
          <a:solidFill>
            <a:srgbClr val="6880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3675887"/>
            <a:ext cx="3401568" cy="320040"/>
          </a:xfrm>
          <a:prstGeom prst="rect">
            <a:avLst/>
          </a:prstGeom>
          <a:noFill/>
        </p:spPr>
        <p:txBody>
          <a:bodyPr wrap="square" lIns="0" rIns="0" tIns="0" bIns="0">
            <a:spAutoFit/>
          </a:bodyPr>
          <a:lstStyle/>
          <a:p>
            <a:pPr>
              <a:lnSpc>
                <a:spcPct val="110000"/>
              </a:lnSpc>
              <a:spcAft>
                <a:spcPts val="700"/>
              </a:spcAft>
              <a:defRPr sz="1200" b="1">
                <a:solidFill>
                  <a:srgbClr val="C9EB8B"/>
                </a:solidFill>
                <a:latin typeface="Arial"/>
              </a:defRPr>
            </a:pPr>
            <a:r>
              <a:t>NHÀ TRƯỜNG / ĐỊA PHƯƠNG</a:t>
            </a:r>
          </a:p>
        </p:txBody>
      </p:sp>
      <p:sp>
        <p:nvSpPr>
          <p:cNvPr id="13" name="TextBox 12"/>
          <p:cNvSpPr txBox="1"/>
          <p:nvPr/>
        </p:nvSpPr>
        <p:spPr>
          <a:xfrm>
            <a:off x="4389120" y="4261104"/>
            <a:ext cx="3383280" cy="841248"/>
          </a:xfrm>
          <a:prstGeom prst="rect">
            <a:avLst/>
          </a:prstGeom>
          <a:noFill/>
        </p:spPr>
        <p:txBody>
          <a:bodyPr wrap="square" lIns="0" rIns="0" tIns="0" bIns="0">
            <a:spAutoFit/>
          </a:bodyPr>
          <a:lstStyle/>
          <a:p>
            <a:pPr>
              <a:lnSpc>
                <a:spcPct val="110000"/>
              </a:lnSpc>
              <a:spcAft>
                <a:spcPts val="700"/>
              </a:spcAft>
              <a:defRPr sz="2000" b="0">
                <a:solidFill>
                  <a:srgbClr val="FFFFFF"/>
                </a:solidFill>
                <a:latin typeface="Arial"/>
              </a:defRPr>
            </a:pPr>
            <a:r>
              <a:t>Hỗ trợ truyền thông</a:t>
            </a:r>
          </a:p>
          <a:p>
            <a:pPr>
              <a:lnSpc>
                <a:spcPct val="110000"/>
              </a:lnSpc>
              <a:spcAft>
                <a:spcPts val="700"/>
              </a:spcAft>
              <a:defRPr sz="2000" b="0">
                <a:solidFill>
                  <a:srgbClr val="FFFFFF"/>
                </a:solidFill>
                <a:latin typeface="Arial"/>
              </a:defRPr>
            </a:pPr>
            <a:r>
              <a:t>và điểm tập kết.</a:t>
            </a:r>
          </a:p>
        </p:txBody>
      </p:sp>
      <p:sp>
        <p:nvSpPr>
          <p:cNvPr id="14" name="Rectangle 13"/>
          <p:cNvSpPr/>
          <p:nvPr/>
        </p:nvSpPr>
        <p:spPr>
          <a:xfrm>
            <a:off x="8119872" y="3401568"/>
            <a:ext cx="3364992" cy="16459"/>
          </a:xfrm>
          <a:prstGeom prst="rect">
            <a:avLst/>
          </a:prstGeom>
          <a:solidFill>
            <a:srgbClr val="6880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119872" y="3675887"/>
            <a:ext cx="3401568" cy="320040"/>
          </a:xfrm>
          <a:prstGeom prst="rect">
            <a:avLst/>
          </a:prstGeom>
          <a:noFill/>
        </p:spPr>
        <p:txBody>
          <a:bodyPr wrap="square" lIns="0" rIns="0" tIns="0" bIns="0">
            <a:spAutoFit/>
          </a:bodyPr>
          <a:lstStyle/>
          <a:p>
            <a:pPr>
              <a:lnSpc>
                <a:spcPct val="110000"/>
              </a:lnSpc>
              <a:spcAft>
                <a:spcPts val="700"/>
              </a:spcAft>
              <a:defRPr sz="1200" b="1">
                <a:solidFill>
                  <a:srgbClr val="C9EB8B"/>
                </a:solidFill>
                <a:latin typeface="Arial"/>
              </a:defRPr>
            </a:pPr>
            <a:r>
              <a:t>ĐỐI TÁC</a:t>
            </a:r>
          </a:p>
        </p:txBody>
      </p:sp>
      <p:sp>
        <p:nvSpPr>
          <p:cNvPr id="16" name="TextBox 15"/>
          <p:cNvSpPr txBox="1"/>
          <p:nvPr/>
        </p:nvSpPr>
        <p:spPr>
          <a:xfrm>
            <a:off x="8119872" y="4261104"/>
            <a:ext cx="3383280" cy="841248"/>
          </a:xfrm>
          <a:prstGeom prst="rect">
            <a:avLst/>
          </a:prstGeom>
          <a:noFill/>
        </p:spPr>
        <p:txBody>
          <a:bodyPr wrap="square" lIns="0" rIns="0" tIns="0" bIns="0">
            <a:spAutoFit/>
          </a:bodyPr>
          <a:lstStyle/>
          <a:p>
            <a:pPr>
              <a:lnSpc>
                <a:spcPct val="110000"/>
              </a:lnSpc>
              <a:spcAft>
                <a:spcPts val="700"/>
              </a:spcAft>
              <a:defRPr sz="2000" b="0">
                <a:solidFill>
                  <a:srgbClr val="FFFFFF"/>
                </a:solidFill>
                <a:latin typeface="Arial"/>
              </a:defRPr>
            </a:pPr>
            <a:r>
              <a:t>Đồng hành vận chuyển</a:t>
            </a:r>
          </a:p>
          <a:p>
            <a:pPr>
              <a:lnSpc>
                <a:spcPct val="110000"/>
              </a:lnSpc>
              <a:spcAft>
                <a:spcPts val="700"/>
              </a:spcAft>
              <a:defRPr sz="2000" b="0">
                <a:solidFill>
                  <a:srgbClr val="FFFFFF"/>
                </a:solidFill>
                <a:latin typeface="Arial"/>
              </a:defRPr>
            </a:pPr>
            <a:r>
              <a:t>và tiếp nhận tái chế.</a:t>
            </a:r>
          </a:p>
        </p:txBody>
      </p:sp>
      <p:sp>
        <p:nvSpPr>
          <p:cNvPr id="17" name="TextBox 16"/>
          <p:cNvSpPr txBox="1"/>
          <p:nvPr/>
        </p:nvSpPr>
        <p:spPr>
          <a:xfrm>
            <a:off x="667512" y="5550408"/>
            <a:ext cx="8686800" cy="393192"/>
          </a:xfrm>
          <a:prstGeom prst="rect">
            <a:avLst/>
          </a:prstGeom>
          <a:noFill/>
        </p:spPr>
        <p:txBody>
          <a:bodyPr wrap="square" lIns="0" rIns="0" tIns="0" bIns="0">
            <a:spAutoFit/>
          </a:bodyPr>
          <a:lstStyle/>
          <a:p>
            <a:pPr>
              <a:lnSpc>
                <a:spcPct val="110000"/>
              </a:lnSpc>
              <a:spcAft>
                <a:spcPts val="700"/>
              </a:spcAft>
              <a:defRPr sz="2400" b="1">
                <a:solidFill>
                  <a:srgbClr val="C9EB8B"/>
                </a:solidFill>
                <a:latin typeface="Arial"/>
              </a:defRPr>
            </a:pPr>
            <a:r>
              <a:t>Thu gom hôm nay, xanh hơn ngày mai.</a:t>
            </a:r>
          </a:p>
        </p:txBody>
      </p:sp>
      <p:sp>
        <p:nvSpPr>
          <p:cNvPr id="18" name="Rounded Rectangle 17">
            <a:hlinkClick r:id="rId2"/>
          </p:cNvPr>
          <p:cNvSpPr/>
          <p:nvPr/>
        </p:nvSpPr>
        <p:spPr>
          <a:xfrm>
            <a:off x="9144000" y="5541264"/>
            <a:ext cx="2395728" cy="438912"/>
          </a:xfrm>
          <a:prstGeom prst="roundRect">
            <a:avLst>
              <a:gd name="adj" fmla="val 12000"/>
            </a:avLst>
          </a:prstGeom>
          <a:solidFill>
            <a:srgbClr val="C9EB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35440" y="5632704"/>
            <a:ext cx="2212848" cy="246888"/>
          </a:xfrm>
          <a:prstGeom prst="rect">
            <a:avLst/>
          </a:prstGeom>
          <a:noFill/>
        </p:spPr>
        <p:txBody>
          <a:bodyPr wrap="square" lIns="0" rIns="0" tIns="0" bIns="0">
            <a:spAutoFit/>
          </a:bodyPr>
          <a:lstStyle/>
          <a:p>
            <a:pPr algn="ctr">
              <a:lnSpc>
                <a:spcPct val="110000"/>
              </a:lnSpc>
              <a:spcAft>
                <a:spcPts val="700"/>
              </a:spcAft>
              <a:defRPr sz="1200" b="1">
                <a:solidFill>
                  <a:srgbClr val="143D30"/>
                </a:solidFill>
                <a:latin typeface="Arial"/>
              </a:defRPr>
            </a:pPr>
            <a:r>
              <a:t>github.com / VCOI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VCoi – Thu gom ve chai, kết nối tái chế</dc:title>
  <dc:subject>Đề xuất thí điểm thu gom ve chai • 8 slide • 7 phút</dc:subject>
  <dc:creator>Nhóm dự án VCoi</dc:creator>
  <cp:keywords>VCoi, EcoThuGom, ve chai, tái chế, thuyết trình</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